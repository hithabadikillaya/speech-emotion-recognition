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IN" sz="4400" spc="-1" strike="noStrike">
                <a:solidFill>
                  <a:srgbClr val="000000"/>
                </a:solidFill>
                <a:latin typeface="Arial"/>
              </a:rPr>
              <a:t>Click to move the slide</a:t>
            </a:r>
            <a:endParaRPr b="0" lang="en-IN" sz="4400" spc="-1" strike="noStrike">
              <a:solidFill>
                <a:srgbClr val="000000"/>
              </a:solidFill>
              <a:latin typeface="Arial"/>
            </a:endParaRPr>
          </a:p>
        </p:txBody>
      </p:sp>
      <p:sp>
        <p:nvSpPr>
          <p:cNvPr id="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5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52"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53"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4"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0A9D9607-3C14-417A-A369-4FEE552341C5}"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0" y="0"/>
            <a:ext cx="0" cy="0"/>
          </a:xfrm>
          <a:prstGeom prst="rect">
            <a:avLst/>
          </a:prstGeom>
          <a:ln w="0">
            <a:noFill/>
          </a:ln>
        </p:spPr>
      </p:sp>
      <p:sp>
        <p:nvSpPr>
          <p:cNvPr id="51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Welcome, everyone. Today I'm presenting our work on Speech Emotion Recognition Using Deep Learning, built on WavLM together with speaker- and corpus-aware contrastive learning. [Pause] When a machine listens to a voice, can it actually hear how someone feels — not just what they said? That single question sits at the heart of everything I'll show you. I'll start with the problem, then walk through our method, our data, and — honestly — what our experiments did and did not show.</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Topic and framing ② WavLM + speaker/corpus-aware contrastive learning ③ Roadmap for the talk</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1 minute</a:t>
            </a:r>
            <a:endParaRPr b="0" lang="en-IN" sz="18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0" y="0"/>
            <a:ext cx="0" cy="0"/>
          </a:xfrm>
          <a:prstGeom prst="rect">
            <a:avLst/>
          </a:prstGeom>
          <a:ln w="0">
            <a:noFill/>
          </a:ln>
        </p:spPr>
      </p:sp>
      <p:sp>
        <p:nvSpPr>
          <p:cNvPr id="51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[Transition] Before any method, let's be precise about the problem we're solving. Speech emotion recognition actually works quite well — as long as you stay inside familiar datasets. But the moment the speaker changes, or the recording environment changes, or you move to a different corpus, performance starts to drift. [Pause] So the question I want you to hold onto for the next ten minutes is this: how can emotion representations become less dependent on the speaker and the corpus? That is the entire project in one sentence.</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SER breaks down under domain shift ② The core research question ③ Sets the theme for the whole talk</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1 minute</a:t>
            </a:r>
            <a:endParaRPr b="0" lang="en-IN" sz="18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0" y="0"/>
            <a:ext cx="0" cy="0"/>
          </a:xfrm>
          <a:prstGeom prst="rect">
            <a:avLst/>
          </a:prstGeom>
          <a:ln w="0">
            <a:noFill/>
          </a:ln>
        </p:spPr>
      </p:sp>
      <p:sp>
        <p:nvSpPr>
          <p:cNvPr id="51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[Transition] So why does conventional training struggle here? Picture the standard pipeline: audio goes in, features are extracted, a classifier runs, and out comes an emotion. That works — but look at what cross-entropy actually optimizes: "which emotion does this audio belong to?" [Pause] It never explicitly asks the second question, the one that really matters for generalization: what makes this emotion similar across different speakers and different corpora? That gap is the challenge — and it's exactly where our work aims.</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Conventional Audio → Features → Classifier → Emotion path ② Cross-entropy's blind spot across speakers and corpora ③ The generalization gap restated as the driving question</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1.5 minutes</a:t>
            </a:r>
            <a:endParaRPr b="0" lang="en-IN" sz="18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0" y="0"/>
            <a:ext cx="0" cy="0"/>
          </a:xfrm>
          <a:prstGeom prst="rect">
            <a:avLst/>
          </a:prstGeom>
          <a:ln w="0">
            <a:noFill/>
          </a:ln>
        </p:spPr>
      </p:sp>
      <p:sp>
        <p:nvSpPr>
          <p:cNvPr id="52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[Transition] Here's how we address that gap — and this is the diagram I'd like you to remember. Raw audio is sampled at 16 kHz and passed through a frozen WavLM backbone, then mean pooling collapses the frame representations into a single utterance vector. From there a projection head feeds a speaker- and corpus-aware supervised contrastive objective, and finally an emotion classifier. [Pause] The whole idea is captured in one line: learn emotion features while actively reducing speaker and corpus-specific patterns. Keep this shape in mind — every later slide zooms into one box of it.</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End-to-end proposed pipeline ② Frozen WavLM → pooling → projection → SupCon → classifier ③ Core design statement: learn emotion, reduce domain patterns</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2 minutes</a:t>
            </a:r>
            <a:endParaRPr b="0" lang="en-IN" sz="18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0" y="0"/>
            <a:ext cx="0" cy="0"/>
          </a:xfrm>
          <a:prstGeom prst="rect">
            <a:avLst/>
          </a:prstGeom>
          <a:ln w="0">
            <a:noFill/>
          </a:ln>
        </p:spPr>
      </p:sp>
      <p:sp>
        <p:nvSpPr>
          <p:cNvPr id="52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[Transition] Let's zoom into the first and biggest box: the WavLM backbone. WavLM is a self-supervised speech representation model pretrained on large-scale speech data, so it already captures rich acoustic structure — far beyond anything handcrafted features would give us. Our configuration keeps it simple and stable: WavLM-base, the backbone frozen during training, producing a 768-dimensional utterance embedding. [Pause] That frozen 768-D vector is the raw material the rest of our system learns on top of.</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Why WavLM: self-supervised, large-scale pretraining, rich acoustic representations ② Configuration: WavLM-base, frozen backbone, 768-D embedding ③ The 768-D utterance embedding as the system's foundation</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1.5 minutes</a:t>
            </a:r>
            <a:endParaRPr b="0" lang="en-IN" sz="18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0" y="0"/>
            <a:ext cx="0" cy="0"/>
          </a:xfrm>
          <a:prstGeom prst="rect">
            <a:avLst/>
          </a:prstGeom>
          <a:ln w="0">
            <a:noFill/>
          </a:ln>
        </p:spPr>
      </p:sp>
      <p:sp>
        <p:nvSpPr>
          <p:cNvPr id="52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[Transition] Now to the heart of the contribution — and this is the part I'd most like you to take away. The key insight is that not all positive pairs are equally useful. If two clips share the same emotion but come from a different speaker and a different corpus, that's a high-priority pair — weight 1.0. If they share the same emotion but come from the same speaker or corpus, it's far less informative — weight 0.25. And if the emotions differ, it isn't a positive pair at all — weight 0.0. [Pause] Put simply: we explicitly prioritize emotion similarity across diverse domains, rather than treating every same-emotion pair as if it were equally telling.</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Not all positive pairs are equally useful ② Weighted pairs: 1.0 / 0.25 / 0.0 by speaker and corpus context ③ Goal: prioritize cross-domain emotion similarity</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2 minutes</a:t>
            </a:r>
            <a:endParaRPr b="0" lang="en-IN" sz="18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sldImg"/>
          </p:nvPr>
        </p:nvSpPr>
        <p:spPr>
          <a:xfrm>
            <a:off x="0" y="0"/>
            <a:ext cx="0" cy="0"/>
          </a:xfrm>
          <a:prstGeom prst="rect">
            <a:avLst/>
          </a:prstGeom>
          <a:ln w="0">
            <a:noFill/>
          </a:ln>
        </p:spPr>
      </p:sp>
      <p:sp>
        <p:nvSpPr>
          <p:cNvPr id="52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[Transition] How do we actually train this? With two objectives working together. Cross-entropy handles the obvious job — getting the emotion label right. Supervised contrastive loss handles the subtler job — structuring the representation space so that similar emotions sit closer together. [Pause] They merge into a single joint optimization, and the total loss is L_total equals L_CE plus lambda times L_SupCon, with lambda set to 1.0 — an equal weighting of both objectives. So we're optimizing for correctness and for structure at the same time.</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Two objectives: L_CE for classification, L_SupCon for representation structure ② Joint optimization merges them ③ Equation L_total = L_CE + λL_SupCon with λ = 1.0</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1.5 minutes</a:t>
            </a:r>
            <a:endParaRPr b="0" lang="en-IN" sz="18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0" y="0"/>
            <a:ext cx="0" cy="0"/>
          </a:xfrm>
          <a:prstGeom prst="rect">
            <a:avLst/>
          </a:prstGeom>
          <a:ln w="0">
            <a:noFill/>
          </a:ln>
        </p:spPr>
      </p:sp>
      <p:sp>
        <p:nvSpPr>
          <p:cNvPr id="52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[Transition] Let's talk about the data and how we tested generalization. We used three standard SER corpora: IEMOCAP with dyadic emotional conversations, CREMA-D with 91 actors and 7,442 clips, and RAVDESS with 24 professional actors. We unified everything into six emotion classes — angry, disgust, fear, happy, neutral, and sad. [Pause] Then we evaluated along two paths: in-domain, using speaker-independent splits, and cross-corpus, where we train on source corpora and test on an unseen target corpus. Robustness to corpora the model has never seen is exactly what we care about.</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Three corpora: IEMOCAP, CREMA-D, RAVDESS ② Six unified emotion classes ③ Two evaluation paths: in-domain and cross-corpus</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1.5 minutes</a:t>
            </a:r>
            <a:endParaRPr b="0" lang="en-IN" sz="18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0" y="0"/>
            <a:ext cx="0" cy="0"/>
          </a:xfrm>
          <a:prstGeom prst="rect">
            <a:avLst/>
          </a:prstGeom>
          <a:ln w="0">
            <a:noFill/>
          </a:ln>
        </p:spPr>
      </p:sp>
      <p:sp>
        <p:nvSpPr>
          <p:cNvPr id="53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defTabSz="457200">
              <a:lnSpc>
                <a:spcPct val="100000"/>
              </a:lnSpc>
              <a:buNone/>
              <a:tabLst>
                <a:tab algn="l" pos="0"/>
              </a:tabLst>
            </a:pPr>
            <a:r>
              <a:rPr b="0" lang="en-IN" sz="1800" spc="-1" strike="noStrike">
                <a:solidFill>
                  <a:schemeClr val="dk1"/>
                </a:solidFill>
                <a:latin typeface="+mn-lt"/>
                <a:ea typeface="+mn-ea"/>
              </a:rPr>
              <a:t>[Transition] Finally, this isn't only a paper — it's a working system. The frontend is Next.js 16, React 19, and TypeScript; the backend is FastAPI with Uvicorn; and the model runtime is PyTorch, running WavLM with the SupCon and cross-entropy objectives. In practice, you upload or record audio, it's preprocessed, WavLM extracts features, the classifier runs, and emotion probabilities come back through the API in real time. [Pause] So, to close: WavLM gives us a robust foundation, speaker-aware learning mitigates individual variability, and corpus-aware learning addresses dataset bias. Combined, they push us toward more invariant emotion representations — and a more domain-robust SER. Thank you — I'm happy to take your questions.</a:t>
            </a:r>
            <a:endParaRPr b="0" lang="en-IN" sz="1800" spc="-1" strike="noStrike">
              <a:solidFill>
                <a:srgbClr val="000000"/>
              </a:solidFill>
              <a:latin typeface="Arial"/>
            </a:endParaRPr>
          </a:p>
          <a:p>
            <a:pPr marL="216000" indent="0" defTabSz="457200">
              <a:lnSpc>
                <a:spcPct val="100000"/>
              </a:lnSpc>
              <a:buNone/>
              <a:tabLst>
                <a:tab algn="l" pos="0"/>
              </a:tabLst>
            </a:pP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Key points: ① Working system: Next.js / FastAPI / PyTorch stack ② Real-time prediction flow end to end ③ Closing takeaway: WavLM + speaker-aware + corpus-aware → domain-robust SER</a:t>
            </a:r>
            <a:endParaRPr b="0" lang="en-IN" sz="1800" spc="-1" strike="noStrike">
              <a:solidFill>
                <a:srgbClr val="000000"/>
              </a:solidFill>
              <a:latin typeface="Arial"/>
            </a:endParaRPr>
          </a:p>
          <a:p>
            <a:pPr marL="216000" indent="0" defTabSz="457200">
              <a:lnSpc>
                <a:spcPct val="100000"/>
              </a:lnSpc>
              <a:buNone/>
              <a:tabLst>
                <a:tab algn="l" pos="0"/>
              </a:tabLst>
            </a:pPr>
            <a:r>
              <a:rPr b="0" lang="en-IN" sz="1800" spc="-1" strike="noStrike">
                <a:solidFill>
                  <a:schemeClr val="dk1"/>
                </a:solidFill>
                <a:latin typeface="+mn-lt"/>
                <a:ea typeface="+mn-ea"/>
              </a:rPr>
              <a:t>Duration: 1.5 minutes</a:t>
            </a:r>
            <a:endParaRPr b="0" lang="en-IN" sz="18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1680" cy="146916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B63F8D9-FF2E-4D3F-966D-DFC6BCBC9775}"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2BD0D59C-8EA0-4E6E-9606-33189A473494}" type="slidenum">
              <a:t>&lt;#&gt;</a:t>
            </a:fld>
          </a:p>
        </p:txBody>
      </p:sp>
      <p:sp>
        <p:nvSpPr>
          <p:cNvPr id="4" name="PlaceHolder 3"/>
          <p:cNvSpPr>
            <a:spLocks noGrp="1"/>
          </p:cNvSpPr>
          <p:nvPr>
            <p:ph type="dt" idx="6"/>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A26847D6-03F1-4C7A-B0C9-1607BCD12903}" type="slidenum">
              <a:t>&lt;#&gt;</a:t>
            </a:fld>
          </a:p>
        </p:txBody>
      </p:sp>
      <p:sp>
        <p:nvSpPr>
          <p:cNvPr id="4" name="PlaceHolder 3"/>
          <p:cNvSpPr>
            <a:spLocks noGrp="1"/>
          </p:cNvSpPr>
          <p:nvPr>
            <p:ph type="dt" idx="9"/>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130480"/>
            <a:ext cx="7771680" cy="146916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1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50519D56-9DA0-4AF1-B446-1C7D12081525}" type="slidenum">
              <a:t>&lt;#&gt;</a:t>
            </a:fld>
          </a:p>
        </p:txBody>
      </p:sp>
      <p:sp>
        <p:nvSpPr>
          <p:cNvPr id="6" name="PlaceHolder 5"/>
          <p:cNvSpPr>
            <a:spLocks noGrp="1"/>
          </p:cNvSpPr>
          <p:nvPr>
            <p:ph type="dt" idx="12"/>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3F245474-FB16-4F9D-996B-594368ACF04C}" type="slidenum">
              <a:t>&lt;#&gt;</a:t>
            </a:fld>
          </a:p>
        </p:txBody>
      </p:sp>
      <p:sp>
        <p:nvSpPr>
          <p:cNvPr id="4" name="PlaceHolder 3"/>
          <p:cNvSpPr>
            <a:spLocks noGrp="1"/>
          </p:cNvSpPr>
          <p:nvPr>
            <p:ph type="dt" idx="15"/>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2130480"/>
            <a:ext cx="7771680" cy="146916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3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F64E4A30-98E5-4D38-B38C-669C3140804D}" type="slidenum">
              <a:t>&lt;#&gt;</a:t>
            </a:fld>
          </a:p>
        </p:txBody>
      </p:sp>
      <p:sp>
        <p:nvSpPr>
          <p:cNvPr id="7" name="PlaceHolder 6"/>
          <p:cNvSpPr>
            <a:spLocks noGrp="1"/>
          </p:cNvSpPr>
          <p:nvPr>
            <p:ph type="dt" idx="18"/>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57C34C44-E349-45EF-9E79-B01DD9EF0DC3}" type="slidenum">
              <a:t>&lt;#&gt;</a:t>
            </a:fld>
          </a:p>
        </p:txBody>
      </p:sp>
      <p:sp>
        <p:nvSpPr>
          <p:cNvPr id="4" name="PlaceHolder 3"/>
          <p:cNvSpPr>
            <a:spLocks noGrp="1"/>
          </p:cNvSpPr>
          <p:nvPr>
            <p:ph type="dt" idx="2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 name="PlaceHolder 1"/>
          <p:cNvSpPr>
            <a:spLocks noGrp="1"/>
          </p:cNvSpPr>
          <p:nvPr>
            <p:ph type="title"/>
          </p:nvPr>
        </p:nvSpPr>
        <p:spPr>
          <a:xfrm>
            <a:off x="685800" y="2130480"/>
            <a:ext cx="7771680" cy="146916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C52F18DB-A2C0-42AB-BA0D-1F0123BF6572}" type="slidenum">
              <a:t>&lt;#&gt;</a:t>
            </a:fld>
          </a:p>
        </p:txBody>
      </p:sp>
      <p:sp>
        <p:nvSpPr>
          <p:cNvPr id="5" name="PlaceHolder 4"/>
          <p:cNvSpPr>
            <a:spLocks noGrp="1"/>
          </p:cNvSpPr>
          <p:nvPr>
            <p:ph type="dt" idx="24"/>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6E688CBB-9E3B-4728-A88C-0560EE5F981B}" type="slidenum">
              <a:t>&lt;#&gt;</a:t>
            </a:fld>
          </a:p>
        </p:txBody>
      </p:sp>
      <p:sp>
        <p:nvSpPr>
          <p:cNvPr id="4" name="PlaceHolder 3"/>
          <p:cNvSpPr>
            <a:spLocks noGrp="1"/>
          </p:cNvSpPr>
          <p:nvPr>
            <p:ph type="dt" idx="27"/>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207808F0-BED0-45BA-B1C5-91032854187D}" type="slidenum">
              <a:t>&lt;#&gt;</a:t>
            </a:fld>
          </a:p>
        </p:txBody>
      </p:sp>
      <p:sp>
        <p:nvSpPr>
          <p:cNvPr id="4" name="PlaceHolder 3"/>
          <p:cNvSpPr>
            <a:spLocks noGrp="1"/>
          </p:cNvSpPr>
          <p:nvPr>
            <p:ph type="dt" idx="30"/>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BF1B5442-7B27-40A6-9E56-C454DCD80A2D}" type="slidenum">
              <a:t>&lt;#&gt;</a:t>
            </a:fld>
          </a:p>
        </p:txBody>
      </p:sp>
      <p:sp>
        <p:nvSpPr>
          <p:cNvPr id="4" name="PlaceHolder 3"/>
          <p:cNvSpPr>
            <a:spLocks noGrp="1"/>
          </p:cNvSpPr>
          <p:nvPr>
            <p:ph type="dt" idx="33"/>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1680" cy="146916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a:t>
            </a:r>
            <a:r>
              <a:rPr b="0" lang="en-IN" sz="1800" spc="-1" strike="noStrike">
                <a:solidFill>
                  <a:srgbClr val="000000"/>
                </a:solidFill>
                <a:latin typeface="Arial"/>
              </a:rPr>
              <a:t>title text format</a:t>
            </a:r>
            <a:endParaRPr b="0" lang="en-IN" sz="1800" spc="-1" strike="noStrike">
              <a:solidFill>
                <a:srgbClr val="000000"/>
              </a:solidFill>
              <a:latin typeface="Arial"/>
            </a:endParaRPr>
          </a:p>
        </p:txBody>
      </p:sp>
      <p:sp>
        <p:nvSpPr>
          <p:cNvPr id="1" name="PlaceHolder 2"/>
          <p:cNvSpPr>
            <a:spLocks noGrp="1"/>
          </p:cNvSpPr>
          <p:nvPr>
            <p:ph type="ftr" idx="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C009462-9EF0-44F0-9A2E-DB20D77ECC1A}"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Arial"/>
              </a:rPr>
              <a:t>Click to edit the outline text format</a:t>
            </a:r>
            <a:endParaRPr b="0" lang="en-I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400" spc="-1" strike="noStrike">
                <a:solidFill>
                  <a:srgbClr val="000000"/>
                </a:solidFill>
                <a:latin typeface="Arial"/>
              </a:rPr>
              <a:t>Third Outline Level</a:t>
            </a:r>
            <a:endParaRPr b="0" lang="en-I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Arial"/>
              </a:rPr>
              <a:t>Fourth Outline Level</a:t>
            </a:r>
            <a:endParaRPr b="0" lang="en-I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8" name="PlaceHolder 2"/>
          <p:cNvSpPr>
            <a:spLocks noGrp="1"/>
          </p:cNvSpPr>
          <p:nvPr>
            <p:ph type="sldNum" idx="5"/>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5794A19-DA22-4459-BF76-9C89E02C52B5}"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9" name="PlaceHolder 3"/>
          <p:cNvSpPr>
            <a:spLocks noGrp="1"/>
          </p:cNvSpPr>
          <p:nvPr>
            <p:ph type="dt" idx="6"/>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1" name="PlaceHolder 2"/>
          <p:cNvSpPr>
            <a:spLocks noGrp="1"/>
          </p:cNvSpPr>
          <p:nvPr>
            <p:ph type="sldNum" idx="8"/>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C172474-7EF1-4B77-BF2B-766DD5D2FC70}"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12" name="PlaceHolder 3"/>
          <p:cNvSpPr>
            <a:spLocks noGrp="1"/>
          </p:cNvSpPr>
          <p:nvPr>
            <p:ph type="dt" idx="9"/>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685800" y="2130480"/>
            <a:ext cx="7771680" cy="146916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14"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15" name="PlaceHolder 3"/>
          <p:cNvSpPr>
            <a:spLocks noGrp="1"/>
          </p:cNvSpPr>
          <p:nvPr>
            <p:ph type="ftr" idx="10"/>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6" name="PlaceHolder 4"/>
          <p:cNvSpPr>
            <a:spLocks noGrp="1"/>
          </p:cNvSpPr>
          <p:nvPr>
            <p:ph type="sldNum" idx="11"/>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CC73EEE-BA81-4AC1-A25E-291BBCDE848C}"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17" name="PlaceHolder 5"/>
          <p:cNvSpPr>
            <a:spLocks noGrp="1"/>
          </p:cNvSpPr>
          <p:nvPr>
            <p:ph type="dt" idx="12"/>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1" name="PlaceHolder 2"/>
          <p:cNvSpPr>
            <a:spLocks noGrp="1"/>
          </p:cNvSpPr>
          <p:nvPr>
            <p:ph type="sldNum" idx="14"/>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22422F2-6DAA-4C99-88AB-C5438333EE6E}"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22" name="PlaceHolder 3"/>
          <p:cNvSpPr>
            <a:spLocks noGrp="1"/>
          </p:cNvSpPr>
          <p:nvPr>
            <p:ph type="dt" idx="15"/>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16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24"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25"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sp>
        <p:nvSpPr>
          <p:cNvPr id="26" name="PlaceHolder 4"/>
          <p:cNvSpPr>
            <a:spLocks noGrp="1"/>
          </p:cNvSpPr>
          <p:nvPr>
            <p:ph type="ftr" idx="16"/>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7" name="PlaceHolder 5"/>
          <p:cNvSpPr>
            <a:spLocks noGrp="1"/>
          </p:cNvSpPr>
          <p:nvPr>
            <p:ph type="sldNum" idx="17"/>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22C7C2E-E615-4967-A007-38B764BB6B10}"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28" name="PlaceHolder 6"/>
          <p:cNvSpPr>
            <a:spLocks noGrp="1"/>
          </p:cNvSpPr>
          <p:nvPr>
            <p:ph type="dt" idx="18"/>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3" name="PlaceHolder 2"/>
          <p:cNvSpPr>
            <a:spLocks noGrp="1"/>
          </p:cNvSpPr>
          <p:nvPr>
            <p:ph type="sldNum" idx="20"/>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69E9906-5A6B-47E1-953D-A6A797920DFC}"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34" name="PlaceHolder 3"/>
          <p:cNvSpPr>
            <a:spLocks noGrp="1"/>
          </p:cNvSpPr>
          <p:nvPr>
            <p:ph type="dt" idx="21"/>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685800" y="2130480"/>
            <a:ext cx="7771680" cy="1469160"/>
          </a:xfrm>
          <a:prstGeom prst="rect">
            <a:avLst/>
          </a:prstGeom>
          <a:noFill/>
          <a:ln w="0">
            <a:noFill/>
          </a:ln>
        </p:spPr>
        <p:txBody>
          <a:bodyPr lIns="0" rIns="0" tIns="0" bIns="0" anchor="ctr">
            <a:noAutofit/>
          </a:bodyPr>
          <a:p>
            <a:pPr indent="0">
              <a:buNone/>
            </a:pPr>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36" name="PlaceHolder 2"/>
          <p:cNvSpPr>
            <a:spLocks noGrp="1"/>
          </p:cNvSpPr>
          <p:nvPr>
            <p:ph type="ftr" idx="2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7" name="PlaceHolder 3"/>
          <p:cNvSpPr>
            <a:spLocks noGrp="1"/>
          </p:cNvSpPr>
          <p:nvPr>
            <p:ph type="sldNum" idx="23"/>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FE8EEB0-9EC2-47C9-8EB0-0B65DF14DCBC}"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38" name="PlaceHolder 4"/>
          <p:cNvSpPr>
            <a:spLocks noGrp="1"/>
          </p:cNvSpPr>
          <p:nvPr>
            <p:ph type="dt" idx="24"/>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1" name="PlaceHolder 2"/>
          <p:cNvSpPr>
            <a:spLocks noGrp="1"/>
          </p:cNvSpPr>
          <p:nvPr>
            <p:ph type="sldNum" idx="26"/>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C1264CD-3DB7-45EF-A209-08CA8FC62DC2}"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42" name="PlaceHolder 3"/>
          <p:cNvSpPr>
            <a:spLocks noGrp="1"/>
          </p:cNvSpPr>
          <p:nvPr>
            <p:ph type="dt" idx="27"/>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ftr" idx="28"/>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 name="PlaceHolder 2"/>
          <p:cNvSpPr>
            <a:spLocks noGrp="1"/>
          </p:cNvSpPr>
          <p:nvPr>
            <p:ph type="sldNum" idx="29"/>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55C49B6-70BE-47E4-BA0D-475CCDB8E5F7}"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45" name="PlaceHolder 3"/>
          <p:cNvSpPr>
            <a:spLocks noGrp="1"/>
          </p:cNvSpPr>
          <p:nvPr>
            <p:ph type="dt" idx="30"/>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ftr" idx="3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7" name="PlaceHolder 2"/>
          <p:cNvSpPr>
            <a:spLocks noGrp="1"/>
          </p:cNvSpPr>
          <p:nvPr>
            <p:ph type="sldNum" idx="3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9E373E6-DE18-46A0-A758-8915EEB0CBE5}"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48" name="PlaceHolder 3"/>
          <p:cNvSpPr>
            <a:spLocks noGrp="1"/>
          </p:cNvSpPr>
          <p:nvPr>
            <p:ph type="dt" idx="3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Rectangle 2"/>
          <p:cNvSpPr/>
          <p:nvPr/>
        </p:nvSpPr>
        <p:spPr>
          <a:xfrm>
            <a:off x="0" y="36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56" name="Group 9"/>
          <p:cNvGrpSpPr/>
          <p:nvPr/>
        </p:nvGrpSpPr>
        <p:grpSpPr>
          <a:xfrm>
            <a:off x="2286000" y="571680"/>
            <a:ext cx="7628760" cy="5752440"/>
            <a:chOff x="2286000" y="571680"/>
            <a:chExt cx="7628760" cy="5752440"/>
          </a:xfrm>
        </p:grpSpPr>
        <p:sp>
          <p:nvSpPr>
            <p:cNvPr id="57" name="Line 3"/>
            <p:cNvSpPr/>
            <p:nvPr/>
          </p:nvSpPr>
          <p:spPr>
            <a:xfrm>
              <a:off x="2286000" y="571680"/>
              <a:ext cx="8640" cy="5752440"/>
            </a:xfrm>
            <a:custGeom>
              <a:avLst/>
              <a:gdLst>
                <a:gd name="textAreaLeft" fmla="*/ 0 w 8640"/>
                <a:gd name="textAreaRight" fmla="*/ 9360 w 8640"/>
                <a:gd name="textAreaTop" fmla="*/ 0 h 5752440"/>
                <a:gd name="textAreaBottom" fmla="*/ 5753160 h 5752440"/>
              </a:gdLst>
              <a:ahLst/>
              <a:rect l="textAreaLeft" t="textAreaTop" r="textAreaRight" b="textAreaBottom"/>
              <a:pathLst>
                <a:path w="9525" h="5753100">
                  <a:moveTo>
                    <a:pt x="0" y="0"/>
                  </a:moveTo>
                  <a:lnTo>
                    <a:pt x="0" y="5753100"/>
                  </a:lnTo>
                </a:path>
              </a:pathLst>
            </a:custGeom>
            <a:noFill/>
            <a:ln w="9525">
              <a:solidFill>
                <a:srgbClr val="1c1c1f"/>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58" name="Line 4"/>
            <p:cNvSpPr/>
            <p:nvPr/>
          </p:nvSpPr>
          <p:spPr>
            <a:xfrm>
              <a:off x="3809880" y="571680"/>
              <a:ext cx="8640" cy="5752440"/>
            </a:xfrm>
            <a:custGeom>
              <a:avLst/>
              <a:gdLst>
                <a:gd name="textAreaLeft" fmla="*/ 0 w 8640"/>
                <a:gd name="textAreaRight" fmla="*/ 9360 w 8640"/>
                <a:gd name="textAreaTop" fmla="*/ 0 h 5752440"/>
                <a:gd name="textAreaBottom" fmla="*/ 5753160 h 5752440"/>
              </a:gdLst>
              <a:ahLst/>
              <a:rect l="textAreaLeft" t="textAreaTop" r="textAreaRight" b="textAreaBottom"/>
              <a:pathLst>
                <a:path w="9525" h="5753100">
                  <a:moveTo>
                    <a:pt x="0" y="0"/>
                  </a:moveTo>
                  <a:lnTo>
                    <a:pt x="0" y="5753100"/>
                  </a:lnTo>
                </a:path>
              </a:pathLst>
            </a:custGeom>
            <a:noFill/>
            <a:ln w="9525">
              <a:solidFill>
                <a:srgbClr val="1c1c1f"/>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59" name="Line 5"/>
            <p:cNvSpPr/>
            <p:nvPr/>
          </p:nvSpPr>
          <p:spPr>
            <a:xfrm>
              <a:off x="5334120" y="571680"/>
              <a:ext cx="8640" cy="5752440"/>
            </a:xfrm>
            <a:custGeom>
              <a:avLst/>
              <a:gdLst>
                <a:gd name="textAreaLeft" fmla="*/ 0 w 8640"/>
                <a:gd name="textAreaRight" fmla="*/ 9360 w 8640"/>
                <a:gd name="textAreaTop" fmla="*/ 0 h 5752440"/>
                <a:gd name="textAreaBottom" fmla="*/ 5753160 h 5752440"/>
              </a:gdLst>
              <a:ahLst/>
              <a:rect l="textAreaLeft" t="textAreaTop" r="textAreaRight" b="textAreaBottom"/>
              <a:pathLst>
                <a:path w="9525" h="5753100">
                  <a:moveTo>
                    <a:pt x="0" y="0"/>
                  </a:moveTo>
                  <a:lnTo>
                    <a:pt x="0" y="5753100"/>
                  </a:lnTo>
                </a:path>
              </a:pathLst>
            </a:custGeom>
            <a:noFill/>
            <a:ln w="9525">
              <a:solidFill>
                <a:srgbClr val="1c1c1f"/>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60" name="Line 6"/>
            <p:cNvSpPr/>
            <p:nvPr/>
          </p:nvSpPr>
          <p:spPr>
            <a:xfrm>
              <a:off x="6858000" y="571680"/>
              <a:ext cx="8640" cy="5752440"/>
            </a:xfrm>
            <a:custGeom>
              <a:avLst/>
              <a:gdLst>
                <a:gd name="textAreaLeft" fmla="*/ 0 w 8640"/>
                <a:gd name="textAreaRight" fmla="*/ 9360 w 8640"/>
                <a:gd name="textAreaTop" fmla="*/ 0 h 5752440"/>
                <a:gd name="textAreaBottom" fmla="*/ 5753160 h 5752440"/>
              </a:gdLst>
              <a:ahLst/>
              <a:rect l="textAreaLeft" t="textAreaTop" r="textAreaRight" b="textAreaBottom"/>
              <a:pathLst>
                <a:path w="9525" h="5753100">
                  <a:moveTo>
                    <a:pt x="0" y="0"/>
                  </a:moveTo>
                  <a:lnTo>
                    <a:pt x="0" y="5753100"/>
                  </a:lnTo>
                </a:path>
              </a:pathLst>
            </a:custGeom>
            <a:noFill/>
            <a:ln w="9525">
              <a:solidFill>
                <a:srgbClr val="1c1c1f"/>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61" name="Line 7"/>
            <p:cNvSpPr/>
            <p:nvPr/>
          </p:nvSpPr>
          <p:spPr>
            <a:xfrm>
              <a:off x="8381880" y="571680"/>
              <a:ext cx="8640" cy="5752440"/>
            </a:xfrm>
            <a:custGeom>
              <a:avLst/>
              <a:gdLst>
                <a:gd name="textAreaLeft" fmla="*/ 0 w 8640"/>
                <a:gd name="textAreaRight" fmla="*/ 9360 w 8640"/>
                <a:gd name="textAreaTop" fmla="*/ 0 h 5752440"/>
                <a:gd name="textAreaBottom" fmla="*/ 5753160 h 5752440"/>
              </a:gdLst>
              <a:ahLst/>
              <a:rect l="textAreaLeft" t="textAreaTop" r="textAreaRight" b="textAreaBottom"/>
              <a:pathLst>
                <a:path w="9525" h="5753100">
                  <a:moveTo>
                    <a:pt x="0" y="0"/>
                  </a:moveTo>
                  <a:lnTo>
                    <a:pt x="0" y="5753100"/>
                  </a:lnTo>
                </a:path>
              </a:pathLst>
            </a:custGeom>
            <a:noFill/>
            <a:ln w="9525">
              <a:solidFill>
                <a:srgbClr val="1c1c1f"/>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62" name="Line 8"/>
            <p:cNvSpPr/>
            <p:nvPr/>
          </p:nvSpPr>
          <p:spPr>
            <a:xfrm>
              <a:off x="9906120" y="571680"/>
              <a:ext cx="8640" cy="5752440"/>
            </a:xfrm>
            <a:custGeom>
              <a:avLst/>
              <a:gdLst>
                <a:gd name="textAreaLeft" fmla="*/ 0 w 8640"/>
                <a:gd name="textAreaRight" fmla="*/ 9360 w 8640"/>
                <a:gd name="textAreaTop" fmla="*/ 0 h 5752440"/>
                <a:gd name="textAreaBottom" fmla="*/ 5753160 h 5752440"/>
              </a:gdLst>
              <a:ahLst/>
              <a:rect l="textAreaLeft" t="textAreaTop" r="textAreaRight" b="textAreaBottom"/>
              <a:pathLst>
                <a:path w="9525" h="5753100">
                  <a:moveTo>
                    <a:pt x="0" y="0"/>
                  </a:moveTo>
                  <a:lnTo>
                    <a:pt x="0" y="5753100"/>
                  </a:lnTo>
                </a:path>
              </a:pathLst>
            </a:custGeom>
            <a:noFill/>
            <a:ln w="9525">
              <a:solidFill>
                <a:srgbClr val="1c1c1f"/>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grpSp>
      <p:grpSp>
        <p:nvGrpSpPr>
          <p:cNvPr id="63" name="Group 16"/>
          <p:cNvGrpSpPr/>
          <p:nvPr/>
        </p:nvGrpSpPr>
        <p:grpSpPr>
          <a:xfrm>
            <a:off x="1253160" y="1245240"/>
            <a:ext cx="9765720" cy="2162160"/>
            <a:chOff x="1253160" y="1245240"/>
            <a:chExt cx="9765720" cy="2162160"/>
          </a:xfrm>
        </p:grpSpPr>
        <p:sp>
          <p:nvSpPr>
            <p:cNvPr id="64" name="TextBox 13"/>
            <p:cNvSpPr/>
            <p:nvPr/>
          </p:nvSpPr>
          <p:spPr>
            <a:xfrm>
              <a:off x="1493280" y="1245240"/>
              <a:ext cx="9525600" cy="8229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5400" spc="-1" strike="noStrike">
                  <a:solidFill>
                    <a:srgbClr val="f4f4f5"/>
                  </a:solidFill>
                  <a:latin typeface="Arial"/>
                  <a:ea typeface="Microsoft YaHei"/>
                </a:rPr>
                <a:t>Speech Emotion Recognition</a:t>
              </a:r>
              <a:endParaRPr b="0" lang="en-IN" sz="5400" spc="-1" strike="noStrike">
                <a:solidFill>
                  <a:srgbClr val="000000"/>
                </a:solidFill>
                <a:latin typeface="Arial"/>
              </a:endParaRPr>
            </a:p>
          </p:txBody>
        </p:sp>
        <p:sp>
          <p:nvSpPr>
            <p:cNvPr id="65" name="TextBox 14"/>
            <p:cNvSpPr/>
            <p:nvPr/>
          </p:nvSpPr>
          <p:spPr>
            <a:xfrm>
              <a:off x="1253160" y="2045520"/>
              <a:ext cx="6858720" cy="8229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5400" spc="-1" strike="noStrike">
                  <a:solidFill>
                    <a:srgbClr val="f4f4f5"/>
                  </a:solidFill>
                  <a:latin typeface="Arial"/>
                  <a:ea typeface="Microsoft YaHei"/>
                </a:rPr>
                <a:t>Using Deep Learning</a:t>
              </a:r>
              <a:endParaRPr b="0" lang="en-IN" sz="5400" spc="-1" strike="noStrike">
                <a:solidFill>
                  <a:srgbClr val="000000"/>
                </a:solidFill>
                <a:latin typeface="Arial"/>
              </a:endParaRPr>
            </a:p>
          </p:txBody>
        </p:sp>
        <p:sp>
          <p:nvSpPr>
            <p:cNvPr id="66" name="TextBox 15"/>
            <p:cNvSpPr/>
            <p:nvPr/>
          </p:nvSpPr>
          <p:spPr>
            <a:xfrm>
              <a:off x="1522800" y="3087360"/>
              <a:ext cx="7772040" cy="3200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2100" spc="-1" strike="noStrike">
                  <a:solidFill>
                    <a:srgbClr val="d4d4d8"/>
                  </a:solidFill>
                  <a:latin typeface="Arial"/>
                  <a:ea typeface="Microsoft YaHei"/>
                </a:rPr>
                <a:t>Using WavLM and </a:t>
              </a:r>
              <a:r>
                <a:rPr b="0" lang="en-IN" sz="2100" spc="-1" strike="noStrike">
                  <a:solidFill>
                    <a:srgbClr val="4fd1c5"/>
                  </a:solidFill>
                  <a:latin typeface="Arial"/>
                  <a:ea typeface="Microsoft YaHei"/>
                </a:rPr>
                <a:t>Speaker + Corpus-Aware Contrastive Learning</a:t>
              </a:r>
              <a:endParaRPr b="0" lang="en-IN" sz="2100" spc="-1" strike="noStrike">
                <a:solidFill>
                  <a:srgbClr val="000000"/>
                </a:solidFill>
                <a:latin typeface="Arial"/>
              </a:endParaRPr>
            </a:p>
          </p:txBody>
        </p:sp>
      </p:grpSp>
      <p:grpSp>
        <p:nvGrpSpPr>
          <p:cNvPr id="67" name="Group 20"/>
          <p:cNvGrpSpPr/>
          <p:nvPr/>
        </p:nvGrpSpPr>
        <p:grpSpPr>
          <a:xfrm>
            <a:off x="1101960" y="3863520"/>
            <a:ext cx="10777680" cy="816120"/>
            <a:chOff x="1101960" y="3863520"/>
            <a:chExt cx="10777680" cy="816120"/>
          </a:xfrm>
        </p:grpSpPr>
        <p:sp>
          <p:nvSpPr>
            <p:cNvPr id="68" name="Line 17"/>
            <p:cNvSpPr/>
            <p:nvPr/>
          </p:nvSpPr>
          <p:spPr>
            <a:xfrm>
              <a:off x="1212480" y="386352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69" name="TextBox 18"/>
            <p:cNvSpPr/>
            <p:nvPr/>
          </p:nvSpPr>
          <p:spPr>
            <a:xfrm>
              <a:off x="1701000" y="4123440"/>
              <a:ext cx="446760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d4d4d8"/>
                  </a:solidFill>
                  <a:latin typeface="Arial"/>
                  <a:ea typeface="Microsoft YaHei"/>
                </a:rPr>
                <a:t>Department of Computer Science &amp; Engineering</a:t>
              </a:r>
              <a:endParaRPr b="0" lang="en-IN" sz="1650" spc="-1" strike="noStrike">
                <a:solidFill>
                  <a:srgbClr val="000000"/>
                </a:solidFill>
                <a:latin typeface="Arial"/>
              </a:endParaRPr>
            </a:p>
          </p:txBody>
        </p:sp>
        <p:sp>
          <p:nvSpPr>
            <p:cNvPr id="70" name="TextBox 19"/>
            <p:cNvSpPr/>
            <p:nvPr/>
          </p:nvSpPr>
          <p:spPr>
            <a:xfrm>
              <a:off x="1101960" y="4428360"/>
              <a:ext cx="399204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8a8a93"/>
                  </a:solidFill>
                  <a:latin typeface="Arial"/>
                  <a:ea typeface="Microsoft YaHei"/>
                </a:rPr>
                <a:t>Presented by: Hitha, Priyadarshini, Deepthi</a:t>
              </a:r>
              <a:endParaRPr b="0" lang="en-IN" sz="1650" spc="-1" strike="noStrike">
                <a:solidFill>
                  <a:srgbClr val="000000"/>
                </a:solidFill>
                <a:latin typeface="Arial"/>
              </a:endParaRPr>
            </a:p>
          </p:txBody>
        </p:sp>
      </p:grpSp>
      <p:grpSp>
        <p:nvGrpSpPr>
          <p:cNvPr id="71" name="Group 57"/>
          <p:cNvGrpSpPr/>
          <p:nvPr/>
        </p:nvGrpSpPr>
        <p:grpSpPr>
          <a:xfrm>
            <a:off x="762120" y="5261760"/>
            <a:ext cx="7714440" cy="833760"/>
            <a:chOff x="762120" y="5261760"/>
            <a:chExt cx="7714440" cy="833760"/>
          </a:xfrm>
        </p:grpSpPr>
        <p:grpSp>
          <p:nvGrpSpPr>
            <p:cNvPr id="72" name="Group 45"/>
            <p:cNvGrpSpPr/>
            <p:nvPr/>
          </p:nvGrpSpPr>
          <p:grpSpPr>
            <a:xfrm>
              <a:off x="762120" y="5467320"/>
              <a:ext cx="1999440" cy="494640"/>
              <a:chOff x="762120" y="5467320"/>
              <a:chExt cx="1999440" cy="494640"/>
            </a:xfrm>
          </p:grpSpPr>
          <p:sp>
            <p:nvSpPr>
              <p:cNvPr id="73" name="Rectangle 21"/>
              <p:cNvSpPr/>
              <p:nvPr/>
            </p:nvSpPr>
            <p:spPr>
              <a:xfrm>
                <a:off x="762120" y="5657760"/>
                <a:ext cx="27720" cy="11376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74" name="Rectangle 22"/>
              <p:cNvSpPr/>
              <p:nvPr/>
            </p:nvSpPr>
            <p:spPr>
              <a:xfrm>
                <a:off x="847800" y="5600880"/>
                <a:ext cx="27720" cy="22788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75" name="Rectangle 23"/>
              <p:cNvSpPr/>
              <p:nvPr/>
            </p:nvSpPr>
            <p:spPr>
              <a:xfrm>
                <a:off x="933480" y="5524560"/>
                <a:ext cx="27720" cy="38016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76" name="Rectangle 24"/>
              <p:cNvSpPr/>
              <p:nvPr/>
            </p:nvSpPr>
            <p:spPr>
              <a:xfrm>
                <a:off x="1019160" y="5629320"/>
                <a:ext cx="27720" cy="170640"/>
              </a:xfrm>
              <a:prstGeom prst="rect">
                <a:avLst/>
              </a:prstGeom>
              <a:solidFill>
                <a:srgbClr val="4fd1c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77" name="Rectangle 25"/>
              <p:cNvSpPr/>
              <p:nvPr/>
            </p:nvSpPr>
            <p:spPr>
              <a:xfrm>
                <a:off x="1104840" y="5486400"/>
                <a:ext cx="27720" cy="45648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78" name="Rectangle 26"/>
              <p:cNvSpPr/>
              <p:nvPr/>
            </p:nvSpPr>
            <p:spPr>
              <a:xfrm>
                <a:off x="1190520" y="5572080"/>
                <a:ext cx="27720" cy="28512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79" name="Rectangle 27"/>
              <p:cNvSpPr/>
              <p:nvPr/>
            </p:nvSpPr>
            <p:spPr>
              <a:xfrm>
                <a:off x="1276200" y="5467320"/>
                <a:ext cx="27720" cy="49464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0" name="Rectangle 28"/>
              <p:cNvSpPr/>
              <p:nvPr/>
            </p:nvSpPr>
            <p:spPr>
              <a:xfrm>
                <a:off x="1362240" y="5619600"/>
                <a:ext cx="27720" cy="189720"/>
              </a:xfrm>
              <a:prstGeom prst="rect">
                <a:avLst/>
              </a:prstGeom>
              <a:solidFill>
                <a:srgbClr val="4fd1c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1" name="Rectangle 29"/>
              <p:cNvSpPr/>
              <p:nvPr/>
            </p:nvSpPr>
            <p:spPr>
              <a:xfrm>
                <a:off x="1447920" y="5543640"/>
                <a:ext cx="27720" cy="34236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2" name="Rectangle 30"/>
              <p:cNvSpPr/>
              <p:nvPr/>
            </p:nvSpPr>
            <p:spPr>
              <a:xfrm>
                <a:off x="1533600" y="5505480"/>
                <a:ext cx="27720" cy="41832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3" name="Rectangle 31"/>
              <p:cNvSpPr/>
              <p:nvPr/>
            </p:nvSpPr>
            <p:spPr>
              <a:xfrm>
                <a:off x="1619280" y="5638680"/>
                <a:ext cx="27720" cy="15156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4" name="Rectangle 32"/>
              <p:cNvSpPr/>
              <p:nvPr/>
            </p:nvSpPr>
            <p:spPr>
              <a:xfrm>
                <a:off x="1704960" y="5562720"/>
                <a:ext cx="27720" cy="304200"/>
              </a:xfrm>
              <a:prstGeom prst="rect">
                <a:avLst/>
              </a:prstGeom>
              <a:solidFill>
                <a:srgbClr val="4fd1c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5" name="Rectangle 33"/>
              <p:cNvSpPr/>
              <p:nvPr/>
            </p:nvSpPr>
            <p:spPr>
              <a:xfrm>
                <a:off x="1790640" y="5591160"/>
                <a:ext cx="27720" cy="24696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6" name="Rectangle 34"/>
              <p:cNvSpPr/>
              <p:nvPr/>
            </p:nvSpPr>
            <p:spPr>
              <a:xfrm>
                <a:off x="1876320" y="5477040"/>
                <a:ext cx="27720" cy="47556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7" name="Rectangle 35"/>
              <p:cNvSpPr/>
              <p:nvPr/>
            </p:nvSpPr>
            <p:spPr>
              <a:xfrm>
                <a:off x="1962000" y="5610240"/>
                <a:ext cx="27720" cy="20880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8" name="Rectangle 36"/>
              <p:cNvSpPr/>
              <p:nvPr/>
            </p:nvSpPr>
            <p:spPr>
              <a:xfrm>
                <a:off x="2048040" y="5533920"/>
                <a:ext cx="27720" cy="361080"/>
              </a:xfrm>
              <a:prstGeom prst="rect">
                <a:avLst/>
              </a:prstGeom>
              <a:solidFill>
                <a:srgbClr val="4fd1c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89" name="Rectangle 37"/>
              <p:cNvSpPr/>
              <p:nvPr/>
            </p:nvSpPr>
            <p:spPr>
              <a:xfrm>
                <a:off x="2133720" y="5648400"/>
                <a:ext cx="27720" cy="13248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90" name="Rectangle 38"/>
              <p:cNvSpPr/>
              <p:nvPr/>
            </p:nvSpPr>
            <p:spPr>
              <a:xfrm>
                <a:off x="2219400" y="5514840"/>
                <a:ext cx="27720" cy="39924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91" name="Rectangle 39"/>
              <p:cNvSpPr/>
              <p:nvPr/>
            </p:nvSpPr>
            <p:spPr>
              <a:xfrm>
                <a:off x="2305080" y="5581800"/>
                <a:ext cx="27720" cy="26604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92" name="Rectangle 40"/>
              <p:cNvSpPr/>
              <p:nvPr/>
            </p:nvSpPr>
            <p:spPr>
              <a:xfrm>
                <a:off x="2390760" y="5495760"/>
                <a:ext cx="27720" cy="437400"/>
              </a:xfrm>
              <a:prstGeom prst="rect">
                <a:avLst/>
              </a:prstGeom>
              <a:solidFill>
                <a:srgbClr val="4fd1c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93" name="Rectangle 41"/>
              <p:cNvSpPr/>
              <p:nvPr/>
            </p:nvSpPr>
            <p:spPr>
              <a:xfrm>
                <a:off x="2476440" y="5629320"/>
                <a:ext cx="27720" cy="17064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94" name="Rectangle 42"/>
              <p:cNvSpPr/>
              <p:nvPr/>
            </p:nvSpPr>
            <p:spPr>
              <a:xfrm>
                <a:off x="2562120" y="5553000"/>
                <a:ext cx="27720" cy="32328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95" name="Rectangle 43"/>
              <p:cNvSpPr/>
              <p:nvPr/>
            </p:nvSpPr>
            <p:spPr>
              <a:xfrm>
                <a:off x="2647800" y="5600880"/>
                <a:ext cx="27720" cy="22788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96" name="Rectangle 44"/>
              <p:cNvSpPr/>
              <p:nvPr/>
            </p:nvSpPr>
            <p:spPr>
              <a:xfrm>
                <a:off x="2733840" y="5657760"/>
                <a:ext cx="27720" cy="113760"/>
              </a:xfrm>
              <a:prstGeom prst="rect">
                <a:avLst/>
              </a:prstGeom>
              <a:solidFill>
                <a:srgbClr val="f4f4f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grpSp>
        <p:sp>
          <p:nvSpPr>
            <p:cNvPr id="97" name="Line 46"/>
            <p:cNvSpPr/>
            <p:nvPr/>
          </p:nvSpPr>
          <p:spPr>
            <a:xfrm>
              <a:off x="2904840" y="5715000"/>
              <a:ext cx="362160" cy="360"/>
            </a:xfrm>
            <a:prstGeom prst="line">
              <a:avLst/>
            </a:prstGeom>
            <a:ln w="19050">
              <a:solidFill>
                <a:srgbClr val="8a8a93"/>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98" name="Group 50"/>
            <p:cNvGrpSpPr/>
            <p:nvPr/>
          </p:nvGrpSpPr>
          <p:grpSpPr>
            <a:xfrm>
              <a:off x="3429000" y="5334120"/>
              <a:ext cx="1713960" cy="761400"/>
              <a:chOff x="3429000" y="5334120"/>
              <a:chExt cx="1713960" cy="761400"/>
            </a:xfrm>
          </p:grpSpPr>
          <p:sp>
            <p:nvSpPr>
              <p:cNvPr id="99" name="Freeform 47"/>
              <p:cNvSpPr/>
              <p:nvPr/>
            </p:nvSpPr>
            <p:spPr>
              <a:xfrm>
                <a:off x="3429000" y="5334120"/>
                <a:ext cx="1713960" cy="761400"/>
              </a:xfrm>
              <a:custGeom>
                <a:avLst/>
                <a:gdLst>
                  <a:gd name="textAreaLeft" fmla="*/ 0 w 1713960"/>
                  <a:gd name="textAreaRight" fmla="*/ 1714680 w 1713960"/>
                  <a:gd name="textAreaTop" fmla="*/ 0 h 761400"/>
                  <a:gd name="textAreaBottom" fmla="*/ 762120 h 761400"/>
                </a:gdLst>
                <a:ahLst/>
                <a:rect l="textAreaLeft" t="textAreaTop" r="textAreaRight" b="textAreaBottom"/>
                <a:pathLst>
                  <a:path w="1714500" h="762000">
                    <a:moveTo>
                      <a:pt x="57150" y="0"/>
                    </a:moveTo>
                    <a:lnTo>
                      <a:pt x="1657350" y="0"/>
                    </a:lnTo>
                    <a:cubicBezTo>
                      <a:pt x="1688913" y="0"/>
                      <a:pt x="1714500" y="25587"/>
                      <a:pt x="1714500" y="57150"/>
                    </a:cubicBezTo>
                    <a:lnTo>
                      <a:pt x="1714500" y="704850"/>
                    </a:lnTo>
                    <a:cubicBezTo>
                      <a:pt x="1714500" y="736413"/>
                      <a:pt x="1688913" y="762000"/>
                      <a:pt x="1657350" y="762000"/>
                    </a:cubicBezTo>
                    <a:lnTo>
                      <a:pt x="57150" y="762000"/>
                    </a:lnTo>
                    <a:cubicBezTo>
                      <a:pt x="25587" y="762000"/>
                      <a:pt x="0" y="736413"/>
                      <a:pt x="0" y="7048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00" name="TextBox 48"/>
              <p:cNvSpPr/>
              <p:nvPr/>
            </p:nvSpPr>
            <p:spPr>
              <a:xfrm>
                <a:off x="3823560" y="5507280"/>
                <a:ext cx="924120" cy="320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2100" spc="-1" strike="noStrike">
                    <a:solidFill>
                      <a:srgbClr val="f4f4f5"/>
                    </a:solidFill>
                    <a:latin typeface="Arial"/>
                    <a:ea typeface="Microsoft YaHei"/>
                  </a:rPr>
                  <a:t>WavLM</a:t>
                </a:r>
                <a:endParaRPr b="0" lang="en-IN" sz="2100" spc="-1" strike="noStrike">
                  <a:solidFill>
                    <a:srgbClr val="000000"/>
                  </a:solidFill>
                  <a:latin typeface="Arial"/>
                </a:endParaRPr>
              </a:p>
            </p:txBody>
          </p:sp>
          <p:sp>
            <p:nvSpPr>
              <p:cNvPr id="101" name="TextBox 49"/>
              <p:cNvSpPr/>
              <p:nvPr/>
            </p:nvSpPr>
            <p:spPr>
              <a:xfrm>
                <a:off x="3722400" y="5857560"/>
                <a:ext cx="1127520" cy="149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980" spc="-1" strike="noStrike">
                    <a:solidFill>
                      <a:srgbClr val="8a8a93"/>
                    </a:solidFill>
                    <a:latin typeface="Consolas"/>
                    <a:ea typeface="Microsoft YaHei"/>
                  </a:rPr>
                  <a:t>frozen backbone</a:t>
                </a:r>
                <a:endParaRPr b="0" lang="en-IN" sz="980" spc="-1" strike="noStrike">
                  <a:solidFill>
                    <a:srgbClr val="000000"/>
                  </a:solidFill>
                  <a:latin typeface="Arial"/>
                </a:endParaRPr>
              </a:p>
            </p:txBody>
          </p:sp>
        </p:grpSp>
        <p:sp>
          <p:nvSpPr>
            <p:cNvPr id="102" name="Line 51"/>
            <p:cNvSpPr/>
            <p:nvPr/>
          </p:nvSpPr>
          <p:spPr>
            <a:xfrm>
              <a:off x="5295600" y="5715000"/>
              <a:ext cx="362160" cy="360"/>
            </a:xfrm>
            <a:prstGeom prst="line">
              <a:avLst/>
            </a:prstGeom>
            <a:ln w="19050">
              <a:solidFill>
                <a:srgbClr val="8a8a93"/>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103" name="Group 56"/>
            <p:cNvGrpSpPr/>
            <p:nvPr/>
          </p:nvGrpSpPr>
          <p:grpSpPr>
            <a:xfrm>
              <a:off x="5810400" y="5261760"/>
              <a:ext cx="2666160" cy="738360"/>
              <a:chOff x="5810400" y="5261760"/>
              <a:chExt cx="2666160" cy="738360"/>
            </a:xfrm>
          </p:grpSpPr>
          <p:sp>
            <p:nvSpPr>
              <p:cNvPr id="104" name="TextBox 52"/>
              <p:cNvSpPr/>
              <p:nvPr/>
            </p:nvSpPr>
            <p:spPr>
              <a:xfrm>
                <a:off x="5822280" y="5261760"/>
                <a:ext cx="7110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EMOTION</a:t>
                </a:r>
                <a:endParaRPr b="0" lang="en-IN" sz="1200" spc="-1" strike="noStrike">
                  <a:solidFill>
                    <a:srgbClr val="000000"/>
                  </a:solidFill>
                  <a:latin typeface="Arial"/>
                </a:endParaRPr>
              </a:p>
            </p:txBody>
          </p:sp>
          <p:sp>
            <p:nvSpPr>
              <p:cNvPr id="105" name="Rectangle 53"/>
              <p:cNvSpPr/>
              <p:nvPr/>
            </p:nvSpPr>
            <p:spPr>
              <a:xfrm>
                <a:off x="5810400" y="5524560"/>
                <a:ext cx="2666160" cy="94680"/>
              </a:xfrm>
              <a:prstGeom prst="rect">
                <a:avLst/>
              </a:prstGeom>
              <a:solidFill>
                <a:srgbClr val="4fd1c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06" name="Rectangle 54"/>
              <p:cNvSpPr/>
              <p:nvPr/>
            </p:nvSpPr>
            <p:spPr>
              <a:xfrm>
                <a:off x="5810400" y="5715000"/>
                <a:ext cx="1809000" cy="94680"/>
              </a:xfrm>
              <a:prstGeom prst="rect">
                <a:avLst/>
              </a:prstGeom>
              <a:solidFill>
                <a:srgbClr val="8a8a93"/>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07" name="Rectangle 55"/>
              <p:cNvSpPr/>
              <p:nvPr/>
            </p:nvSpPr>
            <p:spPr>
              <a:xfrm>
                <a:off x="5810400" y="5905440"/>
                <a:ext cx="1142280" cy="94680"/>
              </a:xfrm>
              <a:prstGeom prst="rect">
                <a:avLst/>
              </a:prstGeom>
              <a:solidFill>
                <a:srgbClr val="5a5a62"/>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grpSp>
      <p:sp>
        <p:nvSpPr>
          <p:cNvPr id="108" name="Line 58"/>
          <p:cNvSpPr/>
          <p:nvPr/>
        </p:nvSpPr>
        <p:spPr>
          <a:xfrm>
            <a:off x="762120" y="632448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Rectangle 2"/>
          <p:cNvSpPr/>
          <p:nvPr/>
        </p:nvSpPr>
        <p:spPr>
          <a:xfrm>
            <a:off x="0" y="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110" name="Group 25"/>
          <p:cNvGrpSpPr/>
          <p:nvPr/>
        </p:nvGrpSpPr>
        <p:grpSpPr>
          <a:xfrm>
            <a:off x="0" y="0"/>
            <a:ext cx="12191400" cy="6857280"/>
            <a:chOff x="0" y="0"/>
            <a:chExt cx="12191400" cy="6857280"/>
          </a:xfrm>
        </p:grpSpPr>
        <p:sp>
          <p:nvSpPr>
            <p:cNvPr id="111" name="Line 3"/>
            <p:cNvSpPr/>
            <p:nvPr/>
          </p:nvSpPr>
          <p:spPr>
            <a:xfrm>
              <a:off x="76212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12" name="Line 4"/>
            <p:cNvSpPr/>
            <p:nvPr/>
          </p:nvSpPr>
          <p:spPr>
            <a:xfrm>
              <a:off x="152388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13" name="Line 5"/>
            <p:cNvSpPr/>
            <p:nvPr/>
          </p:nvSpPr>
          <p:spPr>
            <a:xfrm>
              <a:off x="228600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14" name="Line 6"/>
            <p:cNvSpPr/>
            <p:nvPr/>
          </p:nvSpPr>
          <p:spPr>
            <a:xfrm>
              <a:off x="304812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15" name="Line 7"/>
            <p:cNvSpPr/>
            <p:nvPr/>
          </p:nvSpPr>
          <p:spPr>
            <a:xfrm>
              <a:off x="380988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16" name="Line 8"/>
            <p:cNvSpPr/>
            <p:nvPr/>
          </p:nvSpPr>
          <p:spPr>
            <a:xfrm>
              <a:off x="457200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17" name="Line 9"/>
            <p:cNvSpPr/>
            <p:nvPr/>
          </p:nvSpPr>
          <p:spPr>
            <a:xfrm>
              <a:off x="533412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18" name="Line 10"/>
            <p:cNvSpPr/>
            <p:nvPr/>
          </p:nvSpPr>
          <p:spPr>
            <a:xfrm>
              <a:off x="609588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19" name="Line 11"/>
            <p:cNvSpPr/>
            <p:nvPr/>
          </p:nvSpPr>
          <p:spPr>
            <a:xfrm>
              <a:off x="685800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20" name="Line 12"/>
            <p:cNvSpPr/>
            <p:nvPr/>
          </p:nvSpPr>
          <p:spPr>
            <a:xfrm>
              <a:off x="762012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21" name="Line 13"/>
            <p:cNvSpPr/>
            <p:nvPr/>
          </p:nvSpPr>
          <p:spPr>
            <a:xfrm>
              <a:off x="838188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22" name="Line 14"/>
            <p:cNvSpPr/>
            <p:nvPr/>
          </p:nvSpPr>
          <p:spPr>
            <a:xfrm>
              <a:off x="914400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23" name="Line 15"/>
            <p:cNvSpPr/>
            <p:nvPr/>
          </p:nvSpPr>
          <p:spPr>
            <a:xfrm>
              <a:off x="990612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24" name="Line 16"/>
            <p:cNvSpPr/>
            <p:nvPr/>
          </p:nvSpPr>
          <p:spPr>
            <a:xfrm>
              <a:off x="1066788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25" name="Line 17"/>
            <p:cNvSpPr/>
            <p:nvPr/>
          </p:nvSpPr>
          <p:spPr>
            <a:xfrm>
              <a:off x="11430000" y="0"/>
              <a:ext cx="8640" cy="6857280"/>
            </a:xfrm>
            <a:custGeom>
              <a:avLst/>
              <a:gdLst>
                <a:gd name="textAreaLeft" fmla="*/ 0 w 8640"/>
                <a:gd name="textAreaRight" fmla="*/ 9360 w 8640"/>
                <a:gd name="textAreaTop" fmla="*/ 0 h 6857280"/>
                <a:gd name="textAreaBottom" fmla="*/ 6858000 h 6857280"/>
              </a:gdLst>
              <a:ahLst/>
              <a:rect l="textAreaLeft" t="textAreaTop" r="textAreaRight" b="textAreaBottom"/>
              <a:pathLst>
                <a:path w="9525" h="6858000">
                  <a:moveTo>
                    <a:pt x="0" y="0"/>
                  </a:moveTo>
                  <a:lnTo>
                    <a:pt x="0" y="6858000"/>
                  </a:lnTo>
                </a:path>
              </a:pathLst>
            </a:custGeom>
            <a:noFill/>
            <a:ln w="14288">
              <a:solidFill>
                <a:srgbClr val="1c1c1f"/>
              </a:solidFill>
              <a:custDash>
                <a:ds d="133000" sp="933000"/>
              </a:custDash>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126" name="Line 18"/>
            <p:cNvSpPr/>
            <p:nvPr/>
          </p:nvSpPr>
          <p:spPr>
            <a:xfrm>
              <a:off x="0" y="914400"/>
              <a:ext cx="12191400" cy="8640"/>
            </a:xfrm>
            <a:custGeom>
              <a:avLst/>
              <a:gdLst>
                <a:gd name="textAreaLeft" fmla="*/ 0 w 12191400"/>
                <a:gd name="textAreaRight" fmla="*/ 12192120 w 12191400"/>
                <a:gd name="textAreaTop" fmla="*/ 0 h 8640"/>
                <a:gd name="textAreaBottom" fmla="*/ 9360 h 8640"/>
              </a:gdLst>
              <a:ahLst/>
              <a:rect l="textAreaLeft" t="textAreaTop" r="textAreaRight" b="textAreaBottom"/>
              <a:pathLst>
                <a:path w="12192000" h="9525">
                  <a:moveTo>
                    <a:pt x="0" y="0"/>
                  </a:moveTo>
                  <a:lnTo>
                    <a:pt x="12192000" y="0"/>
                  </a:lnTo>
                </a:path>
              </a:pathLst>
            </a:custGeom>
            <a:noFill/>
            <a:ln w="14288">
              <a:solidFill>
                <a:srgbClr val="1c1c1f"/>
              </a:solidFill>
              <a:custDash>
                <a:ds d="133000" sp="933000"/>
              </a:custDash>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27" name="Line 19"/>
            <p:cNvSpPr/>
            <p:nvPr/>
          </p:nvSpPr>
          <p:spPr>
            <a:xfrm>
              <a:off x="0" y="1828800"/>
              <a:ext cx="12191400" cy="8640"/>
            </a:xfrm>
            <a:custGeom>
              <a:avLst/>
              <a:gdLst>
                <a:gd name="textAreaLeft" fmla="*/ 0 w 12191400"/>
                <a:gd name="textAreaRight" fmla="*/ 12192120 w 12191400"/>
                <a:gd name="textAreaTop" fmla="*/ 0 h 8640"/>
                <a:gd name="textAreaBottom" fmla="*/ 9360 h 8640"/>
              </a:gdLst>
              <a:ahLst/>
              <a:rect l="textAreaLeft" t="textAreaTop" r="textAreaRight" b="textAreaBottom"/>
              <a:pathLst>
                <a:path w="12192000" h="9525">
                  <a:moveTo>
                    <a:pt x="0" y="0"/>
                  </a:moveTo>
                  <a:lnTo>
                    <a:pt x="12192000" y="0"/>
                  </a:lnTo>
                </a:path>
              </a:pathLst>
            </a:custGeom>
            <a:noFill/>
            <a:ln w="14288">
              <a:solidFill>
                <a:srgbClr val="1c1c1f"/>
              </a:solidFill>
              <a:custDash>
                <a:ds d="133000" sp="933000"/>
              </a:custDash>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28" name="Line 20"/>
            <p:cNvSpPr/>
            <p:nvPr/>
          </p:nvSpPr>
          <p:spPr>
            <a:xfrm>
              <a:off x="0" y="2743200"/>
              <a:ext cx="12191400" cy="8640"/>
            </a:xfrm>
            <a:custGeom>
              <a:avLst/>
              <a:gdLst>
                <a:gd name="textAreaLeft" fmla="*/ 0 w 12191400"/>
                <a:gd name="textAreaRight" fmla="*/ 12192120 w 12191400"/>
                <a:gd name="textAreaTop" fmla="*/ 0 h 8640"/>
                <a:gd name="textAreaBottom" fmla="*/ 9360 h 8640"/>
              </a:gdLst>
              <a:ahLst/>
              <a:rect l="textAreaLeft" t="textAreaTop" r="textAreaRight" b="textAreaBottom"/>
              <a:pathLst>
                <a:path w="12192000" h="9525">
                  <a:moveTo>
                    <a:pt x="0" y="0"/>
                  </a:moveTo>
                  <a:lnTo>
                    <a:pt x="12192000" y="0"/>
                  </a:lnTo>
                </a:path>
              </a:pathLst>
            </a:custGeom>
            <a:noFill/>
            <a:ln w="14288">
              <a:solidFill>
                <a:srgbClr val="1c1c1f"/>
              </a:solidFill>
              <a:custDash>
                <a:ds d="133000" sp="933000"/>
              </a:custDash>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29" name="Line 21"/>
            <p:cNvSpPr/>
            <p:nvPr/>
          </p:nvSpPr>
          <p:spPr>
            <a:xfrm>
              <a:off x="0" y="3657600"/>
              <a:ext cx="12191400" cy="8640"/>
            </a:xfrm>
            <a:custGeom>
              <a:avLst/>
              <a:gdLst>
                <a:gd name="textAreaLeft" fmla="*/ 0 w 12191400"/>
                <a:gd name="textAreaRight" fmla="*/ 12192120 w 12191400"/>
                <a:gd name="textAreaTop" fmla="*/ 0 h 8640"/>
                <a:gd name="textAreaBottom" fmla="*/ 9360 h 8640"/>
              </a:gdLst>
              <a:ahLst/>
              <a:rect l="textAreaLeft" t="textAreaTop" r="textAreaRight" b="textAreaBottom"/>
              <a:pathLst>
                <a:path w="12192000" h="9525">
                  <a:moveTo>
                    <a:pt x="0" y="0"/>
                  </a:moveTo>
                  <a:lnTo>
                    <a:pt x="12192000" y="0"/>
                  </a:lnTo>
                </a:path>
              </a:pathLst>
            </a:custGeom>
            <a:noFill/>
            <a:ln w="14288">
              <a:solidFill>
                <a:srgbClr val="1c1c1f"/>
              </a:solidFill>
              <a:custDash>
                <a:ds d="133000" sp="933000"/>
              </a:custDash>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30" name="Line 22"/>
            <p:cNvSpPr/>
            <p:nvPr/>
          </p:nvSpPr>
          <p:spPr>
            <a:xfrm>
              <a:off x="0" y="4572000"/>
              <a:ext cx="12191400" cy="8640"/>
            </a:xfrm>
            <a:custGeom>
              <a:avLst/>
              <a:gdLst>
                <a:gd name="textAreaLeft" fmla="*/ 0 w 12191400"/>
                <a:gd name="textAreaRight" fmla="*/ 12192120 w 12191400"/>
                <a:gd name="textAreaTop" fmla="*/ 0 h 8640"/>
                <a:gd name="textAreaBottom" fmla="*/ 9360 h 8640"/>
              </a:gdLst>
              <a:ahLst/>
              <a:rect l="textAreaLeft" t="textAreaTop" r="textAreaRight" b="textAreaBottom"/>
              <a:pathLst>
                <a:path w="12192000" h="9525">
                  <a:moveTo>
                    <a:pt x="0" y="0"/>
                  </a:moveTo>
                  <a:lnTo>
                    <a:pt x="12192000" y="0"/>
                  </a:lnTo>
                </a:path>
              </a:pathLst>
            </a:custGeom>
            <a:noFill/>
            <a:ln w="14288">
              <a:solidFill>
                <a:srgbClr val="1c1c1f"/>
              </a:solidFill>
              <a:custDash>
                <a:ds d="133000" sp="933000"/>
              </a:custDash>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31" name="Line 23"/>
            <p:cNvSpPr/>
            <p:nvPr/>
          </p:nvSpPr>
          <p:spPr>
            <a:xfrm>
              <a:off x="0" y="5486400"/>
              <a:ext cx="12191400" cy="8640"/>
            </a:xfrm>
            <a:custGeom>
              <a:avLst/>
              <a:gdLst>
                <a:gd name="textAreaLeft" fmla="*/ 0 w 12191400"/>
                <a:gd name="textAreaRight" fmla="*/ 12192120 w 12191400"/>
                <a:gd name="textAreaTop" fmla="*/ 0 h 8640"/>
                <a:gd name="textAreaBottom" fmla="*/ 9360 h 8640"/>
              </a:gdLst>
              <a:ahLst/>
              <a:rect l="textAreaLeft" t="textAreaTop" r="textAreaRight" b="textAreaBottom"/>
              <a:pathLst>
                <a:path w="12192000" h="9525">
                  <a:moveTo>
                    <a:pt x="0" y="0"/>
                  </a:moveTo>
                  <a:lnTo>
                    <a:pt x="12192000" y="0"/>
                  </a:lnTo>
                </a:path>
              </a:pathLst>
            </a:custGeom>
            <a:noFill/>
            <a:ln w="14288">
              <a:solidFill>
                <a:srgbClr val="1c1c1f"/>
              </a:solidFill>
              <a:custDash>
                <a:ds d="133000" sp="933000"/>
              </a:custDash>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32" name="Line 24"/>
            <p:cNvSpPr/>
            <p:nvPr/>
          </p:nvSpPr>
          <p:spPr>
            <a:xfrm>
              <a:off x="0" y="6400800"/>
              <a:ext cx="12191400" cy="8640"/>
            </a:xfrm>
            <a:custGeom>
              <a:avLst/>
              <a:gdLst>
                <a:gd name="textAreaLeft" fmla="*/ 0 w 12191400"/>
                <a:gd name="textAreaRight" fmla="*/ 12192120 w 12191400"/>
                <a:gd name="textAreaTop" fmla="*/ 0 h 8640"/>
                <a:gd name="textAreaBottom" fmla="*/ 9360 h 8640"/>
              </a:gdLst>
              <a:ahLst/>
              <a:rect l="textAreaLeft" t="textAreaTop" r="textAreaRight" b="textAreaBottom"/>
              <a:pathLst>
                <a:path w="12192000" h="9525">
                  <a:moveTo>
                    <a:pt x="0" y="0"/>
                  </a:moveTo>
                  <a:lnTo>
                    <a:pt x="12192000" y="0"/>
                  </a:lnTo>
                </a:path>
              </a:pathLst>
            </a:custGeom>
            <a:noFill/>
            <a:ln w="14288">
              <a:solidFill>
                <a:srgbClr val="1c1c1f"/>
              </a:solidFill>
              <a:custDash>
                <a:ds d="133000" sp="933000"/>
              </a:custDash>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133" name="Group 29"/>
          <p:cNvGrpSpPr/>
          <p:nvPr/>
        </p:nvGrpSpPr>
        <p:grpSpPr>
          <a:xfrm>
            <a:off x="762120" y="842040"/>
            <a:ext cx="10582200" cy="182880"/>
            <a:chOff x="762120" y="842040"/>
            <a:chExt cx="10582200" cy="182880"/>
          </a:xfrm>
        </p:grpSpPr>
        <p:sp>
          <p:nvSpPr>
            <p:cNvPr id="134" name="Rectangle 26"/>
            <p:cNvSpPr/>
            <p:nvPr/>
          </p:nvSpPr>
          <p:spPr>
            <a:xfrm>
              <a:off x="762120" y="895320"/>
              <a:ext cx="380160" cy="18360"/>
            </a:xfrm>
            <a:prstGeom prst="rect">
              <a:avLst/>
            </a:prstGeom>
            <a:solidFill>
              <a:srgbClr val="4fd1c5"/>
            </a:solidFill>
            <a:ln w="0">
              <a:noFill/>
            </a:ln>
          </p:spPr>
          <p:style>
            <a:lnRef idx="0"/>
            <a:fillRef idx="0"/>
            <a:effectRef idx="0"/>
            <a:fontRef idx="minor"/>
          </p:style>
          <p:txBody>
            <a:bodyPr lIns="90000" rIns="90000" tIns="-25920" bIns="-25920" anchor="t">
              <a:noAutofit/>
            </a:bodyPr>
            <a:p>
              <a:pPr>
                <a:lnSpc>
                  <a:spcPct val="100000"/>
                </a:lnSpc>
              </a:pPr>
              <a:endParaRPr b="0" lang="en-IN" sz="1800" spc="-1" strike="noStrike">
                <a:solidFill>
                  <a:srgbClr val="000000"/>
                </a:solidFill>
                <a:latin typeface="Arial"/>
              </a:endParaRPr>
            </a:p>
          </p:txBody>
        </p:sp>
        <p:sp>
          <p:nvSpPr>
            <p:cNvPr id="135" name="TextBox 27"/>
            <p:cNvSpPr/>
            <p:nvPr/>
          </p:nvSpPr>
          <p:spPr>
            <a:xfrm>
              <a:off x="1273320" y="842040"/>
              <a:ext cx="109188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THE PROBLEM</a:t>
              </a:r>
              <a:endParaRPr b="0" lang="en-IN" sz="1200" spc="-1" strike="noStrike">
                <a:solidFill>
                  <a:srgbClr val="000000"/>
                </a:solidFill>
                <a:latin typeface="Arial"/>
              </a:endParaRPr>
            </a:p>
          </p:txBody>
        </p:sp>
        <p:sp>
          <p:nvSpPr>
            <p:cNvPr id="136" name="TextBox 28"/>
            <p:cNvSpPr/>
            <p:nvPr/>
          </p:nvSpPr>
          <p:spPr>
            <a:xfrm>
              <a:off x="9929160" y="842040"/>
              <a:ext cx="1415160" cy="1828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200" spc="-1" strike="noStrike">
                  <a:solidFill>
                    <a:srgbClr val="8a8a93"/>
                  </a:solidFill>
                  <a:latin typeface="Arial"/>
                  <a:ea typeface="Microsoft YaHei"/>
                </a:rPr>
                <a:t>Domain-Robust SER</a:t>
              </a:r>
              <a:endParaRPr b="0" lang="en-IN" sz="1200" spc="-1" strike="noStrike">
                <a:solidFill>
                  <a:srgbClr val="000000"/>
                </a:solidFill>
                <a:latin typeface="Arial"/>
              </a:endParaRPr>
            </a:p>
          </p:txBody>
        </p:sp>
      </p:grpSp>
      <p:grpSp>
        <p:nvGrpSpPr>
          <p:cNvPr id="137" name="Group 34"/>
          <p:cNvGrpSpPr/>
          <p:nvPr/>
        </p:nvGrpSpPr>
        <p:grpSpPr>
          <a:xfrm>
            <a:off x="2265480" y="2019240"/>
            <a:ext cx="7660440" cy="2509920"/>
            <a:chOff x="2265480" y="2019240"/>
            <a:chExt cx="7660440" cy="2509920"/>
          </a:xfrm>
        </p:grpSpPr>
        <p:sp>
          <p:nvSpPr>
            <p:cNvPr id="138" name="Line 30"/>
            <p:cNvSpPr/>
            <p:nvPr/>
          </p:nvSpPr>
          <p:spPr>
            <a:xfrm>
              <a:off x="4952880" y="2019240"/>
              <a:ext cx="2285280" cy="8640"/>
            </a:xfrm>
            <a:custGeom>
              <a:avLst/>
              <a:gdLst>
                <a:gd name="textAreaLeft" fmla="*/ 0 w 2285280"/>
                <a:gd name="textAreaRight" fmla="*/ 2286000 w 2285280"/>
                <a:gd name="textAreaTop" fmla="*/ 0 h 8640"/>
                <a:gd name="textAreaBottom" fmla="*/ 9360 h 8640"/>
              </a:gdLst>
              <a:ahLst/>
              <a:rect l="textAreaLeft" t="textAreaTop" r="textAreaRight" b="textAreaBottom"/>
              <a:pathLst>
                <a:path w="2286000" h="9525">
                  <a:moveTo>
                    <a:pt x="0" y="0"/>
                  </a:moveTo>
                  <a:lnTo>
                    <a:pt x="2286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39" name="TextBox 31"/>
            <p:cNvSpPr/>
            <p:nvPr/>
          </p:nvSpPr>
          <p:spPr>
            <a:xfrm>
              <a:off x="2265480" y="2700360"/>
              <a:ext cx="7660440" cy="571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3750" spc="-1" strike="noStrike">
                  <a:solidFill>
                    <a:srgbClr val="4fd1c5"/>
                  </a:solidFill>
                  <a:latin typeface="Arial"/>
                  <a:ea typeface="Microsoft YaHei"/>
                </a:rPr>
                <a:t>How can emotion representations</a:t>
              </a:r>
              <a:endParaRPr b="0" lang="en-IN" sz="3750" spc="-1" strike="noStrike">
                <a:solidFill>
                  <a:srgbClr val="000000"/>
                </a:solidFill>
                <a:latin typeface="Arial"/>
              </a:endParaRPr>
            </a:p>
          </p:txBody>
        </p:sp>
        <p:sp>
          <p:nvSpPr>
            <p:cNvPr id="140" name="TextBox 32"/>
            <p:cNvSpPr/>
            <p:nvPr/>
          </p:nvSpPr>
          <p:spPr>
            <a:xfrm>
              <a:off x="3034440" y="3328920"/>
              <a:ext cx="6122520" cy="571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3750" spc="-1" strike="noStrike">
                  <a:solidFill>
                    <a:srgbClr val="4fd1c5"/>
                  </a:solidFill>
                  <a:latin typeface="Arial"/>
                  <a:ea typeface="Microsoft YaHei"/>
                </a:rPr>
                <a:t>become less dependent on</a:t>
              </a:r>
              <a:endParaRPr b="0" lang="en-IN" sz="3750" spc="-1" strike="noStrike">
                <a:solidFill>
                  <a:srgbClr val="000000"/>
                </a:solidFill>
                <a:latin typeface="Arial"/>
              </a:endParaRPr>
            </a:p>
          </p:txBody>
        </p:sp>
        <p:sp>
          <p:nvSpPr>
            <p:cNvPr id="141" name="TextBox 33"/>
            <p:cNvSpPr/>
            <p:nvPr/>
          </p:nvSpPr>
          <p:spPr>
            <a:xfrm>
              <a:off x="3272760" y="3957480"/>
              <a:ext cx="5645520" cy="5716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3750" spc="-1" strike="noStrike">
                  <a:solidFill>
                    <a:srgbClr val="4fd1c5"/>
                  </a:solidFill>
                  <a:latin typeface="Arial"/>
                  <a:ea typeface="Microsoft YaHei"/>
                </a:rPr>
                <a:t>the speaker and corpus?</a:t>
              </a:r>
              <a:endParaRPr b="0" lang="en-IN" sz="3750" spc="-1" strike="noStrike">
                <a:solidFill>
                  <a:srgbClr val="000000"/>
                </a:solidFill>
                <a:latin typeface="Arial"/>
              </a:endParaRPr>
            </a:p>
          </p:txBody>
        </p:sp>
      </p:grpSp>
      <p:grpSp>
        <p:nvGrpSpPr>
          <p:cNvPr id="142" name="Group 38"/>
          <p:cNvGrpSpPr/>
          <p:nvPr/>
        </p:nvGrpSpPr>
        <p:grpSpPr>
          <a:xfrm>
            <a:off x="762120" y="6324480"/>
            <a:ext cx="10667160" cy="291600"/>
            <a:chOff x="762120" y="6324480"/>
            <a:chExt cx="10667160" cy="291600"/>
          </a:xfrm>
        </p:grpSpPr>
        <p:sp>
          <p:nvSpPr>
            <p:cNvPr id="143" name="Line 35"/>
            <p:cNvSpPr/>
            <p:nvPr/>
          </p:nvSpPr>
          <p:spPr>
            <a:xfrm>
              <a:off x="762120" y="632448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44" name="TextBox 36"/>
            <p:cNvSpPr/>
            <p:nvPr/>
          </p:nvSpPr>
          <p:spPr>
            <a:xfrm>
              <a:off x="798120" y="6467040"/>
              <a:ext cx="1927080" cy="148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endParaRPr b="0" lang="en-IN" sz="1800" spc="-1" strike="noStrike">
                <a:solidFill>
                  <a:srgbClr val="000000"/>
                </a:solidFill>
                <a:latin typeface="Arial"/>
              </a:endParaRPr>
            </a:p>
          </p:txBody>
        </p:sp>
        <p:sp>
          <p:nvSpPr>
            <p:cNvPr id="145" name="TextBox 37"/>
            <p:cNvSpPr/>
            <p:nvPr/>
          </p:nvSpPr>
          <p:spPr>
            <a:xfrm>
              <a:off x="11276640" y="6467040"/>
              <a:ext cx="149040" cy="14904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980" spc="-1" strike="noStrike">
                  <a:solidFill>
                    <a:srgbClr val="5a5a62"/>
                  </a:solidFill>
                  <a:latin typeface="Consolas"/>
                  <a:ea typeface="Microsoft YaHei"/>
                </a:rPr>
                <a:t>02</a:t>
              </a:r>
              <a:endParaRPr b="0" lang="en-IN" sz="980" spc="-1" strike="noStrike">
                <a:solidFill>
                  <a:srgbClr val="000000"/>
                </a:solidFill>
                <a:latin typeface="Arial"/>
              </a:endParaRPr>
            </a:p>
          </p:txBody>
        </p:sp>
      </p:gr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Rectangle 2"/>
          <p:cNvSpPr/>
          <p:nvPr/>
        </p:nvSpPr>
        <p:spPr>
          <a:xfrm>
            <a:off x="0" y="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147" name="Group 8"/>
          <p:cNvGrpSpPr/>
          <p:nvPr/>
        </p:nvGrpSpPr>
        <p:grpSpPr>
          <a:xfrm>
            <a:off x="762120" y="556200"/>
            <a:ext cx="10667160" cy="881280"/>
            <a:chOff x="762120" y="556200"/>
            <a:chExt cx="10667160" cy="881280"/>
          </a:xfrm>
        </p:grpSpPr>
        <p:sp>
          <p:nvSpPr>
            <p:cNvPr id="148" name="Rectangle 3"/>
            <p:cNvSpPr/>
            <p:nvPr/>
          </p:nvSpPr>
          <p:spPr>
            <a:xfrm>
              <a:off x="762120" y="609480"/>
              <a:ext cx="380160" cy="18360"/>
            </a:xfrm>
            <a:prstGeom prst="rect">
              <a:avLst/>
            </a:prstGeom>
            <a:solidFill>
              <a:srgbClr val="4fd1c5"/>
            </a:solidFill>
            <a:ln w="0">
              <a:noFill/>
            </a:ln>
          </p:spPr>
          <p:style>
            <a:lnRef idx="0"/>
            <a:fillRef idx="0"/>
            <a:effectRef idx="0"/>
            <a:fontRef idx="minor"/>
          </p:style>
          <p:txBody>
            <a:bodyPr lIns="90000" rIns="90000" tIns="-25920" bIns="-25920" anchor="t">
              <a:noAutofit/>
            </a:bodyPr>
            <a:p>
              <a:pPr>
                <a:lnSpc>
                  <a:spcPct val="100000"/>
                </a:lnSpc>
              </a:pPr>
              <a:endParaRPr b="0" lang="en-IN" sz="1800" spc="-1" strike="noStrike">
                <a:solidFill>
                  <a:srgbClr val="000000"/>
                </a:solidFill>
                <a:latin typeface="Arial"/>
              </a:endParaRPr>
            </a:p>
          </p:txBody>
        </p:sp>
        <p:sp>
          <p:nvSpPr>
            <p:cNvPr id="149" name="TextBox 4"/>
            <p:cNvSpPr/>
            <p:nvPr/>
          </p:nvSpPr>
          <p:spPr>
            <a:xfrm>
              <a:off x="1273320" y="556200"/>
              <a:ext cx="109188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THE PROBLEM</a:t>
              </a:r>
              <a:endParaRPr b="0" lang="en-IN" sz="1200" spc="-1" strike="noStrike">
                <a:solidFill>
                  <a:srgbClr val="000000"/>
                </a:solidFill>
                <a:latin typeface="Arial"/>
              </a:endParaRPr>
            </a:p>
          </p:txBody>
        </p:sp>
        <p:sp>
          <p:nvSpPr>
            <p:cNvPr id="150" name="TextBox 5"/>
            <p:cNvSpPr/>
            <p:nvPr/>
          </p:nvSpPr>
          <p:spPr>
            <a:xfrm>
              <a:off x="9929160" y="556200"/>
              <a:ext cx="1415160" cy="1828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200" spc="-1" strike="noStrike">
                  <a:solidFill>
                    <a:srgbClr val="8a8a93"/>
                  </a:solidFill>
                  <a:latin typeface="Arial"/>
                  <a:ea typeface="Microsoft YaHei"/>
                </a:rPr>
                <a:t>Domain-Robust SER</a:t>
              </a:r>
              <a:endParaRPr b="0" lang="en-IN" sz="1200" spc="-1" strike="noStrike">
                <a:solidFill>
                  <a:srgbClr val="000000"/>
                </a:solidFill>
                <a:latin typeface="Arial"/>
              </a:endParaRPr>
            </a:p>
          </p:txBody>
        </p:sp>
        <p:sp>
          <p:nvSpPr>
            <p:cNvPr id="151" name="TextBox 6"/>
            <p:cNvSpPr/>
            <p:nvPr/>
          </p:nvSpPr>
          <p:spPr>
            <a:xfrm>
              <a:off x="1369440" y="895320"/>
              <a:ext cx="7134480" cy="4572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000" spc="-1" strike="noStrike">
                  <a:solidFill>
                    <a:srgbClr val="f4f4f5"/>
                  </a:solidFill>
                  <a:latin typeface="Arial"/>
                  <a:ea typeface="Microsoft YaHei"/>
                </a:rPr>
                <a:t>The Challenge of Generalization in SER</a:t>
              </a:r>
              <a:endParaRPr b="0" lang="en-IN" sz="3000" spc="-1" strike="noStrike">
                <a:solidFill>
                  <a:srgbClr val="000000"/>
                </a:solidFill>
                <a:latin typeface="Arial"/>
              </a:endParaRPr>
            </a:p>
          </p:txBody>
        </p:sp>
        <p:sp>
          <p:nvSpPr>
            <p:cNvPr id="152" name="Line 7"/>
            <p:cNvSpPr/>
            <p:nvPr/>
          </p:nvSpPr>
          <p:spPr>
            <a:xfrm>
              <a:off x="762120" y="142884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153" name="Group 11"/>
          <p:cNvGrpSpPr/>
          <p:nvPr/>
        </p:nvGrpSpPr>
        <p:grpSpPr>
          <a:xfrm>
            <a:off x="1612800" y="1666800"/>
            <a:ext cx="5862600" cy="476280"/>
            <a:chOff x="1612800" y="1666800"/>
            <a:chExt cx="5862600" cy="476280"/>
          </a:xfrm>
        </p:grpSpPr>
        <p:sp>
          <p:nvSpPr>
            <p:cNvPr id="154" name="TextBox 9"/>
            <p:cNvSpPr/>
            <p:nvPr/>
          </p:nvSpPr>
          <p:spPr>
            <a:xfrm>
              <a:off x="1715400" y="1666800"/>
              <a:ext cx="576000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SER performs well within familiar datasets but performance can shift</a:t>
              </a:r>
              <a:endParaRPr b="0" lang="en-IN" sz="1500" spc="-1" strike="noStrike">
                <a:solidFill>
                  <a:srgbClr val="000000"/>
                </a:solidFill>
                <a:latin typeface="Arial"/>
              </a:endParaRPr>
            </a:p>
          </p:txBody>
        </p:sp>
        <p:sp>
          <p:nvSpPr>
            <p:cNvPr id="155" name="TextBox 10"/>
            <p:cNvSpPr/>
            <p:nvPr/>
          </p:nvSpPr>
          <p:spPr>
            <a:xfrm>
              <a:off x="1612800" y="1914480"/>
              <a:ext cx="585576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when the speaker, the recording environment, or the corpus changes.</a:t>
              </a:r>
              <a:endParaRPr b="0" lang="en-IN" sz="1500" spc="-1" strike="noStrike">
                <a:solidFill>
                  <a:srgbClr val="000000"/>
                </a:solidFill>
                <a:latin typeface="Arial"/>
              </a:endParaRPr>
            </a:p>
          </p:txBody>
        </p:sp>
      </p:grpSp>
      <p:grpSp>
        <p:nvGrpSpPr>
          <p:cNvPr id="156" name="Group 28"/>
          <p:cNvGrpSpPr/>
          <p:nvPr/>
        </p:nvGrpSpPr>
        <p:grpSpPr>
          <a:xfrm>
            <a:off x="758160" y="2526480"/>
            <a:ext cx="3908520" cy="2730600"/>
            <a:chOff x="758160" y="2526480"/>
            <a:chExt cx="3908520" cy="2730600"/>
          </a:xfrm>
        </p:grpSpPr>
        <p:sp>
          <p:nvSpPr>
            <p:cNvPr id="157" name="TextBox 12"/>
            <p:cNvSpPr/>
            <p:nvPr/>
          </p:nvSpPr>
          <p:spPr>
            <a:xfrm>
              <a:off x="758160" y="2526480"/>
              <a:ext cx="152640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CONVENTIONAL PATH</a:t>
              </a:r>
              <a:endParaRPr b="0" lang="en-IN" sz="1130" spc="-1" strike="noStrike">
                <a:solidFill>
                  <a:srgbClr val="000000"/>
                </a:solidFill>
                <a:latin typeface="Arial"/>
              </a:endParaRPr>
            </a:p>
          </p:txBody>
        </p:sp>
        <p:grpSp>
          <p:nvGrpSpPr>
            <p:cNvPr id="158" name="Group 15"/>
            <p:cNvGrpSpPr/>
            <p:nvPr/>
          </p:nvGrpSpPr>
          <p:grpSpPr>
            <a:xfrm>
              <a:off x="1809720" y="2857680"/>
              <a:ext cx="2856960" cy="456480"/>
              <a:chOff x="1809720" y="2857680"/>
              <a:chExt cx="2856960" cy="456480"/>
            </a:xfrm>
          </p:grpSpPr>
          <p:sp>
            <p:nvSpPr>
              <p:cNvPr id="159" name="Freeform 13"/>
              <p:cNvSpPr/>
              <p:nvPr/>
            </p:nvSpPr>
            <p:spPr>
              <a:xfrm>
                <a:off x="1809720" y="2857680"/>
                <a:ext cx="2856960" cy="456480"/>
              </a:xfrm>
              <a:custGeom>
                <a:avLst/>
                <a:gdLst>
                  <a:gd name="textAreaLeft" fmla="*/ 0 w 2856960"/>
                  <a:gd name="textAreaRight" fmla="*/ 2857680 w 2856960"/>
                  <a:gd name="textAreaTop" fmla="*/ 0 h 456480"/>
                  <a:gd name="textAreaBottom" fmla="*/ 457200 h 456480"/>
                </a:gdLst>
                <a:ahLst/>
                <a:rect l="textAreaLeft" t="textAreaTop" r="textAreaRight" b="textAreaBottom"/>
                <a:pathLst>
                  <a:path w="2857500" h="457200">
                    <a:moveTo>
                      <a:pt x="57150" y="0"/>
                    </a:moveTo>
                    <a:lnTo>
                      <a:pt x="2800350" y="0"/>
                    </a:lnTo>
                    <a:cubicBezTo>
                      <a:pt x="2831913" y="0"/>
                      <a:pt x="2857500" y="25587"/>
                      <a:pt x="2857500" y="57150"/>
                    </a:cubicBezTo>
                    <a:lnTo>
                      <a:pt x="2857500" y="400050"/>
                    </a:lnTo>
                    <a:cubicBezTo>
                      <a:pt x="2857500" y="431613"/>
                      <a:pt x="2831913" y="457200"/>
                      <a:pt x="2800350" y="457200"/>
                    </a:cubicBezTo>
                    <a:lnTo>
                      <a:pt x="57150" y="457200"/>
                    </a:lnTo>
                    <a:cubicBezTo>
                      <a:pt x="25587" y="457200"/>
                      <a:pt x="0" y="431613"/>
                      <a:pt x="0" y="4000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60" name="TextBox 14"/>
              <p:cNvSpPr/>
              <p:nvPr/>
            </p:nvSpPr>
            <p:spPr>
              <a:xfrm>
                <a:off x="2971080" y="2974680"/>
                <a:ext cx="534240" cy="2512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650" spc="-1" strike="noStrike">
                    <a:solidFill>
                      <a:srgbClr val="f4f4f5"/>
                    </a:solidFill>
                    <a:latin typeface="Arial"/>
                    <a:ea typeface="Microsoft YaHei"/>
                  </a:rPr>
                  <a:t>Audio</a:t>
                </a:r>
                <a:endParaRPr b="0" lang="en-IN" sz="1650" spc="-1" strike="noStrike">
                  <a:solidFill>
                    <a:srgbClr val="000000"/>
                  </a:solidFill>
                  <a:latin typeface="Arial"/>
                </a:endParaRPr>
              </a:p>
            </p:txBody>
          </p:sp>
        </p:grpSp>
        <p:sp>
          <p:nvSpPr>
            <p:cNvPr id="161" name="Line 16"/>
            <p:cNvSpPr/>
            <p:nvPr/>
          </p:nvSpPr>
          <p:spPr>
            <a:xfrm>
              <a:off x="3238200" y="3314520"/>
              <a:ext cx="360" cy="15228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162" name="Group 19"/>
            <p:cNvGrpSpPr/>
            <p:nvPr/>
          </p:nvGrpSpPr>
          <p:grpSpPr>
            <a:xfrm>
              <a:off x="1809720" y="3505320"/>
              <a:ext cx="2856960" cy="456480"/>
              <a:chOff x="1809720" y="3505320"/>
              <a:chExt cx="2856960" cy="456480"/>
            </a:xfrm>
          </p:grpSpPr>
          <p:sp>
            <p:nvSpPr>
              <p:cNvPr id="163" name="Freeform 17"/>
              <p:cNvSpPr/>
              <p:nvPr/>
            </p:nvSpPr>
            <p:spPr>
              <a:xfrm>
                <a:off x="1809720" y="3505320"/>
                <a:ext cx="2856960" cy="456480"/>
              </a:xfrm>
              <a:custGeom>
                <a:avLst/>
                <a:gdLst>
                  <a:gd name="textAreaLeft" fmla="*/ 0 w 2856960"/>
                  <a:gd name="textAreaRight" fmla="*/ 2857680 w 2856960"/>
                  <a:gd name="textAreaTop" fmla="*/ 0 h 456480"/>
                  <a:gd name="textAreaBottom" fmla="*/ 457200 h 456480"/>
                </a:gdLst>
                <a:ahLst/>
                <a:rect l="textAreaLeft" t="textAreaTop" r="textAreaRight" b="textAreaBottom"/>
                <a:pathLst>
                  <a:path w="2857500" h="457200">
                    <a:moveTo>
                      <a:pt x="57150" y="0"/>
                    </a:moveTo>
                    <a:lnTo>
                      <a:pt x="2800350" y="0"/>
                    </a:lnTo>
                    <a:cubicBezTo>
                      <a:pt x="2831913" y="0"/>
                      <a:pt x="2857500" y="25587"/>
                      <a:pt x="2857500" y="57150"/>
                    </a:cubicBezTo>
                    <a:lnTo>
                      <a:pt x="2857500" y="400050"/>
                    </a:lnTo>
                    <a:cubicBezTo>
                      <a:pt x="2857500" y="431613"/>
                      <a:pt x="2831913" y="457200"/>
                      <a:pt x="2800350" y="457200"/>
                    </a:cubicBezTo>
                    <a:lnTo>
                      <a:pt x="57150" y="457200"/>
                    </a:lnTo>
                    <a:cubicBezTo>
                      <a:pt x="25587" y="457200"/>
                      <a:pt x="0" y="431613"/>
                      <a:pt x="0" y="4000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64" name="TextBox 18"/>
              <p:cNvSpPr/>
              <p:nvPr/>
            </p:nvSpPr>
            <p:spPr>
              <a:xfrm>
                <a:off x="2826360" y="3622320"/>
                <a:ext cx="823680" cy="2512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650" spc="-1" strike="noStrike">
                    <a:solidFill>
                      <a:srgbClr val="f4f4f5"/>
                    </a:solidFill>
                    <a:latin typeface="Arial"/>
                    <a:ea typeface="Microsoft YaHei"/>
                  </a:rPr>
                  <a:t>Features</a:t>
                </a:r>
                <a:endParaRPr b="0" lang="en-IN" sz="1650" spc="-1" strike="noStrike">
                  <a:solidFill>
                    <a:srgbClr val="000000"/>
                  </a:solidFill>
                  <a:latin typeface="Arial"/>
                </a:endParaRPr>
              </a:p>
            </p:txBody>
          </p:sp>
        </p:grpSp>
        <p:sp>
          <p:nvSpPr>
            <p:cNvPr id="165" name="Line 20"/>
            <p:cNvSpPr/>
            <p:nvPr/>
          </p:nvSpPr>
          <p:spPr>
            <a:xfrm>
              <a:off x="3238200" y="3962160"/>
              <a:ext cx="360" cy="15264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166" name="Group 23"/>
            <p:cNvGrpSpPr/>
            <p:nvPr/>
          </p:nvGrpSpPr>
          <p:grpSpPr>
            <a:xfrm>
              <a:off x="1809720" y="4152960"/>
              <a:ext cx="2856960" cy="456480"/>
              <a:chOff x="1809720" y="4152960"/>
              <a:chExt cx="2856960" cy="456480"/>
            </a:xfrm>
          </p:grpSpPr>
          <p:sp>
            <p:nvSpPr>
              <p:cNvPr id="167" name="Freeform 21"/>
              <p:cNvSpPr/>
              <p:nvPr/>
            </p:nvSpPr>
            <p:spPr>
              <a:xfrm>
                <a:off x="1809720" y="4152960"/>
                <a:ext cx="2856960" cy="456480"/>
              </a:xfrm>
              <a:custGeom>
                <a:avLst/>
                <a:gdLst>
                  <a:gd name="textAreaLeft" fmla="*/ 0 w 2856960"/>
                  <a:gd name="textAreaRight" fmla="*/ 2857680 w 2856960"/>
                  <a:gd name="textAreaTop" fmla="*/ 0 h 456480"/>
                  <a:gd name="textAreaBottom" fmla="*/ 457200 h 456480"/>
                </a:gdLst>
                <a:ahLst/>
                <a:rect l="textAreaLeft" t="textAreaTop" r="textAreaRight" b="textAreaBottom"/>
                <a:pathLst>
                  <a:path w="2857500" h="457200">
                    <a:moveTo>
                      <a:pt x="57150" y="0"/>
                    </a:moveTo>
                    <a:lnTo>
                      <a:pt x="2800350" y="0"/>
                    </a:lnTo>
                    <a:cubicBezTo>
                      <a:pt x="2831913" y="0"/>
                      <a:pt x="2857500" y="25587"/>
                      <a:pt x="2857500" y="57150"/>
                    </a:cubicBezTo>
                    <a:lnTo>
                      <a:pt x="2857500" y="400050"/>
                    </a:lnTo>
                    <a:cubicBezTo>
                      <a:pt x="2857500" y="431613"/>
                      <a:pt x="2831913" y="457200"/>
                      <a:pt x="2800350" y="457200"/>
                    </a:cubicBezTo>
                    <a:lnTo>
                      <a:pt x="57150" y="457200"/>
                    </a:lnTo>
                    <a:cubicBezTo>
                      <a:pt x="25587" y="457200"/>
                      <a:pt x="0" y="431613"/>
                      <a:pt x="0" y="4000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68" name="TextBox 22"/>
              <p:cNvSpPr/>
              <p:nvPr/>
            </p:nvSpPr>
            <p:spPr>
              <a:xfrm>
                <a:off x="2808720" y="4269960"/>
                <a:ext cx="858600" cy="2512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650" spc="-1" strike="noStrike">
                    <a:solidFill>
                      <a:srgbClr val="f4f4f5"/>
                    </a:solidFill>
                    <a:latin typeface="Arial"/>
                    <a:ea typeface="Microsoft YaHei"/>
                  </a:rPr>
                  <a:t>Classifier</a:t>
                </a:r>
                <a:endParaRPr b="0" lang="en-IN" sz="1650" spc="-1" strike="noStrike">
                  <a:solidFill>
                    <a:srgbClr val="000000"/>
                  </a:solidFill>
                  <a:latin typeface="Arial"/>
                </a:endParaRPr>
              </a:p>
            </p:txBody>
          </p:sp>
        </p:grpSp>
        <p:sp>
          <p:nvSpPr>
            <p:cNvPr id="169" name="Line 24"/>
            <p:cNvSpPr/>
            <p:nvPr/>
          </p:nvSpPr>
          <p:spPr>
            <a:xfrm>
              <a:off x="3238200" y="4609800"/>
              <a:ext cx="360" cy="15264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170" name="Group 27"/>
            <p:cNvGrpSpPr/>
            <p:nvPr/>
          </p:nvGrpSpPr>
          <p:grpSpPr>
            <a:xfrm>
              <a:off x="1809720" y="4800600"/>
              <a:ext cx="2856960" cy="456480"/>
              <a:chOff x="1809720" y="4800600"/>
              <a:chExt cx="2856960" cy="456480"/>
            </a:xfrm>
          </p:grpSpPr>
          <p:sp>
            <p:nvSpPr>
              <p:cNvPr id="171" name="Freeform 25"/>
              <p:cNvSpPr/>
              <p:nvPr/>
            </p:nvSpPr>
            <p:spPr>
              <a:xfrm>
                <a:off x="1809720" y="4800600"/>
                <a:ext cx="2856960" cy="456480"/>
              </a:xfrm>
              <a:custGeom>
                <a:avLst/>
                <a:gdLst>
                  <a:gd name="textAreaLeft" fmla="*/ 0 w 2856960"/>
                  <a:gd name="textAreaRight" fmla="*/ 2857680 w 2856960"/>
                  <a:gd name="textAreaTop" fmla="*/ 0 h 456480"/>
                  <a:gd name="textAreaBottom" fmla="*/ 457200 h 456480"/>
                </a:gdLst>
                <a:ahLst/>
                <a:rect l="textAreaLeft" t="textAreaTop" r="textAreaRight" b="textAreaBottom"/>
                <a:pathLst>
                  <a:path w="2857500" h="457200">
                    <a:moveTo>
                      <a:pt x="57150" y="0"/>
                    </a:moveTo>
                    <a:lnTo>
                      <a:pt x="2800350" y="0"/>
                    </a:lnTo>
                    <a:cubicBezTo>
                      <a:pt x="2831913" y="0"/>
                      <a:pt x="2857500" y="25587"/>
                      <a:pt x="2857500" y="57150"/>
                    </a:cubicBezTo>
                    <a:lnTo>
                      <a:pt x="2857500" y="400050"/>
                    </a:lnTo>
                    <a:cubicBezTo>
                      <a:pt x="2857500" y="431613"/>
                      <a:pt x="2831913" y="457200"/>
                      <a:pt x="2800350" y="457200"/>
                    </a:cubicBezTo>
                    <a:lnTo>
                      <a:pt x="57150" y="457200"/>
                    </a:lnTo>
                    <a:cubicBezTo>
                      <a:pt x="25587" y="457200"/>
                      <a:pt x="0" y="431613"/>
                      <a:pt x="0" y="400050"/>
                    </a:cubicBezTo>
                    <a:lnTo>
                      <a:pt x="0" y="57150"/>
                    </a:lnTo>
                    <a:cubicBezTo>
                      <a:pt x="0" y="25587"/>
                      <a:pt x="25587" y="0"/>
                      <a:pt x="57150" y="0"/>
                    </a:cubicBezTo>
                    <a:close/>
                  </a:path>
                </a:pathLst>
              </a:custGeom>
              <a:solidFill>
                <a:srgbClr val="151517"/>
              </a:solidFill>
              <a:ln w="14288">
                <a:solidFill>
                  <a:srgbClr val="4fd1c5"/>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72" name="TextBox 26"/>
              <p:cNvSpPr/>
              <p:nvPr/>
            </p:nvSpPr>
            <p:spPr>
              <a:xfrm>
                <a:off x="2855160" y="4917600"/>
                <a:ext cx="765720" cy="2512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650" spc="-1" strike="noStrike">
                    <a:solidFill>
                      <a:srgbClr val="f4f4f5"/>
                    </a:solidFill>
                    <a:latin typeface="Arial"/>
                    <a:ea typeface="Microsoft YaHei"/>
                  </a:rPr>
                  <a:t>Emotion</a:t>
                </a:r>
                <a:endParaRPr b="0" lang="en-IN" sz="1650" spc="-1" strike="noStrike">
                  <a:solidFill>
                    <a:srgbClr val="000000"/>
                  </a:solidFill>
                  <a:latin typeface="Arial"/>
                </a:endParaRPr>
              </a:p>
            </p:txBody>
          </p:sp>
        </p:grpSp>
      </p:grpSp>
      <p:grpSp>
        <p:nvGrpSpPr>
          <p:cNvPr id="173" name="Group 39"/>
          <p:cNvGrpSpPr/>
          <p:nvPr/>
        </p:nvGrpSpPr>
        <p:grpSpPr>
          <a:xfrm>
            <a:off x="6455520" y="2526480"/>
            <a:ext cx="4973760" cy="2730600"/>
            <a:chOff x="6455520" y="2526480"/>
            <a:chExt cx="4973760" cy="2730600"/>
          </a:xfrm>
        </p:grpSpPr>
        <p:sp>
          <p:nvSpPr>
            <p:cNvPr id="174" name="TextBox 29"/>
            <p:cNvSpPr/>
            <p:nvPr/>
          </p:nvSpPr>
          <p:spPr>
            <a:xfrm>
              <a:off x="6455520" y="2526480"/>
              <a:ext cx="171864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WHAT IT NEVER LEARNS</a:t>
              </a:r>
              <a:endParaRPr b="0" lang="en-IN" sz="1130" spc="-1" strike="noStrike">
                <a:solidFill>
                  <a:srgbClr val="000000"/>
                </a:solidFill>
                <a:latin typeface="Arial"/>
              </a:endParaRPr>
            </a:p>
          </p:txBody>
        </p:sp>
        <p:grpSp>
          <p:nvGrpSpPr>
            <p:cNvPr id="175" name="Group 33"/>
            <p:cNvGrpSpPr/>
            <p:nvPr/>
          </p:nvGrpSpPr>
          <p:grpSpPr>
            <a:xfrm>
              <a:off x="6477120" y="2857680"/>
              <a:ext cx="4952160" cy="951840"/>
              <a:chOff x="6477120" y="2857680"/>
              <a:chExt cx="4952160" cy="951840"/>
            </a:xfrm>
          </p:grpSpPr>
          <p:sp>
            <p:nvSpPr>
              <p:cNvPr id="176" name="Freeform 30"/>
              <p:cNvSpPr/>
              <p:nvPr/>
            </p:nvSpPr>
            <p:spPr>
              <a:xfrm>
                <a:off x="6477120" y="2857680"/>
                <a:ext cx="4952160" cy="951840"/>
              </a:xfrm>
              <a:custGeom>
                <a:avLst/>
                <a:gdLst>
                  <a:gd name="textAreaLeft" fmla="*/ 0 w 4952160"/>
                  <a:gd name="textAreaRight" fmla="*/ 4952880 w 4952160"/>
                  <a:gd name="textAreaTop" fmla="*/ 0 h 951840"/>
                  <a:gd name="textAreaBottom" fmla="*/ 952560 h 951840"/>
                </a:gdLst>
                <a:ahLst/>
                <a:rect l="textAreaLeft" t="textAreaTop" r="textAreaRight" b="textAreaBottom"/>
                <a:pathLst>
                  <a:path w="4953000" h="952500">
                    <a:moveTo>
                      <a:pt x="57150" y="0"/>
                    </a:moveTo>
                    <a:lnTo>
                      <a:pt x="4895850" y="0"/>
                    </a:lnTo>
                    <a:cubicBezTo>
                      <a:pt x="4927413" y="0"/>
                      <a:pt x="4953000" y="25587"/>
                      <a:pt x="4953000" y="57150"/>
                    </a:cubicBezTo>
                    <a:lnTo>
                      <a:pt x="4953000" y="895350"/>
                    </a:lnTo>
                    <a:cubicBezTo>
                      <a:pt x="4953000" y="926913"/>
                      <a:pt x="4927413" y="952500"/>
                      <a:pt x="4895850" y="952500"/>
                    </a:cubicBezTo>
                    <a:lnTo>
                      <a:pt x="57150" y="952500"/>
                    </a:lnTo>
                    <a:cubicBezTo>
                      <a:pt x="25587" y="952500"/>
                      <a:pt x="0" y="926913"/>
                      <a:pt x="0" y="8953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77" name="TextBox 31"/>
              <p:cNvSpPr/>
              <p:nvPr/>
            </p:nvSpPr>
            <p:spPr>
              <a:xfrm>
                <a:off x="6995520" y="3108960"/>
                <a:ext cx="167724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Cross-entropy asks only:</a:t>
                </a:r>
                <a:endParaRPr b="0" lang="en-IN" sz="1200" spc="-1" strike="noStrike">
                  <a:solidFill>
                    <a:srgbClr val="000000"/>
                  </a:solidFill>
                  <a:latin typeface="Arial"/>
                </a:endParaRPr>
              </a:p>
            </p:txBody>
          </p:sp>
          <p:sp>
            <p:nvSpPr>
              <p:cNvPr id="178" name="TextBox 32"/>
              <p:cNvSpPr/>
              <p:nvPr/>
            </p:nvSpPr>
            <p:spPr>
              <a:xfrm>
                <a:off x="7235640" y="3441240"/>
                <a:ext cx="401508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f4f4f5"/>
                    </a:solidFill>
                    <a:latin typeface="Arial"/>
                    <a:ea typeface="Microsoft YaHei"/>
                  </a:rPr>
                  <a:t>“</a:t>
                </a:r>
                <a:r>
                  <a:rPr b="0" lang="en-IN" sz="1650" spc="-1" strike="noStrike">
                    <a:solidFill>
                      <a:srgbClr val="f4f4f5"/>
                    </a:solidFill>
                    <a:latin typeface="Arial"/>
                    <a:ea typeface="Microsoft YaHei"/>
                  </a:rPr>
                  <a:t>Which emotion does this audio belong to?”</a:t>
                </a:r>
                <a:endParaRPr b="0" lang="en-IN" sz="1650" spc="-1" strike="noStrike">
                  <a:solidFill>
                    <a:srgbClr val="000000"/>
                  </a:solidFill>
                  <a:latin typeface="Arial"/>
                </a:endParaRPr>
              </a:p>
            </p:txBody>
          </p:sp>
        </p:grpSp>
        <p:grpSp>
          <p:nvGrpSpPr>
            <p:cNvPr id="179" name="Group 38"/>
            <p:cNvGrpSpPr/>
            <p:nvPr/>
          </p:nvGrpSpPr>
          <p:grpSpPr>
            <a:xfrm>
              <a:off x="6477120" y="4038480"/>
              <a:ext cx="4952160" cy="1218600"/>
              <a:chOff x="6477120" y="4038480"/>
              <a:chExt cx="4952160" cy="1218600"/>
            </a:xfrm>
          </p:grpSpPr>
          <p:sp>
            <p:nvSpPr>
              <p:cNvPr id="180" name="Freeform 34"/>
              <p:cNvSpPr/>
              <p:nvPr/>
            </p:nvSpPr>
            <p:spPr>
              <a:xfrm>
                <a:off x="6477120" y="4038480"/>
                <a:ext cx="4952160" cy="1218600"/>
              </a:xfrm>
              <a:custGeom>
                <a:avLst/>
                <a:gdLst>
                  <a:gd name="textAreaLeft" fmla="*/ 0 w 4952160"/>
                  <a:gd name="textAreaRight" fmla="*/ 4952880 w 4952160"/>
                  <a:gd name="textAreaTop" fmla="*/ 0 h 1218600"/>
                  <a:gd name="textAreaBottom" fmla="*/ 1219320 h 1218600"/>
                </a:gdLst>
                <a:ahLst/>
                <a:rect l="textAreaLeft" t="textAreaTop" r="textAreaRight" b="textAreaBottom"/>
                <a:pathLst>
                  <a:path w="4953000" h="1219200">
                    <a:moveTo>
                      <a:pt x="57150" y="0"/>
                    </a:moveTo>
                    <a:lnTo>
                      <a:pt x="4895850" y="0"/>
                    </a:lnTo>
                    <a:cubicBezTo>
                      <a:pt x="4927413" y="0"/>
                      <a:pt x="4953000" y="25587"/>
                      <a:pt x="4953000" y="57150"/>
                    </a:cubicBezTo>
                    <a:lnTo>
                      <a:pt x="4953000" y="1162050"/>
                    </a:lnTo>
                    <a:cubicBezTo>
                      <a:pt x="4953000" y="1193613"/>
                      <a:pt x="4927413" y="1219200"/>
                      <a:pt x="4895850" y="1219200"/>
                    </a:cubicBezTo>
                    <a:lnTo>
                      <a:pt x="57150" y="1219200"/>
                    </a:lnTo>
                    <a:cubicBezTo>
                      <a:pt x="25587" y="1219200"/>
                      <a:pt x="0" y="1193613"/>
                      <a:pt x="0" y="11620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181" name="TextBox 35"/>
              <p:cNvSpPr/>
              <p:nvPr/>
            </p:nvSpPr>
            <p:spPr>
              <a:xfrm>
                <a:off x="7058160" y="4290120"/>
                <a:ext cx="200772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It never explicitly encourages:</a:t>
                </a:r>
                <a:endParaRPr b="0" lang="en-IN" sz="1200" spc="-1" strike="noStrike">
                  <a:solidFill>
                    <a:srgbClr val="000000"/>
                  </a:solidFill>
                  <a:latin typeface="Arial"/>
                </a:endParaRPr>
              </a:p>
            </p:txBody>
          </p:sp>
          <p:sp>
            <p:nvSpPr>
              <p:cNvPr id="182" name="TextBox 36"/>
              <p:cNvSpPr/>
              <p:nvPr/>
            </p:nvSpPr>
            <p:spPr>
              <a:xfrm>
                <a:off x="7249320" y="4603320"/>
                <a:ext cx="374688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f4f4f5"/>
                    </a:solidFill>
                    <a:latin typeface="Arial"/>
                    <a:ea typeface="Microsoft YaHei"/>
                  </a:rPr>
                  <a:t>“</a:t>
                </a:r>
                <a:r>
                  <a:rPr b="0" lang="en-IN" sz="1650" spc="-1" strike="noStrike">
                    <a:solidFill>
                      <a:srgbClr val="f4f4f5"/>
                    </a:solidFill>
                    <a:latin typeface="Arial"/>
                    <a:ea typeface="Microsoft YaHei"/>
                  </a:rPr>
                  <a:t>What makes this emotion similar across</a:t>
                </a:r>
                <a:endParaRPr b="0" lang="en-IN" sz="1650" spc="-1" strike="noStrike">
                  <a:solidFill>
                    <a:srgbClr val="000000"/>
                  </a:solidFill>
                  <a:latin typeface="Arial"/>
                </a:endParaRPr>
              </a:p>
            </p:txBody>
          </p:sp>
          <p:sp>
            <p:nvSpPr>
              <p:cNvPr id="183" name="TextBox 37"/>
              <p:cNvSpPr/>
              <p:nvPr/>
            </p:nvSpPr>
            <p:spPr>
              <a:xfrm>
                <a:off x="7236360" y="4889160"/>
                <a:ext cx="301356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f4f4f5"/>
                    </a:solidFill>
                    <a:latin typeface="Arial"/>
                    <a:ea typeface="Microsoft YaHei"/>
                  </a:rPr>
                  <a:t>different speakers and corpora?”</a:t>
                </a:r>
                <a:endParaRPr b="0" lang="en-IN" sz="1650" spc="-1" strike="noStrike">
                  <a:solidFill>
                    <a:srgbClr val="000000"/>
                  </a:solidFill>
                  <a:latin typeface="Arial"/>
                </a:endParaRPr>
              </a:p>
            </p:txBody>
          </p:sp>
        </p:grpSp>
      </p:grpSp>
      <p:grpSp>
        <p:nvGrpSpPr>
          <p:cNvPr id="184" name="Group 43"/>
          <p:cNvGrpSpPr/>
          <p:nvPr/>
        </p:nvGrpSpPr>
        <p:grpSpPr>
          <a:xfrm>
            <a:off x="762120" y="5695920"/>
            <a:ext cx="10667160" cy="874440"/>
            <a:chOff x="762120" y="5695920"/>
            <a:chExt cx="10667160" cy="874440"/>
          </a:xfrm>
        </p:grpSpPr>
        <p:sp>
          <p:nvSpPr>
            <p:cNvPr id="185" name="Line 40"/>
            <p:cNvSpPr/>
            <p:nvPr/>
          </p:nvSpPr>
          <p:spPr>
            <a:xfrm>
              <a:off x="762120" y="569592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186" name="TextBox 41"/>
            <p:cNvSpPr/>
            <p:nvPr/>
          </p:nvSpPr>
          <p:spPr>
            <a:xfrm>
              <a:off x="2405520" y="5907240"/>
              <a:ext cx="7380000" cy="320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2100" spc="-1" strike="noStrike">
                  <a:solidFill>
                    <a:srgbClr val="4fd1c5"/>
                  </a:solidFill>
                  <a:latin typeface="Arial"/>
                  <a:ea typeface="Microsoft YaHei"/>
                </a:rPr>
                <a:t>How can emotion representations become less dependent</a:t>
              </a:r>
              <a:endParaRPr b="0" lang="en-IN" sz="2100" spc="-1" strike="noStrike">
                <a:solidFill>
                  <a:srgbClr val="000000"/>
                </a:solidFill>
                <a:latin typeface="Arial"/>
              </a:endParaRPr>
            </a:p>
          </p:txBody>
        </p:sp>
        <p:sp>
          <p:nvSpPr>
            <p:cNvPr id="187" name="TextBox 42"/>
            <p:cNvSpPr/>
            <p:nvPr/>
          </p:nvSpPr>
          <p:spPr>
            <a:xfrm>
              <a:off x="4317480" y="6250320"/>
              <a:ext cx="3556080" cy="320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2100" spc="-1" strike="noStrike">
                  <a:solidFill>
                    <a:srgbClr val="4fd1c5"/>
                  </a:solidFill>
                  <a:latin typeface="Arial"/>
                  <a:ea typeface="Microsoft YaHei"/>
                </a:rPr>
                <a:t>on the speaker and corpus?</a:t>
              </a:r>
              <a:endParaRPr b="0" lang="en-IN" sz="2100" spc="-1" strike="noStrike">
                <a:solidFill>
                  <a:srgbClr val="000000"/>
                </a:solidFill>
                <a:latin typeface="Arial"/>
              </a:endParaRPr>
            </a:p>
          </p:txBody>
        </p:sp>
      </p:grpSp>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Rectangle 2"/>
          <p:cNvSpPr/>
          <p:nvPr/>
        </p:nvSpPr>
        <p:spPr>
          <a:xfrm>
            <a:off x="0" y="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189" name="Group 8"/>
          <p:cNvGrpSpPr/>
          <p:nvPr/>
        </p:nvGrpSpPr>
        <p:grpSpPr>
          <a:xfrm>
            <a:off x="762120" y="556200"/>
            <a:ext cx="10667160" cy="881280"/>
            <a:chOff x="762120" y="556200"/>
            <a:chExt cx="10667160" cy="881280"/>
          </a:xfrm>
        </p:grpSpPr>
        <p:sp>
          <p:nvSpPr>
            <p:cNvPr id="190" name="Rectangle 3"/>
            <p:cNvSpPr/>
            <p:nvPr/>
          </p:nvSpPr>
          <p:spPr>
            <a:xfrm>
              <a:off x="762120" y="609480"/>
              <a:ext cx="380160" cy="18360"/>
            </a:xfrm>
            <a:prstGeom prst="rect">
              <a:avLst/>
            </a:prstGeom>
            <a:solidFill>
              <a:srgbClr val="4fd1c5"/>
            </a:solidFill>
            <a:ln w="0">
              <a:noFill/>
            </a:ln>
          </p:spPr>
          <p:style>
            <a:lnRef idx="0"/>
            <a:fillRef idx="0"/>
            <a:effectRef idx="0"/>
            <a:fontRef idx="minor"/>
          </p:style>
          <p:txBody>
            <a:bodyPr lIns="90000" rIns="90000" tIns="-25920" bIns="-25920" anchor="t">
              <a:noAutofit/>
            </a:bodyPr>
            <a:p>
              <a:pPr>
                <a:lnSpc>
                  <a:spcPct val="100000"/>
                </a:lnSpc>
              </a:pPr>
              <a:endParaRPr b="0" lang="en-IN" sz="1800" spc="-1" strike="noStrike">
                <a:solidFill>
                  <a:srgbClr val="000000"/>
                </a:solidFill>
                <a:latin typeface="Arial"/>
              </a:endParaRPr>
            </a:p>
          </p:txBody>
        </p:sp>
        <p:sp>
          <p:nvSpPr>
            <p:cNvPr id="191" name="TextBox 4"/>
            <p:cNvSpPr/>
            <p:nvPr/>
          </p:nvSpPr>
          <p:spPr>
            <a:xfrm>
              <a:off x="1254600" y="556200"/>
              <a:ext cx="122652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OUR APPROACH</a:t>
              </a:r>
              <a:endParaRPr b="0" lang="en-IN" sz="1200" spc="-1" strike="noStrike">
                <a:solidFill>
                  <a:srgbClr val="000000"/>
                </a:solidFill>
                <a:latin typeface="Arial"/>
              </a:endParaRPr>
            </a:p>
          </p:txBody>
        </p:sp>
        <p:sp>
          <p:nvSpPr>
            <p:cNvPr id="192" name="TextBox 5"/>
            <p:cNvSpPr/>
            <p:nvPr/>
          </p:nvSpPr>
          <p:spPr>
            <a:xfrm>
              <a:off x="9929160" y="556200"/>
              <a:ext cx="1415160" cy="1828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200" spc="-1" strike="noStrike">
                  <a:solidFill>
                    <a:srgbClr val="8a8a93"/>
                  </a:solidFill>
                  <a:latin typeface="Arial"/>
                  <a:ea typeface="Microsoft YaHei"/>
                </a:rPr>
                <a:t>Domain-Robust SER</a:t>
              </a:r>
              <a:endParaRPr b="0" lang="en-IN" sz="1200" spc="-1" strike="noStrike">
                <a:solidFill>
                  <a:srgbClr val="000000"/>
                </a:solidFill>
                <a:latin typeface="Arial"/>
              </a:endParaRPr>
            </a:p>
          </p:txBody>
        </p:sp>
        <p:sp>
          <p:nvSpPr>
            <p:cNvPr id="193" name="TextBox 6"/>
            <p:cNvSpPr/>
            <p:nvPr/>
          </p:nvSpPr>
          <p:spPr>
            <a:xfrm>
              <a:off x="1217160" y="876240"/>
              <a:ext cx="5299560" cy="4572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000" spc="-1" strike="noStrike">
                  <a:solidFill>
                    <a:srgbClr val="f4f4f5"/>
                  </a:solidFill>
                  <a:latin typeface="Arial"/>
                  <a:ea typeface="Microsoft YaHei"/>
                </a:rPr>
                <a:t>Our Deep Learning Approach</a:t>
              </a:r>
              <a:endParaRPr b="0" lang="en-IN" sz="3000" spc="-1" strike="noStrike">
                <a:solidFill>
                  <a:srgbClr val="000000"/>
                </a:solidFill>
                <a:latin typeface="Arial"/>
              </a:endParaRPr>
            </a:p>
          </p:txBody>
        </p:sp>
        <p:sp>
          <p:nvSpPr>
            <p:cNvPr id="194" name="Line 7"/>
            <p:cNvSpPr/>
            <p:nvPr/>
          </p:nvSpPr>
          <p:spPr>
            <a:xfrm>
              <a:off x="762120" y="142884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sp>
        <p:nvSpPr>
          <p:cNvPr id="195" name="TextBox 9"/>
          <p:cNvSpPr/>
          <p:nvPr/>
        </p:nvSpPr>
        <p:spPr>
          <a:xfrm>
            <a:off x="752400" y="1745280"/>
            <a:ext cx="149724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PROPOSED PIPELINE</a:t>
            </a:r>
            <a:endParaRPr b="0" lang="en-IN" sz="1130" spc="-1" strike="noStrike">
              <a:solidFill>
                <a:srgbClr val="000000"/>
              </a:solidFill>
              <a:latin typeface="Arial"/>
            </a:endParaRPr>
          </a:p>
        </p:txBody>
      </p:sp>
      <p:grpSp>
        <p:nvGrpSpPr>
          <p:cNvPr id="196" name="Group 48"/>
          <p:cNvGrpSpPr/>
          <p:nvPr/>
        </p:nvGrpSpPr>
        <p:grpSpPr>
          <a:xfrm>
            <a:off x="762120" y="2180880"/>
            <a:ext cx="10667160" cy="2133000"/>
            <a:chOff x="762120" y="2180880"/>
            <a:chExt cx="10667160" cy="2133000"/>
          </a:xfrm>
        </p:grpSpPr>
        <p:grpSp>
          <p:nvGrpSpPr>
            <p:cNvPr id="197" name="Group 16"/>
            <p:cNvGrpSpPr/>
            <p:nvPr/>
          </p:nvGrpSpPr>
          <p:grpSpPr>
            <a:xfrm>
              <a:off x="1449360" y="2180880"/>
              <a:ext cx="9292680" cy="149040"/>
              <a:chOff x="1449360" y="2180880"/>
              <a:chExt cx="9292680" cy="149040"/>
            </a:xfrm>
          </p:grpSpPr>
          <p:sp>
            <p:nvSpPr>
              <p:cNvPr id="198" name="TextBox 10"/>
              <p:cNvSpPr/>
              <p:nvPr/>
            </p:nvSpPr>
            <p:spPr>
              <a:xfrm>
                <a:off x="1449360" y="2180880"/>
                <a:ext cx="149040" cy="149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980" spc="-1" strike="noStrike">
                    <a:solidFill>
                      <a:srgbClr val="5a5a62"/>
                    </a:solidFill>
                    <a:latin typeface="Consolas"/>
                    <a:ea typeface="Microsoft YaHei"/>
                  </a:rPr>
                  <a:t>01</a:t>
                </a:r>
                <a:endParaRPr b="0" lang="en-IN" sz="980" spc="-1" strike="noStrike">
                  <a:solidFill>
                    <a:srgbClr val="000000"/>
                  </a:solidFill>
                  <a:latin typeface="Arial"/>
                </a:endParaRPr>
              </a:p>
            </p:txBody>
          </p:sp>
          <p:sp>
            <p:nvSpPr>
              <p:cNvPr id="199" name="TextBox 11"/>
              <p:cNvSpPr/>
              <p:nvPr/>
            </p:nvSpPr>
            <p:spPr>
              <a:xfrm>
                <a:off x="3277800" y="2180880"/>
                <a:ext cx="149040" cy="149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980" spc="-1" strike="noStrike">
                    <a:solidFill>
                      <a:srgbClr val="5a5a62"/>
                    </a:solidFill>
                    <a:latin typeface="Consolas"/>
                    <a:ea typeface="Microsoft YaHei"/>
                  </a:rPr>
                  <a:t>02</a:t>
                </a:r>
                <a:endParaRPr b="0" lang="en-IN" sz="980" spc="-1" strike="noStrike">
                  <a:solidFill>
                    <a:srgbClr val="000000"/>
                  </a:solidFill>
                  <a:latin typeface="Arial"/>
                </a:endParaRPr>
              </a:p>
            </p:txBody>
          </p:sp>
          <p:sp>
            <p:nvSpPr>
              <p:cNvPr id="200" name="TextBox 12"/>
              <p:cNvSpPr/>
              <p:nvPr/>
            </p:nvSpPr>
            <p:spPr>
              <a:xfrm>
                <a:off x="5106600" y="2180880"/>
                <a:ext cx="149040" cy="149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980" spc="-1" strike="noStrike">
                    <a:solidFill>
                      <a:srgbClr val="5a5a62"/>
                    </a:solidFill>
                    <a:latin typeface="Consolas"/>
                    <a:ea typeface="Microsoft YaHei"/>
                  </a:rPr>
                  <a:t>03</a:t>
                </a:r>
                <a:endParaRPr b="0" lang="en-IN" sz="980" spc="-1" strike="noStrike">
                  <a:solidFill>
                    <a:srgbClr val="000000"/>
                  </a:solidFill>
                  <a:latin typeface="Arial"/>
                </a:endParaRPr>
              </a:p>
            </p:txBody>
          </p:sp>
          <p:sp>
            <p:nvSpPr>
              <p:cNvPr id="201" name="TextBox 13"/>
              <p:cNvSpPr/>
              <p:nvPr/>
            </p:nvSpPr>
            <p:spPr>
              <a:xfrm>
                <a:off x="6935400" y="2180880"/>
                <a:ext cx="149040" cy="149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980" spc="-1" strike="noStrike">
                    <a:solidFill>
                      <a:srgbClr val="5a5a62"/>
                    </a:solidFill>
                    <a:latin typeface="Consolas"/>
                    <a:ea typeface="Microsoft YaHei"/>
                  </a:rPr>
                  <a:t>04</a:t>
                </a:r>
                <a:endParaRPr b="0" lang="en-IN" sz="980" spc="-1" strike="noStrike">
                  <a:solidFill>
                    <a:srgbClr val="000000"/>
                  </a:solidFill>
                  <a:latin typeface="Arial"/>
                </a:endParaRPr>
              </a:p>
            </p:txBody>
          </p:sp>
          <p:sp>
            <p:nvSpPr>
              <p:cNvPr id="202" name="TextBox 14"/>
              <p:cNvSpPr/>
              <p:nvPr/>
            </p:nvSpPr>
            <p:spPr>
              <a:xfrm>
                <a:off x="8764200" y="2180880"/>
                <a:ext cx="149040" cy="149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980" spc="-1" strike="noStrike">
                    <a:solidFill>
                      <a:srgbClr val="5a5a62"/>
                    </a:solidFill>
                    <a:latin typeface="Consolas"/>
                    <a:ea typeface="Microsoft YaHei"/>
                  </a:rPr>
                  <a:t>05</a:t>
                </a:r>
                <a:endParaRPr b="0" lang="en-IN" sz="980" spc="-1" strike="noStrike">
                  <a:solidFill>
                    <a:srgbClr val="000000"/>
                  </a:solidFill>
                  <a:latin typeface="Arial"/>
                </a:endParaRPr>
              </a:p>
            </p:txBody>
          </p:sp>
          <p:sp>
            <p:nvSpPr>
              <p:cNvPr id="203" name="TextBox 15"/>
              <p:cNvSpPr/>
              <p:nvPr/>
            </p:nvSpPr>
            <p:spPr>
              <a:xfrm>
                <a:off x="10593000" y="2180880"/>
                <a:ext cx="149040" cy="14904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980" spc="-1" strike="noStrike">
                    <a:solidFill>
                      <a:srgbClr val="5a5a62"/>
                    </a:solidFill>
                    <a:latin typeface="Consolas"/>
                    <a:ea typeface="Microsoft YaHei"/>
                  </a:rPr>
                  <a:t>06</a:t>
                </a:r>
                <a:endParaRPr b="0" lang="en-IN" sz="980" spc="-1" strike="noStrike">
                  <a:solidFill>
                    <a:srgbClr val="000000"/>
                  </a:solidFill>
                  <a:latin typeface="Arial"/>
                </a:endParaRPr>
              </a:p>
            </p:txBody>
          </p:sp>
        </p:grpSp>
        <p:grpSp>
          <p:nvGrpSpPr>
            <p:cNvPr id="204" name="Group 20"/>
            <p:cNvGrpSpPr/>
            <p:nvPr/>
          </p:nvGrpSpPr>
          <p:grpSpPr>
            <a:xfrm>
              <a:off x="762120" y="2438280"/>
              <a:ext cx="1523160" cy="1618560"/>
              <a:chOff x="762120" y="2438280"/>
              <a:chExt cx="1523160" cy="1618560"/>
            </a:xfrm>
          </p:grpSpPr>
          <p:sp>
            <p:nvSpPr>
              <p:cNvPr id="205" name="Freeform 17"/>
              <p:cNvSpPr/>
              <p:nvPr/>
            </p:nvSpPr>
            <p:spPr>
              <a:xfrm>
                <a:off x="762120" y="2438280"/>
                <a:ext cx="1523160" cy="1618560"/>
              </a:xfrm>
              <a:custGeom>
                <a:avLst/>
                <a:gdLst>
                  <a:gd name="textAreaLeft" fmla="*/ 0 w 1523160"/>
                  <a:gd name="textAreaRight" fmla="*/ 1523880 w 1523160"/>
                  <a:gd name="textAreaTop" fmla="*/ 0 h 1618560"/>
                  <a:gd name="textAreaBottom" fmla="*/ 1619280 h 1618560"/>
                </a:gdLst>
                <a:ahLst/>
                <a:rect l="textAreaLeft" t="textAreaTop" r="textAreaRight" b="textAreaBottom"/>
                <a:pathLst>
                  <a:path w="1524000" h="1619250">
                    <a:moveTo>
                      <a:pt x="57150" y="0"/>
                    </a:moveTo>
                    <a:lnTo>
                      <a:pt x="1466850" y="0"/>
                    </a:lnTo>
                    <a:cubicBezTo>
                      <a:pt x="1498413" y="0"/>
                      <a:pt x="1524000" y="25587"/>
                      <a:pt x="1524000" y="57150"/>
                    </a:cubicBezTo>
                    <a:lnTo>
                      <a:pt x="1524000" y="1562100"/>
                    </a:lnTo>
                    <a:cubicBezTo>
                      <a:pt x="1524000" y="1593663"/>
                      <a:pt x="1498413" y="1619250"/>
                      <a:pt x="1466850" y="1619250"/>
                    </a:cubicBezTo>
                    <a:lnTo>
                      <a:pt x="57150" y="1619250"/>
                    </a:lnTo>
                    <a:cubicBezTo>
                      <a:pt x="25587" y="1619250"/>
                      <a:pt x="0" y="1593663"/>
                      <a:pt x="0" y="15621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06" name="TextBox 18"/>
              <p:cNvSpPr/>
              <p:nvPr/>
            </p:nvSpPr>
            <p:spPr>
              <a:xfrm>
                <a:off x="1258200" y="2997360"/>
                <a:ext cx="53100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16 kHz</a:t>
                </a:r>
                <a:endParaRPr b="0" lang="en-IN" sz="1350" spc="-1" strike="noStrike">
                  <a:solidFill>
                    <a:srgbClr val="000000"/>
                  </a:solidFill>
                  <a:latin typeface="Arial"/>
                </a:endParaRPr>
              </a:p>
            </p:txBody>
          </p:sp>
          <p:sp>
            <p:nvSpPr>
              <p:cNvPr id="207" name="TextBox 19"/>
              <p:cNvSpPr/>
              <p:nvPr/>
            </p:nvSpPr>
            <p:spPr>
              <a:xfrm>
                <a:off x="1305000" y="3225960"/>
                <a:ext cx="43668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Audio</a:t>
                </a:r>
                <a:endParaRPr b="0" lang="en-IN" sz="1350" spc="-1" strike="noStrike">
                  <a:solidFill>
                    <a:srgbClr val="000000"/>
                  </a:solidFill>
                  <a:latin typeface="Arial"/>
                </a:endParaRPr>
              </a:p>
            </p:txBody>
          </p:sp>
        </p:grpSp>
        <p:sp>
          <p:nvSpPr>
            <p:cNvPr id="208" name="Line 21"/>
            <p:cNvSpPr/>
            <p:nvPr/>
          </p:nvSpPr>
          <p:spPr>
            <a:xfrm>
              <a:off x="2304720" y="3247920"/>
              <a:ext cx="26676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09" name="Group 25"/>
            <p:cNvGrpSpPr/>
            <p:nvPr/>
          </p:nvGrpSpPr>
          <p:grpSpPr>
            <a:xfrm>
              <a:off x="2590920" y="2438280"/>
              <a:ext cx="1523160" cy="1618560"/>
              <a:chOff x="2590920" y="2438280"/>
              <a:chExt cx="1523160" cy="1618560"/>
            </a:xfrm>
          </p:grpSpPr>
          <p:sp>
            <p:nvSpPr>
              <p:cNvPr id="210" name="Freeform 22"/>
              <p:cNvSpPr/>
              <p:nvPr/>
            </p:nvSpPr>
            <p:spPr>
              <a:xfrm>
                <a:off x="2590920" y="2438280"/>
                <a:ext cx="1523160" cy="1618560"/>
              </a:xfrm>
              <a:custGeom>
                <a:avLst/>
                <a:gdLst>
                  <a:gd name="textAreaLeft" fmla="*/ 0 w 1523160"/>
                  <a:gd name="textAreaRight" fmla="*/ 1523880 w 1523160"/>
                  <a:gd name="textAreaTop" fmla="*/ 0 h 1618560"/>
                  <a:gd name="textAreaBottom" fmla="*/ 1619280 h 1618560"/>
                </a:gdLst>
                <a:ahLst/>
                <a:rect l="textAreaLeft" t="textAreaTop" r="textAreaRight" b="textAreaBottom"/>
                <a:pathLst>
                  <a:path w="1524000" h="1619250">
                    <a:moveTo>
                      <a:pt x="57150" y="0"/>
                    </a:moveTo>
                    <a:lnTo>
                      <a:pt x="1466850" y="0"/>
                    </a:lnTo>
                    <a:cubicBezTo>
                      <a:pt x="1498413" y="0"/>
                      <a:pt x="1524000" y="25587"/>
                      <a:pt x="1524000" y="57150"/>
                    </a:cubicBezTo>
                    <a:lnTo>
                      <a:pt x="1524000" y="1562100"/>
                    </a:lnTo>
                    <a:cubicBezTo>
                      <a:pt x="1524000" y="1593663"/>
                      <a:pt x="1498413" y="1619250"/>
                      <a:pt x="1466850" y="1619250"/>
                    </a:cubicBezTo>
                    <a:lnTo>
                      <a:pt x="57150" y="1619250"/>
                    </a:lnTo>
                    <a:cubicBezTo>
                      <a:pt x="25587" y="1619250"/>
                      <a:pt x="0" y="1593663"/>
                      <a:pt x="0" y="15621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11" name="TextBox 23"/>
              <p:cNvSpPr/>
              <p:nvPr/>
            </p:nvSpPr>
            <p:spPr>
              <a:xfrm>
                <a:off x="3087000" y="2997360"/>
                <a:ext cx="53100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Frozen</a:t>
                </a:r>
                <a:endParaRPr b="0" lang="en-IN" sz="1350" spc="-1" strike="noStrike">
                  <a:solidFill>
                    <a:srgbClr val="000000"/>
                  </a:solidFill>
                  <a:latin typeface="Arial"/>
                </a:endParaRPr>
              </a:p>
            </p:txBody>
          </p:sp>
          <p:sp>
            <p:nvSpPr>
              <p:cNvPr id="212" name="TextBox 24"/>
              <p:cNvSpPr/>
              <p:nvPr/>
            </p:nvSpPr>
            <p:spPr>
              <a:xfrm>
                <a:off x="3066120" y="3225960"/>
                <a:ext cx="57240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WavLM</a:t>
                </a:r>
                <a:endParaRPr b="0" lang="en-IN" sz="1350" spc="-1" strike="noStrike">
                  <a:solidFill>
                    <a:srgbClr val="000000"/>
                  </a:solidFill>
                  <a:latin typeface="Arial"/>
                </a:endParaRPr>
              </a:p>
            </p:txBody>
          </p:sp>
        </p:grpSp>
        <p:sp>
          <p:nvSpPr>
            <p:cNvPr id="213" name="Line 26"/>
            <p:cNvSpPr/>
            <p:nvPr/>
          </p:nvSpPr>
          <p:spPr>
            <a:xfrm>
              <a:off x="4133520" y="3247920"/>
              <a:ext cx="26676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14" name="Group 30"/>
            <p:cNvGrpSpPr/>
            <p:nvPr/>
          </p:nvGrpSpPr>
          <p:grpSpPr>
            <a:xfrm>
              <a:off x="4419720" y="2438280"/>
              <a:ext cx="1523160" cy="1618560"/>
              <a:chOff x="4419720" y="2438280"/>
              <a:chExt cx="1523160" cy="1618560"/>
            </a:xfrm>
          </p:grpSpPr>
          <p:sp>
            <p:nvSpPr>
              <p:cNvPr id="215" name="Freeform 27"/>
              <p:cNvSpPr/>
              <p:nvPr/>
            </p:nvSpPr>
            <p:spPr>
              <a:xfrm>
                <a:off x="4419720" y="2438280"/>
                <a:ext cx="1523160" cy="1618560"/>
              </a:xfrm>
              <a:custGeom>
                <a:avLst/>
                <a:gdLst>
                  <a:gd name="textAreaLeft" fmla="*/ 0 w 1523160"/>
                  <a:gd name="textAreaRight" fmla="*/ 1523880 w 1523160"/>
                  <a:gd name="textAreaTop" fmla="*/ 0 h 1618560"/>
                  <a:gd name="textAreaBottom" fmla="*/ 1619280 h 1618560"/>
                </a:gdLst>
                <a:ahLst/>
                <a:rect l="textAreaLeft" t="textAreaTop" r="textAreaRight" b="textAreaBottom"/>
                <a:pathLst>
                  <a:path w="1524000" h="1619250">
                    <a:moveTo>
                      <a:pt x="57150" y="0"/>
                    </a:moveTo>
                    <a:lnTo>
                      <a:pt x="1466850" y="0"/>
                    </a:lnTo>
                    <a:cubicBezTo>
                      <a:pt x="1498413" y="0"/>
                      <a:pt x="1524000" y="25587"/>
                      <a:pt x="1524000" y="57150"/>
                    </a:cubicBezTo>
                    <a:lnTo>
                      <a:pt x="1524000" y="1562100"/>
                    </a:lnTo>
                    <a:cubicBezTo>
                      <a:pt x="1524000" y="1593663"/>
                      <a:pt x="1498413" y="1619250"/>
                      <a:pt x="1466850" y="1619250"/>
                    </a:cubicBezTo>
                    <a:lnTo>
                      <a:pt x="57150" y="1619250"/>
                    </a:lnTo>
                    <a:cubicBezTo>
                      <a:pt x="25587" y="1619250"/>
                      <a:pt x="0" y="1593663"/>
                      <a:pt x="0" y="15621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16" name="TextBox 28"/>
              <p:cNvSpPr/>
              <p:nvPr/>
            </p:nvSpPr>
            <p:spPr>
              <a:xfrm>
                <a:off x="4967280" y="2997360"/>
                <a:ext cx="42732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Mean</a:t>
                </a:r>
                <a:endParaRPr b="0" lang="en-IN" sz="1350" spc="-1" strike="noStrike">
                  <a:solidFill>
                    <a:srgbClr val="000000"/>
                  </a:solidFill>
                  <a:latin typeface="Arial"/>
                </a:endParaRPr>
              </a:p>
            </p:txBody>
          </p:sp>
          <p:sp>
            <p:nvSpPr>
              <p:cNvPr id="217" name="TextBox 29"/>
              <p:cNvSpPr/>
              <p:nvPr/>
            </p:nvSpPr>
            <p:spPr>
              <a:xfrm>
                <a:off x="4896360" y="3225960"/>
                <a:ext cx="56916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Pooling</a:t>
                </a:r>
                <a:endParaRPr b="0" lang="en-IN" sz="1350" spc="-1" strike="noStrike">
                  <a:solidFill>
                    <a:srgbClr val="000000"/>
                  </a:solidFill>
                  <a:latin typeface="Arial"/>
                </a:endParaRPr>
              </a:p>
            </p:txBody>
          </p:sp>
        </p:grpSp>
        <p:sp>
          <p:nvSpPr>
            <p:cNvPr id="218" name="Line 31"/>
            <p:cNvSpPr/>
            <p:nvPr/>
          </p:nvSpPr>
          <p:spPr>
            <a:xfrm>
              <a:off x="5962320" y="3247920"/>
              <a:ext cx="26676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19" name="Group 35"/>
            <p:cNvGrpSpPr/>
            <p:nvPr/>
          </p:nvGrpSpPr>
          <p:grpSpPr>
            <a:xfrm>
              <a:off x="6248520" y="2438280"/>
              <a:ext cx="1523160" cy="1618560"/>
              <a:chOff x="6248520" y="2438280"/>
              <a:chExt cx="1523160" cy="1618560"/>
            </a:xfrm>
          </p:grpSpPr>
          <p:sp>
            <p:nvSpPr>
              <p:cNvPr id="220" name="Freeform 32"/>
              <p:cNvSpPr/>
              <p:nvPr/>
            </p:nvSpPr>
            <p:spPr>
              <a:xfrm>
                <a:off x="6248520" y="2438280"/>
                <a:ext cx="1523160" cy="1618560"/>
              </a:xfrm>
              <a:custGeom>
                <a:avLst/>
                <a:gdLst>
                  <a:gd name="textAreaLeft" fmla="*/ 0 w 1523160"/>
                  <a:gd name="textAreaRight" fmla="*/ 1523880 w 1523160"/>
                  <a:gd name="textAreaTop" fmla="*/ 0 h 1618560"/>
                  <a:gd name="textAreaBottom" fmla="*/ 1619280 h 1618560"/>
                </a:gdLst>
                <a:ahLst/>
                <a:rect l="textAreaLeft" t="textAreaTop" r="textAreaRight" b="textAreaBottom"/>
                <a:pathLst>
                  <a:path w="1524000" h="1619250">
                    <a:moveTo>
                      <a:pt x="57150" y="0"/>
                    </a:moveTo>
                    <a:lnTo>
                      <a:pt x="1466850" y="0"/>
                    </a:lnTo>
                    <a:cubicBezTo>
                      <a:pt x="1498413" y="0"/>
                      <a:pt x="1524000" y="25587"/>
                      <a:pt x="1524000" y="57150"/>
                    </a:cubicBezTo>
                    <a:lnTo>
                      <a:pt x="1524000" y="1562100"/>
                    </a:lnTo>
                    <a:cubicBezTo>
                      <a:pt x="1524000" y="1593663"/>
                      <a:pt x="1498413" y="1619250"/>
                      <a:pt x="1466850" y="1619250"/>
                    </a:cubicBezTo>
                    <a:lnTo>
                      <a:pt x="57150" y="1619250"/>
                    </a:lnTo>
                    <a:cubicBezTo>
                      <a:pt x="25587" y="1619250"/>
                      <a:pt x="0" y="1593663"/>
                      <a:pt x="0" y="15621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21" name="TextBox 33"/>
              <p:cNvSpPr/>
              <p:nvPr/>
            </p:nvSpPr>
            <p:spPr>
              <a:xfrm>
                <a:off x="6630120" y="2997360"/>
                <a:ext cx="75960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Projection</a:t>
                </a:r>
                <a:endParaRPr b="0" lang="en-IN" sz="1350" spc="-1" strike="noStrike">
                  <a:solidFill>
                    <a:srgbClr val="000000"/>
                  </a:solidFill>
                  <a:latin typeface="Arial"/>
                </a:endParaRPr>
              </a:p>
            </p:txBody>
          </p:sp>
          <p:sp>
            <p:nvSpPr>
              <p:cNvPr id="222" name="TextBox 34"/>
              <p:cNvSpPr/>
              <p:nvPr/>
            </p:nvSpPr>
            <p:spPr>
              <a:xfrm>
                <a:off x="6806160" y="3225960"/>
                <a:ext cx="40752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Head</a:t>
                </a:r>
                <a:endParaRPr b="0" lang="en-IN" sz="1350" spc="-1" strike="noStrike">
                  <a:solidFill>
                    <a:srgbClr val="000000"/>
                  </a:solidFill>
                  <a:latin typeface="Arial"/>
                </a:endParaRPr>
              </a:p>
            </p:txBody>
          </p:sp>
        </p:grpSp>
        <p:sp>
          <p:nvSpPr>
            <p:cNvPr id="223" name="Line 36"/>
            <p:cNvSpPr/>
            <p:nvPr/>
          </p:nvSpPr>
          <p:spPr>
            <a:xfrm>
              <a:off x="7791120" y="3247920"/>
              <a:ext cx="26676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24" name="Group 41"/>
            <p:cNvGrpSpPr/>
            <p:nvPr/>
          </p:nvGrpSpPr>
          <p:grpSpPr>
            <a:xfrm>
              <a:off x="8077320" y="2438280"/>
              <a:ext cx="1523160" cy="1618560"/>
              <a:chOff x="8077320" y="2438280"/>
              <a:chExt cx="1523160" cy="1618560"/>
            </a:xfrm>
          </p:grpSpPr>
          <p:sp>
            <p:nvSpPr>
              <p:cNvPr id="225" name="Freeform 37"/>
              <p:cNvSpPr/>
              <p:nvPr/>
            </p:nvSpPr>
            <p:spPr>
              <a:xfrm>
                <a:off x="8077320" y="2438280"/>
                <a:ext cx="1523160" cy="1618560"/>
              </a:xfrm>
              <a:custGeom>
                <a:avLst/>
                <a:gdLst>
                  <a:gd name="textAreaLeft" fmla="*/ 0 w 1523160"/>
                  <a:gd name="textAreaRight" fmla="*/ 1523880 w 1523160"/>
                  <a:gd name="textAreaTop" fmla="*/ 0 h 1618560"/>
                  <a:gd name="textAreaBottom" fmla="*/ 1619280 h 1618560"/>
                </a:gdLst>
                <a:ahLst/>
                <a:rect l="textAreaLeft" t="textAreaTop" r="textAreaRight" b="textAreaBottom"/>
                <a:pathLst>
                  <a:path w="1524000" h="1619250">
                    <a:moveTo>
                      <a:pt x="57150" y="0"/>
                    </a:moveTo>
                    <a:lnTo>
                      <a:pt x="1466850" y="0"/>
                    </a:lnTo>
                    <a:cubicBezTo>
                      <a:pt x="1498413" y="0"/>
                      <a:pt x="1524000" y="25587"/>
                      <a:pt x="1524000" y="57150"/>
                    </a:cubicBezTo>
                    <a:lnTo>
                      <a:pt x="1524000" y="1562100"/>
                    </a:lnTo>
                    <a:cubicBezTo>
                      <a:pt x="1524000" y="1593663"/>
                      <a:pt x="1498413" y="1619250"/>
                      <a:pt x="1466850" y="1619250"/>
                    </a:cubicBezTo>
                    <a:lnTo>
                      <a:pt x="57150" y="1619250"/>
                    </a:lnTo>
                    <a:cubicBezTo>
                      <a:pt x="25587" y="1619250"/>
                      <a:pt x="0" y="1593663"/>
                      <a:pt x="0" y="1562100"/>
                    </a:cubicBezTo>
                    <a:lnTo>
                      <a:pt x="0" y="57150"/>
                    </a:lnTo>
                    <a:cubicBezTo>
                      <a:pt x="0" y="25587"/>
                      <a:pt x="25587" y="0"/>
                      <a:pt x="57150" y="0"/>
                    </a:cubicBezTo>
                    <a:close/>
                  </a:path>
                </a:pathLst>
              </a:custGeom>
              <a:solidFill>
                <a:srgbClr val="151517"/>
              </a:solidFill>
              <a:ln w="19050">
                <a:solidFill>
                  <a:srgbClr val="4fd1c5"/>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26" name="TextBox 38"/>
              <p:cNvSpPr/>
              <p:nvPr/>
            </p:nvSpPr>
            <p:spPr>
              <a:xfrm>
                <a:off x="8489520" y="2880360"/>
                <a:ext cx="698760" cy="1828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00" spc="-1" strike="noStrike">
                    <a:solidFill>
                      <a:srgbClr val="f4f4f5"/>
                    </a:solidFill>
                    <a:latin typeface="Arial"/>
                    <a:ea typeface="Microsoft YaHei"/>
                  </a:rPr>
                  <a:t>Speaker +</a:t>
                </a:r>
                <a:endParaRPr b="0" lang="en-IN" sz="1200" spc="-1" strike="noStrike">
                  <a:solidFill>
                    <a:srgbClr val="000000"/>
                  </a:solidFill>
                  <a:latin typeface="Arial"/>
                </a:endParaRPr>
              </a:p>
            </p:txBody>
          </p:sp>
          <p:sp>
            <p:nvSpPr>
              <p:cNvPr id="227" name="TextBox 39"/>
              <p:cNvSpPr/>
              <p:nvPr/>
            </p:nvSpPr>
            <p:spPr>
              <a:xfrm>
                <a:off x="8353080" y="3108960"/>
                <a:ext cx="971640" cy="1828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00" spc="-1" strike="noStrike">
                    <a:solidFill>
                      <a:srgbClr val="f4f4f5"/>
                    </a:solidFill>
                    <a:latin typeface="Arial"/>
                    <a:ea typeface="Microsoft YaHei"/>
                  </a:rPr>
                  <a:t>Corpus-Aware</a:t>
                </a:r>
                <a:endParaRPr b="0" lang="en-IN" sz="1200" spc="-1" strike="noStrike">
                  <a:solidFill>
                    <a:srgbClr val="000000"/>
                  </a:solidFill>
                  <a:latin typeface="Arial"/>
                </a:endParaRPr>
              </a:p>
            </p:txBody>
          </p:sp>
          <p:sp>
            <p:nvSpPr>
              <p:cNvPr id="228" name="TextBox 40"/>
              <p:cNvSpPr/>
              <p:nvPr/>
            </p:nvSpPr>
            <p:spPr>
              <a:xfrm>
                <a:off x="8563320" y="3337560"/>
                <a:ext cx="550800" cy="18288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00" spc="-1" strike="noStrike">
                    <a:solidFill>
                      <a:srgbClr val="4fd1c5"/>
                    </a:solidFill>
                    <a:latin typeface="Arial"/>
                    <a:ea typeface="Microsoft YaHei"/>
                  </a:rPr>
                  <a:t>SupCon</a:t>
                </a:r>
                <a:endParaRPr b="0" lang="en-IN" sz="1200" spc="-1" strike="noStrike">
                  <a:solidFill>
                    <a:srgbClr val="000000"/>
                  </a:solidFill>
                  <a:latin typeface="Arial"/>
                </a:endParaRPr>
              </a:p>
            </p:txBody>
          </p:sp>
        </p:grpSp>
        <p:sp>
          <p:nvSpPr>
            <p:cNvPr id="229" name="Line 42"/>
            <p:cNvSpPr/>
            <p:nvPr/>
          </p:nvSpPr>
          <p:spPr>
            <a:xfrm>
              <a:off x="9619920" y="3247920"/>
              <a:ext cx="26676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30" name="Group 46"/>
            <p:cNvGrpSpPr/>
            <p:nvPr/>
          </p:nvGrpSpPr>
          <p:grpSpPr>
            <a:xfrm>
              <a:off x="9906120" y="2438280"/>
              <a:ext cx="1523160" cy="1618560"/>
              <a:chOff x="9906120" y="2438280"/>
              <a:chExt cx="1523160" cy="1618560"/>
            </a:xfrm>
          </p:grpSpPr>
          <p:sp>
            <p:nvSpPr>
              <p:cNvPr id="231" name="Freeform 43"/>
              <p:cNvSpPr/>
              <p:nvPr/>
            </p:nvSpPr>
            <p:spPr>
              <a:xfrm>
                <a:off x="9906120" y="2438280"/>
                <a:ext cx="1523160" cy="1618560"/>
              </a:xfrm>
              <a:custGeom>
                <a:avLst/>
                <a:gdLst>
                  <a:gd name="textAreaLeft" fmla="*/ 0 w 1523160"/>
                  <a:gd name="textAreaRight" fmla="*/ 1523880 w 1523160"/>
                  <a:gd name="textAreaTop" fmla="*/ 0 h 1618560"/>
                  <a:gd name="textAreaBottom" fmla="*/ 1619280 h 1618560"/>
                </a:gdLst>
                <a:ahLst/>
                <a:rect l="textAreaLeft" t="textAreaTop" r="textAreaRight" b="textAreaBottom"/>
                <a:pathLst>
                  <a:path w="1524000" h="1619250">
                    <a:moveTo>
                      <a:pt x="57150" y="0"/>
                    </a:moveTo>
                    <a:lnTo>
                      <a:pt x="1466850" y="0"/>
                    </a:lnTo>
                    <a:cubicBezTo>
                      <a:pt x="1498413" y="0"/>
                      <a:pt x="1524000" y="25587"/>
                      <a:pt x="1524000" y="57150"/>
                    </a:cubicBezTo>
                    <a:lnTo>
                      <a:pt x="1524000" y="1562100"/>
                    </a:lnTo>
                    <a:cubicBezTo>
                      <a:pt x="1524000" y="1593663"/>
                      <a:pt x="1498413" y="1619250"/>
                      <a:pt x="1466850" y="1619250"/>
                    </a:cubicBezTo>
                    <a:lnTo>
                      <a:pt x="57150" y="1619250"/>
                    </a:lnTo>
                    <a:cubicBezTo>
                      <a:pt x="25587" y="1619250"/>
                      <a:pt x="0" y="1593663"/>
                      <a:pt x="0" y="15621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32" name="TextBox 44"/>
              <p:cNvSpPr/>
              <p:nvPr/>
            </p:nvSpPr>
            <p:spPr>
              <a:xfrm>
                <a:off x="10354680" y="2997360"/>
                <a:ext cx="62568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Emotion</a:t>
                </a:r>
                <a:endParaRPr b="0" lang="en-IN" sz="1350" spc="-1" strike="noStrike">
                  <a:solidFill>
                    <a:srgbClr val="000000"/>
                  </a:solidFill>
                  <a:latin typeface="Arial"/>
                </a:endParaRPr>
              </a:p>
            </p:txBody>
          </p:sp>
          <p:sp>
            <p:nvSpPr>
              <p:cNvPr id="233" name="TextBox 45"/>
              <p:cNvSpPr/>
              <p:nvPr/>
            </p:nvSpPr>
            <p:spPr>
              <a:xfrm>
                <a:off x="10316880" y="3225960"/>
                <a:ext cx="70164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Classifier</a:t>
                </a:r>
                <a:endParaRPr b="0" lang="en-IN" sz="1350" spc="-1" strike="noStrike">
                  <a:solidFill>
                    <a:srgbClr val="000000"/>
                  </a:solidFill>
                  <a:latin typeface="Arial"/>
                </a:endParaRPr>
              </a:p>
            </p:txBody>
          </p:sp>
        </p:grpSp>
        <p:sp>
          <p:nvSpPr>
            <p:cNvPr id="234" name="Line 47"/>
            <p:cNvSpPr/>
            <p:nvPr/>
          </p:nvSpPr>
          <p:spPr>
            <a:xfrm>
              <a:off x="762120" y="430524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235" name="Group 51"/>
          <p:cNvGrpSpPr/>
          <p:nvPr/>
        </p:nvGrpSpPr>
        <p:grpSpPr>
          <a:xfrm>
            <a:off x="2699640" y="4846320"/>
            <a:ext cx="6791760" cy="765720"/>
            <a:chOff x="2699640" y="4846320"/>
            <a:chExt cx="6791760" cy="765720"/>
          </a:xfrm>
        </p:grpSpPr>
        <p:sp>
          <p:nvSpPr>
            <p:cNvPr id="236" name="TextBox 49"/>
            <p:cNvSpPr/>
            <p:nvPr/>
          </p:nvSpPr>
          <p:spPr>
            <a:xfrm>
              <a:off x="2699640" y="4846320"/>
              <a:ext cx="6791760" cy="365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2400" spc="-1" strike="noStrike">
                  <a:solidFill>
                    <a:srgbClr val="4fd1c5"/>
                  </a:solidFill>
                  <a:latin typeface="Arial"/>
                  <a:ea typeface="Microsoft YaHei"/>
                </a:rPr>
                <a:t>Learn emotion features while actively reducing</a:t>
              </a:r>
              <a:endParaRPr b="0" lang="en-IN" sz="2400" spc="-1" strike="noStrike">
                <a:solidFill>
                  <a:srgbClr val="000000"/>
                </a:solidFill>
                <a:latin typeface="Arial"/>
              </a:endParaRPr>
            </a:p>
          </p:txBody>
        </p:sp>
        <p:sp>
          <p:nvSpPr>
            <p:cNvPr id="237" name="TextBox 50"/>
            <p:cNvSpPr/>
            <p:nvPr/>
          </p:nvSpPr>
          <p:spPr>
            <a:xfrm>
              <a:off x="3351240" y="5246280"/>
              <a:ext cx="5488560" cy="365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2400" spc="-1" strike="noStrike">
                  <a:solidFill>
                    <a:srgbClr val="4fd1c5"/>
                  </a:solidFill>
                  <a:latin typeface="Arial"/>
                  <a:ea typeface="Microsoft YaHei"/>
                </a:rPr>
                <a:t>speaker and corpus-specific patterns.</a:t>
              </a:r>
              <a:endParaRPr b="0" lang="en-IN" sz="2400" spc="-1" strike="noStrike">
                <a:solidFill>
                  <a:srgbClr val="000000"/>
                </a:solidFill>
                <a:latin typeface="Arial"/>
              </a:endParaRPr>
            </a:p>
          </p:txBody>
        </p:sp>
      </p:grpSp>
      <p:grpSp>
        <p:nvGrpSpPr>
          <p:cNvPr id="238" name="Group 54"/>
          <p:cNvGrpSpPr/>
          <p:nvPr/>
        </p:nvGrpSpPr>
        <p:grpSpPr>
          <a:xfrm>
            <a:off x="750240" y="6467040"/>
            <a:ext cx="10675440" cy="149040"/>
            <a:chOff x="750240" y="6467040"/>
            <a:chExt cx="10675440" cy="149040"/>
          </a:xfrm>
        </p:grpSpPr>
        <p:sp>
          <p:nvSpPr>
            <p:cNvPr id="239" name="TextBox 52"/>
            <p:cNvSpPr/>
            <p:nvPr/>
          </p:nvSpPr>
          <p:spPr>
            <a:xfrm>
              <a:off x="750240" y="6467040"/>
              <a:ext cx="2023200" cy="148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endParaRPr b="0" lang="en-IN" sz="1800" spc="-1" strike="noStrike">
                <a:solidFill>
                  <a:srgbClr val="000000"/>
                </a:solidFill>
                <a:latin typeface="Arial"/>
              </a:endParaRPr>
            </a:p>
          </p:txBody>
        </p:sp>
        <p:sp>
          <p:nvSpPr>
            <p:cNvPr id="240" name="TextBox 53"/>
            <p:cNvSpPr/>
            <p:nvPr/>
          </p:nvSpPr>
          <p:spPr>
            <a:xfrm>
              <a:off x="11276640" y="6467040"/>
              <a:ext cx="149040" cy="14904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980" spc="-1" strike="noStrike">
                  <a:solidFill>
                    <a:srgbClr val="5a5a62"/>
                  </a:solidFill>
                  <a:latin typeface="Consolas"/>
                  <a:ea typeface="Microsoft YaHei"/>
                </a:rPr>
                <a:t>04</a:t>
              </a:r>
              <a:endParaRPr b="0" lang="en-IN" sz="980" spc="-1" strike="noStrike">
                <a:solidFill>
                  <a:srgbClr val="000000"/>
                </a:solidFill>
                <a:latin typeface="Arial"/>
              </a:endParaRPr>
            </a:p>
          </p:txBody>
        </p:sp>
      </p:gr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Rectangle 2"/>
          <p:cNvSpPr/>
          <p:nvPr/>
        </p:nvSpPr>
        <p:spPr>
          <a:xfrm>
            <a:off x="0" y="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242" name="Group 8"/>
          <p:cNvGrpSpPr/>
          <p:nvPr/>
        </p:nvGrpSpPr>
        <p:grpSpPr>
          <a:xfrm>
            <a:off x="762120" y="556200"/>
            <a:ext cx="10667160" cy="881280"/>
            <a:chOff x="762120" y="556200"/>
            <a:chExt cx="10667160" cy="881280"/>
          </a:xfrm>
        </p:grpSpPr>
        <p:sp>
          <p:nvSpPr>
            <p:cNvPr id="243" name="Rectangle 3"/>
            <p:cNvSpPr/>
            <p:nvPr/>
          </p:nvSpPr>
          <p:spPr>
            <a:xfrm>
              <a:off x="762120" y="609480"/>
              <a:ext cx="380160" cy="18360"/>
            </a:xfrm>
            <a:prstGeom prst="rect">
              <a:avLst/>
            </a:prstGeom>
            <a:solidFill>
              <a:srgbClr val="4fd1c5"/>
            </a:solidFill>
            <a:ln w="0">
              <a:noFill/>
            </a:ln>
          </p:spPr>
          <p:style>
            <a:lnRef idx="0"/>
            <a:fillRef idx="0"/>
            <a:effectRef idx="0"/>
            <a:fontRef idx="minor"/>
          </p:style>
          <p:txBody>
            <a:bodyPr lIns="90000" rIns="90000" tIns="-25920" bIns="-25920" anchor="t">
              <a:noAutofit/>
            </a:bodyPr>
            <a:p>
              <a:pPr>
                <a:lnSpc>
                  <a:spcPct val="100000"/>
                </a:lnSpc>
              </a:pPr>
              <a:endParaRPr b="0" lang="en-IN" sz="1800" spc="-1" strike="noStrike">
                <a:solidFill>
                  <a:srgbClr val="000000"/>
                </a:solidFill>
                <a:latin typeface="Arial"/>
              </a:endParaRPr>
            </a:p>
          </p:txBody>
        </p:sp>
        <p:sp>
          <p:nvSpPr>
            <p:cNvPr id="244" name="TextBox 4"/>
            <p:cNvSpPr/>
            <p:nvPr/>
          </p:nvSpPr>
          <p:spPr>
            <a:xfrm>
              <a:off x="1253520" y="556200"/>
              <a:ext cx="119304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THE BACKBONE</a:t>
              </a:r>
              <a:endParaRPr b="0" lang="en-IN" sz="1200" spc="-1" strike="noStrike">
                <a:solidFill>
                  <a:srgbClr val="000000"/>
                </a:solidFill>
                <a:latin typeface="Arial"/>
              </a:endParaRPr>
            </a:p>
          </p:txBody>
        </p:sp>
        <p:sp>
          <p:nvSpPr>
            <p:cNvPr id="245" name="TextBox 5"/>
            <p:cNvSpPr/>
            <p:nvPr/>
          </p:nvSpPr>
          <p:spPr>
            <a:xfrm>
              <a:off x="9929160" y="556200"/>
              <a:ext cx="1415160" cy="1828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200" spc="-1" strike="noStrike">
                  <a:solidFill>
                    <a:srgbClr val="8a8a93"/>
                  </a:solidFill>
                  <a:latin typeface="Arial"/>
                  <a:ea typeface="Microsoft YaHei"/>
                </a:rPr>
                <a:t>Domain-Robust SER</a:t>
              </a:r>
              <a:endParaRPr b="0" lang="en-IN" sz="1200" spc="-1" strike="noStrike">
                <a:solidFill>
                  <a:srgbClr val="000000"/>
                </a:solidFill>
                <a:latin typeface="Arial"/>
              </a:endParaRPr>
            </a:p>
          </p:txBody>
        </p:sp>
        <p:sp>
          <p:nvSpPr>
            <p:cNvPr id="246" name="TextBox 6"/>
            <p:cNvSpPr/>
            <p:nvPr/>
          </p:nvSpPr>
          <p:spPr>
            <a:xfrm>
              <a:off x="1278000" y="876240"/>
              <a:ext cx="5637960" cy="4572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000" spc="-1" strike="noStrike">
                  <a:solidFill>
                    <a:srgbClr val="f4f4f5"/>
                  </a:solidFill>
                  <a:latin typeface="Arial"/>
                  <a:ea typeface="Microsoft YaHei"/>
                </a:rPr>
                <a:t>WavLM: The Feature Backbone</a:t>
              </a:r>
              <a:endParaRPr b="0" lang="en-IN" sz="3000" spc="-1" strike="noStrike">
                <a:solidFill>
                  <a:srgbClr val="000000"/>
                </a:solidFill>
                <a:latin typeface="Arial"/>
              </a:endParaRPr>
            </a:p>
          </p:txBody>
        </p:sp>
        <p:sp>
          <p:nvSpPr>
            <p:cNvPr id="247" name="Line 7"/>
            <p:cNvSpPr/>
            <p:nvPr/>
          </p:nvSpPr>
          <p:spPr>
            <a:xfrm>
              <a:off x="762120" y="142884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248" name="Group 33"/>
          <p:cNvGrpSpPr/>
          <p:nvPr/>
        </p:nvGrpSpPr>
        <p:grpSpPr>
          <a:xfrm>
            <a:off x="740880" y="1650240"/>
            <a:ext cx="10688400" cy="1283040"/>
            <a:chOff x="740880" y="1650240"/>
            <a:chExt cx="10688400" cy="1283040"/>
          </a:xfrm>
        </p:grpSpPr>
        <p:sp>
          <p:nvSpPr>
            <p:cNvPr id="249" name="TextBox 9"/>
            <p:cNvSpPr/>
            <p:nvPr/>
          </p:nvSpPr>
          <p:spPr>
            <a:xfrm>
              <a:off x="740880" y="1650240"/>
              <a:ext cx="161964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FEATURE EXTRACTION</a:t>
              </a:r>
              <a:endParaRPr b="0" lang="en-IN" sz="1130" spc="-1" strike="noStrike">
                <a:solidFill>
                  <a:srgbClr val="000000"/>
                </a:solidFill>
                <a:latin typeface="Arial"/>
              </a:endParaRPr>
            </a:p>
          </p:txBody>
        </p:sp>
        <p:grpSp>
          <p:nvGrpSpPr>
            <p:cNvPr id="250" name="Group 13"/>
            <p:cNvGrpSpPr/>
            <p:nvPr/>
          </p:nvGrpSpPr>
          <p:grpSpPr>
            <a:xfrm>
              <a:off x="762120" y="1943280"/>
              <a:ext cx="1828080" cy="990000"/>
              <a:chOff x="762120" y="1943280"/>
              <a:chExt cx="1828080" cy="990000"/>
            </a:xfrm>
          </p:grpSpPr>
          <p:sp>
            <p:nvSpPr>
              <p:cNvPr id="251" name="Freeform 10"/>
              <p:cNvSpPr/>
              <p:nvPr/>
            </p:nvSpPr>
            <p:spPr>
              <a:xfrm>
                <a:off x="762120" y="1943280"/>
                <a:ext cx="1828080" cy="990000"/>
              </a:xfrm>
              <a:custGeom>
                <a:avLst/>
                <a:gdLst>
                  <a:gd name="textAreaLeft" fmla="*/ 0 w 1828080"/>
                  <a:gd name="textAreaRight" fmla="*/ 1828800 w 1828080"/>
                  <a:gd name="textAreaTop" fmla="*/ 0 h 990000"/>
                  <a:gd name="textAreaBottom" fmla="*/ 990720 h 990000"/>
                </a:gdLst>
                <a:ahLst/>
                <a:rect l="textAreaLeft" t="textAreaTop" r="textAreaRight" b="textAreaBottom"/>
                <a:pathLst>
                  <a:path w="1828800" h="990600">
                    <a:moveTo>
                      <a:pt x="57150" y="0"/>
                    </a:moveTo>
                    <a:lnTo>
                      <a:pt x="1771650" y="0"/>
                    </a:lnTo>
                    <a:cubicBezTo>
                      <a:pt x="1803213" y="0"/>
                      <a:pt x="1828800" y="25587"/>
                      <a:pt x="1828800" y="57150"/>
                    </a:cubicBezTo>
                    <a:lnTo>
                      <a:pt x="1828800" y="933450"/>
                    </a:lnTo>
                    <a:cubicBezTo>
                      <a:pt x="1828800" y="965013"/>
                      <a:pt x="1803213" y="990600"/>
                      <a:pt x="1771650" y="990600"/>
                    </a:cubicBezTo>
                    <a:lnTo>
                      <a:pt x="57150" y="990600"/>
                    </a:lnTo>
                    <a:cubicBezTo>
                      <a:pt x="25587" y="990600"/>
                      <a:pt x="0" y="965013"/>
                      <a:pt x="0" y="9334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52" name="TextBox 11"/>
              <p:cNvSpPr/>
              <p:nvPr/>
            </p:nvSpPr>
            <p:spPr>
              <a:xfrm>
                <a:off x="1368720" y="2235600"/>
                <a:ext cx="61524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Consolas"/>
                    <a:ea typeface="Microsoft YaHei"/>
                  </a:rPr>
                  <a:t>16 kHz</a:t>
                </a:r>
                <a:endParaRPr b="0" lang="en-IN" sz="1350" spc="-1" strike="noStrike">
                  <a:solidFill>
                    <a:srgbClr val="000000"/>
                  </a:solidFill>
                  <a:latin typeface="Arial"/>
                </a:endParaRPr>
              </a:p>
            </p:txBody>
          </p:sp>
          <p:sp>
            <p:nvSpPr>
              <p:cNvPr id="253" name="TextBox 12"/>
              <p:cNvSpPr/>
              <p:nvPr/>
            </p:nvSpPr>
            <p:spPr>
              <a:xfrm>
                <a:off x="1457280" y="2502360"/>
                <a:ext cx="43668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Audio</a:t>
                </a:r>
                <a:endParaRPr b="0" lang="en-IN" sz="1350" spc="-1" strike="noStrike">
                  <a:solidFill>
                    <a:srgbClr val="000000"/>
                  </a:solidFill>
                  <a:latin typeface="Arial"/>
                </a:endParaRPr>
              </a:p>
            </p:txBody>
          </p:sp>
        </p:grpSp>
        <p:sp>
          <p:nvSpPr>
            <p:cNvPr id="254" name="Line 14"/>
            <p:cNvSpPr/>
            <p:nvPr/>
          </p:nvSpPr>
          <p:spPr>
            <a:xfrm>
              <a:off x="2628720" y="2438280"/>
              <a:ext cx="28584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55" name="Group 17"/>
            <p:cNvGrpSpPr/>
            <p:nvPr/>
          </p:nvGrpSpPr>
          <p:grpSpPr>
            <a:xfrm>
              <a:off x="2971800" y="1943280"/>
              <a:ext cx="1828080" cy="990000"/>
              <a:chOff x="2971800" y="1943280"/>
              <a:chExt cx="1828080" cy="990000"/>
            </a:xfrm>
          </p:grpSpPr>
          <p:sp>
            <p:nvSpPr>
              <p:cNvPr id="256" name="Freeform 15"/>
              <p:cNvSpPr/>
              <p:nvPr/>
            </p:nvSpPr>
            <p:spPr>
              <a:xfrm>
                <a:off x="2971800" y="1943280"/>
                <a:ext cx="1828080" cy="990000"/>
              </a:xfrm>
              <a:custGeom>
                <a:avLst/>
                <a:gdLst>
                  <a:gd name="textAreaLeft" fmla="*/ 0 w 1828080"/>
                  <a:gd name="textAreaRight" fmla="*/ 1828800 w 1828080"/>
                  <a:gd name="textAreaTop" fmla="*/ 0 h 990000"/>
                  <a:gd name="textAreaBottom" fmla="*/ 990720 h 990000"/>
                </a:gdLst>
                <a:ahLst/>
                <a:rect l="textAreaLeft" t="textAreaTop" r="textAreaRight" b="textAreaBottom"/>
                <a:pathLst>
                  <a:path w="1828800" h="990600">
                    <a:moveTo>
                      <a:pt x="57150" y="0"/>
                    </a:moveTo>
                    <a:lnTo>
                      <a:pt x="1771650" y="0"/>
                    </a:lnTo>
                    <a:cubicBezTo>
                      <a:pt x="1803213" y="0"/>
                      <a:pt x="1828800" y="25587"/>
                      <a:pt x="1828800" y="57150"/>
                    </a:cubicBezTo>
                    <a:lnTo>
                      <a:pt x="1828800" y="933450"/>
                    </a:lnTo>
                    <a:cubicBezTo>
                      <a:pt x="1828800" y="965013"/>
                      <a:pt x="1803213" y="990600"/>
                      <a:pt x="1771650" y="990600"/>
                    </a:cubicBezTo>
                    <a:lnTo>
                      <a:pt x="57150" y="990600"/>
                    </a:lnTo>
                    <a:cubicBezTo>
                      <a:pt x="25587" y="990600"/>
                      <a:pt x="0" y="965013"/>
                      <a:pt x="0" y="9334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57" name="TextBox 16"/>
              <p:cNvSpPr/>
              <p:nvPr/>
            </p:nvSpPr>
            <p:spPr>
              <a:xfrm>
                <a:off x="3556440" y="2343240"/>
                <a:ext cx="659160" cy="22860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1500" spc="-1" strike="noStrike">
                    <a:solidFill>
                      <a:srgbClr val="f4f4f5"/>
                    </a:solidFill>
                    <a:latin typeface="Arial"/>
                    <a:ea typeface="Microsoft YaHei"/>
                  </a:rPr>
                  <a:t>WavLM</a:t>
                </a:r>
                <a:endParaRPr b="0" lang="en-IN" sz="1500" spc="-1" strike="noStrike">
                  <a:solidFill>
                    <a:srgbClr val="000000"/>
                  </a:solidFill>
                  <a:latin typeface="Arial"/>
                </a:endParaRPr>
              </a:p>
            </p:txBody>
          </p:sp>
        </p:grpSp>
        <p:sp>
          <p:nvSpPr>
            <p:cNvPr id="258" name="Line 18"/>
            <p:cNvSpPr/>
            <p:nvPr/>
          </p:nvSpPr>
          <p:spPr>
            <a:xfrm>
              <a:off x="4838400" y="2438280"/>
              <a:ext cx="28584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59" name="Group 22"/>
            <p:cNvGrpSpPr/>
            <p:nvPr/>
          </p:nvGrpSpPr>
          <p:grpSpPr>
            <a:xfrm>
              <a:off x="5181480" y="1943280"/>
              <a:ext cx="1828080" cy="990000"/>
              <a:chOff x="5181480" y="1943280"/>
              <a:chExt cx="1828080" cy="990000"/>
            </a:xfrm>
          </p:grpSpPr>
          <p:sp>
            <p:nvSpPr>
              <p:cNvPr id="260" name="Freeform 19"/>
              <p:cNvSpPr/>
              <p:nvPr/>
            </p:nvSpPr>
            <p:spPr>
              <a:xfrm>
                <a:off x="5181480" y="1943280"/>
                <a:ext cx="1828080" cy="990000"/>
              </a:xfrm>
              <a:custGeom>
                <a:avLst/>
                <a:gdLst>
                  <a:gd name="textAreaLeft" fmla="*/ 0 w 1828080"/>
                  <a:gd name="textAreaRight" fmla="*/ 1828800 w 1828080"/>
                  <a:gd name="textAreaTop" fmla="*/ 0 h 990000"/>
                  <a:gd name="textAreaBottom" fmla="*/ 990720 h 990000"/>
                </a:gdLst>
                <a:ahLst/>
                <a:rect l="textAreaLeft" t="textAreaTop" r="textAreaRight" b="textAreaBottom"/>
                <a:pathLst>
                  <a:path w="1828800" h="990600">
                    <a:moveTo>
                      <a:pt x="57150" y="0"/>
                    </a:moveTo>
                    <a:lnTo>
                      <a:pt x="1771650" y="0"/>
                    </a:lnTo>
                    <a:cubicBezTo>
                      <a:pt x="1803213" y="0"/>
                      <a:pt x="1828800" y="25587"/>
                      <a:pt x="1828800" y="57150"/>
                    </a:cubicBezTo>
                    <a:lnTo>
                      <a:pt x="1828800" y="933450"/>
                    </a:lnTo>
                    <a:cubicBezTo>
                      <a:pt x="1828800" y="965013"/>
                      <a:pt x="1803213" y="990600"/>
                      <a:pt x="1771650" y="990600"/>
                    </a:cubicBezTo>
                    <a:lnTo>
                      <a:pt x="57150" y="990600"/>
                    </a:lnTo>
                    <a:cubicBezTo>
                      <a:pt x="25587" y="990600"/>
                      <a:pt x="0" y="965013"/>
                      <a:pt x="0" y="9334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61" name="TextBox 20"/>
              <p:cNvSpPr/>
              <p:nvPr/>
            </p:nvSpPr>
            <p:spPr>
              <a:xfrm>
                <a:off x="5849280" y="2235600"/>
                <a:ext cx="49284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Frame</a:t>
                </a:r>
                <a:endParaRPr b="0" lang="en-IN" sz="1350" spc="-1" strike="noStrike">
                  <a:solidFill>
                    <a:srgbClr val="000000"/>
                  </a:solidFill>
                  <a:latin typeface="Arial"/>
                </a:endParaRPr>
              </a:p>
            </p:txBody>
          </p:sp>
          <p:sp>
            <p:nvSpPr>
              <p:cNvPr id="262" name="TextBox 21"/>
              <p:cNvSpPr/>
              <p:nvPr/>
            </p:nvSpPr>
            <p:spPr>
              <a:xfrm>
                <a:off x="5474160" y="2502360"/>
                <a:ext cx="124272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Representations</a:t>
                </a:r>
                <a:endParaRPr b="0" lang="en-IN" sz="1350" spc="-1" strike="noStrike">
                  <a:solidFill>
                    <a:srgbClr val="000000"/>
                  </a:solidFill>
                  <a:latin typeface="Arial"/>
                </a:endParaRPr>
              </a:p>
            </p:txBody>
          </p:sp>
        </p:grpSp>
        <p:sp>
          <p:nvSpPr>
            <p:cNvPr id="263" name="Line 23"/>
            <p:cNvSpPr/>
            <p:nvPr/>
          </p:nvSpPr>
          <p:spPr>
            <a:xfrm>
              <a:off x="7048440" y="2438280"/>
              <a:ext cx="28548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64" name="Group 27"/>
            <p:cNvGrpSpPr/>
            <p:nvPr/>
          </p:nvGrpSpPr>
          <p:grpSpPr>
            <a:xfrm>
              <a:off x="7391520" y="1943280"/>
              <a:ext cx="1828080" cy="990000"/>
              <a:chOff x="7391520" y="1943280"/>
              <a:chExt cx="1828080" cy="990000"/>
            </a:xfrm>
          </p:grpSpPr>
          <p:sp>
            <p:nvSpPr>
              <p:cNvPr id="265" name="Freeform 24"/>
              <p:cNvSpPr/>
              <p:nvPr/>
            </p:nvSpPr>
            <p:spPr>
              <a:xfrm>
                <a:off x="7391520" y="1943280"/>
                <a:ext cx="1828080" cy="990000"/>
              </a:xfrm>
              <a:custGeom>
                <a:avLst/>
                <a:gdLst>
                  <a:gd name="textAreaLeft" fmla="*/ 0 w 1828080"/>
                  <a:gd name="textAreaRight" fmla="*/ 1828800 w 1828080"/>
                  <a:gd name="textAreaTop" fmla="*/ 0 h 990000"/>
                  <a:gd name="textAreaBottom" fmla="*/ 990720 h 990000"/>
                </a:gdLst>
                <a:ahLst/>
                <a:rect l="textAreaLeft" t="textAreaTop" r="textAreaRight" b="textAreaBottom"/>
                <a:pathLst>
                  <a:path w="1828800" h="990600">
                    <a:moveTo>
                      <a:pt x="57150" y="0"/>
                    </a:moveTo>
                    <a:lnTo>
                      <a:pt x="1771650" y="0"/>
                    </a:lnTo>
                    <a:cubicBezTo>
                      <a:pt x="1803213" y="0"/>
                      <a:pt x="1828800" y="25587"/>
                      <a:pt x="1828800" y="57150"/>
                    </a:cubicBezTo>
                    <a:lnTo>
                      <a:pt x="1828800" y="933450"/>
                    </a:lnTo>
                    <a:cubicBezTo>
                      <a:pt x="1828800" y="965013"/>
                      <a:pt x="1803213" y="990600"/>
                      <a:pt x="1771650" y="990600"/>
                    </a:cubicBezTo>
                    <a:lnTo>
                      <a:pt x="57150" y="990600"/>
                    </a:lnTo>
                    <a:cubicBezTo>
                      <a:pt x="25587" y="990600"/>
                      <a:pt x="0" y="965013"/>
                      <a:pt x="0" y="9334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66" name="TextBox 25"/>
              <p:cNvSpPr/>
              <p:nvPr/>
            </p:nvSpPr>
            <p:spPr>
              <a:xfrm>
                <a:off x="8091720" y="2235600"/>
                <a:ext cx="42732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Mean</a:t>
                </a:r>
                <a:endParaRPr b="0" lang="en-IN" sz="1350" spc="-1" strike="noStrike">
                  <a:solidFill>
                    <a:srgbClr val="000000"/>
                  </a:solidFill>
                  <a:latin typeface="Arial"/>
                </a:endParaRPr>
              </a:p>
            </p:txBody>
          </p:sp>
          <p:sp>
            <p:nvSpPr>
              <p:cNvPr id="267" name="TextBox 26"/>
              <p:cNvSpPr/>
              <p:nvPr/>
            </p:nvSpPr>
            <p:spPr>
              <a:xfrm>
                <a:off x="8020800" y="2502360"/>
                <a:ext cx="56916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Pooling</a:t>
                </a:r>
                <a:endParaRPr b="0" lang="en-IN" sz="1350" spc="-1" strike="noStrike">
                  <a:solidFill>
                    <a:srgbClr val="000000"/>
                  </a:solidFill>
                  <a:latin typeface="Arial"/>
                </a:endParaRPr>
              </a:p>
            </p:txBody>
          </p:sp>
        </p:grpSp>
        <p:sp>
          <p:nvSpPr>
            <p:cNvPr id="268" name="Line 28"/>
            <p:cNvSpPr/>
            <p:nvPr/>
          </p:nvSpPr>
          <p:spPr>
            <a:xfrm>
              <a:off x="9258120" y="2438280"/>
              <a:ext cx="28584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269" name="Group 32"/>
            <p:cNvGrpSpPr/>
            <p:nvPr/>
          </p:nvGrpSpPr>
          <p:grpSpPr>
            <a:xfrm>
              <a:off x="9601200" y="1943280"/>
              <a:ext cx="1828080" cy="990000"/>
              <a:chOff x="9601200" y="1943280"/>
              <a:chExt cx="1828080" cy="990000"/>
            </a:xfrm>
          </p:grpSpPr>
          <p:sp>
            <p:nvSpPr>
              <p:cNvPr id="270" name="Freeform 29"/>
              <p:cNvSpPr/>
              <p:nvPr/>
            </p:nvSpPr>
            <p:spPr>
              <a:xfrm>
                <a:off x="9601200" y="1943280"/>
                <a:ext cx="1828080" cy="990000"/>
              </a:xfrm>
              <a:custGeom>
                <a:avLst/>
                <a:gdLst>
                  <a:gd name="textAreaLeft" fmla="*/ 0 w 1828080"/>
                  <a:gd name="textAreaRight" fmla="*/ 1828800 w 1828080"/>
                  <a:gd name="textAreaTop" fmla="*/ 0 h 990000"/>
                  <a:gd name="textAreaBottom" fmla="*/ 990720 h 990000"/>
                </a:gdLst>
                <a:ahLst/>
                <a:rect l="textAreaLeft" t="textAreaTop" r="textAreaRight" b="textAreaBottom"/>
                <a:pathLst>
                  <a:path w="1828800" h="990600">
                    <a:moveTo>
                      <a:pt x="57150" y="0"/>
                    </a:moveTo>
                    <a:lnTo>
                      <a:pt x="1771650" y="0"/>
                    </a:lnTo>
                    <a:cubicBezTo>
                      <a:pt x="1803213" y="0"/>
                      <a:pt x="1828800" y="25587"/>
                      <a:pt x="1828800" y="57150"/>
                    </a:cubicBezTo>
                    <a:lnTo>
                      <a:pt x="1828800" y="933450"/>
                    </a:lnTo>
                    <a:cubicBezTo>
                      <a:pt x="1828800" y="965013"/>
                      <a:pt x="1803213" y="990600"/>
                      <a:pt x="1771650" y="990600"/>
                    </a:cubicBezTo>
                    <a:lnTo>
                      <a:pt x="57150" y="990600"/>
                    </a:lnTo>
                    <a:cubicBezTo>
                      <a:pt x="25587" y="990600"/>
                      <a:pt x="0" y="965013"/>
                      <a:pt x="0" y="933450"/>
                    </a:cubicBezTo>
                    <a:lnTo>
                      <a:pt x="0" y="57150"/>
                    </a:lnTo>
                    <a:cubicBezTo>
                      <a:pt x="0" y="25587"/>
                      <a:pt x="25587" y="0"/>
                      <a:pt x="57150" y="0"/>
                    </a:cubicBezTo>
                    <a:close/>
                  </a:path>
                </a:pathLst>
              </a:custGeom>
              <a:solidFill>
                <a:srgbClr val="151517"/>
              </a:solidFill>
              <a:ln w="19050">
                <a:solidFill>
                  <a:srgbClr val="4fd1c5"/>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271" name="TextBox 30"/>
              <p:cNvSpPr/>
              <p:nvPr/>
            </p:nvSpPr>
            <p:spPr>
              <a:xfrm>
                <a:off x="10257840" y="2235600"/>
                <a:ext cx="51444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4fd1c5"/>
                    </a:solidFill>
                    <a:latin typeface="Consolas"/>
                    <a:ea typeface="Microsoft YaHei"/>
                  </a:rPr>
                  <a:t>768-D</a:t>
                </a:r>
                <a:endParaRPr b="0" lang="en-IN" sz="1350" spc="-1" strike="noStrike">
                  <a:solidFill>
                    <a:srgbClr val="000000"/>
                  </a:solidFill>
                  <a:latin typeface="Arial"/>
                </a:endParaRPr>
              </a:p>
            </p:txBody>
          </p:sp>
          <p:sp>
            <p:nvSpPr>
              <p:cNvPr id="272" name="TextBox 31"/>
              <p:cNvSpPr/>
              <p:nvPr/>
            </p:nvSpPr>
            <p:spPr>
              <a:xfrm>
                <a:off x="10083600" y="2502360"/>
                <a:ext cx="86328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Embedding</a:t>
                </a:r>
                <a:endParaRPr b="0" lang="en-IN" sz="1350" spc="-1" strike="noStrike">
                  <a:solidFill>
                    <a:srgbClr val="000000"/>
                  </a:solidFill>
                  <a:latin typeface="Arial"/>
                </a:endParaRPr>
              </a:p>
            </p:txBody>
          </p:sp>
        </p:grpSp>
      </p:grpSp>
      <p:sp>
        <p:nvSpPr>
          <p:cNvPr id="273" name="Line 34"/>
          <p:cNvSpPr/>
          <p:nvPr/>
        </p:nvSpPr>
        <p:spPr>
          <a:xfrm>
            <a:off x="762120" y="333360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274" name="Group 49"/>
          <p:cNvGrpSpPr/>
          <p:nvPr/>
        </p:nvGrpSpPr>
        <p:grpSpPr>
          <a:xfrm>
            <a:off x="-12960" y="3612240"/>
            <a:ext cx="6108480" cy="2168640"/>
            <a:chOff x="-12960" y="3612240"/>
            <a:chExt cx="6108480" cy="2168640"/>
          </a:xfrm>
        </p:grpSpPr>
        <p:sp>
          <p:nvSpPr>
            <p:cNvPr id="275" name="TextBox 35"/>
            <p:cNvSpPr/>
            <p:nvPr/>
          </p:nvSpPr>
          <p:spPr>
            <a:xfrm>
              <a:off x="717120" y="3612240"/>
              <a:ext cx="95976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WHY WAVLM?</a:t>
              </a:r>
              <a:endParaRPr b="0" lang="en-IN" sz="1130" spc="-1" strike="noStrike">
                <a:solidFill>
                  <a:srgbClr val="000000"/>
                </a:solidFill>
                <a:latin typeface="Arial"/>
              </a:endParaRPr>
            </a:p>
          </p:txBody>
        </p:sp>
        <p:grpSp>
          <p:nvGrpSpPr>
            <p:cNvPr id="276" name="Group 38"/>
            <p:cNvGrpSpPr/>
            <p:nvPr/>
          </p:nvGrpSpPr>
          <p:grpSpPr>
            <a:xfrm>
              <a:off x="762120" y="3895560"/>
              <a:ext cx="4522320" cy="228600"/>
              <a:chOff x="762120" y="3895560"/>
              <a:chExt cx="4522320" cy="228600"/>
            </a:xfrm>
          </p:grpSpPr>
          <p:sp>
            <p:nvSpPr>
              <p:cNvPr id="277" name="Rectangle 36"/>
              <p:cNvSpPr/>
              <p:nvPr/>
            </p:nvSpPr>
            <p:spPr>
              <a:xfrm>
                <a:off x="762120" y="4000680"/>
                <a:ext cx="37440" cy="37440"/>
              </a:xfrm>
              <a:prstGeom prst="rect">
                <a:avLst/>
              </a:prstGeom>
              <a:solidFill>
                <a:srgbClr val="4fd1c5"/>
              </a:solidFill>
              <a:ln w="0">
                <a:noFill/>
              </a:ln>
            </p:spPr>
            <p:style>
              <a:lnRef idx="0"/>
              <a:fillRef idx="0"/>
              <a:effectRef idx="0"/>
              <a:fontRef idx="minor"/>
            </p:style>
            <p:txBody>
              <a:bodyPr lIns="90000" rIns="90000" tIns="-6840" bIns="-6840" anchor="t">
                <a:noAutofit/>
              </a:bodyPr>
              <a:p>
                <a:pPr>
                  <a:lnSpc>
                    <a:spcPct val="100000"/>
                  </a:lnSpc>
                </a:pPr>
                <a:endParaRPr b="0" lang="en-IN" sz="1800" spc="-1" strike="noStrike">
                  <a:solidFill>
                    <a:srgbClr val="000000"/>
                  </a:solidFill>
                  <a:latin typeface="Arial"/>
                </a:endParaRPr>
              </a:p>
            </p:txBody>
          </p:sp>
          <p:sp>
            <p:nvSpPr>
              <p:cNvPr id="278" name="TextBox 37"/>
              <p:cNvSpPr/>
              <p:nvPr/>
            </p:nvSpPr>
            <p:spPr>
              <a:xfrm>
                <a:off x="1461600" y="3895560"/>
                <a:ext cx="382284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Self-supervised speech representation model</a:t>
                </a:r>
                <a:endParaRPr b="0" lang="en-IN" sz="1500" spc="-1" strike="noStrike">
                  <a:solidFill>
                    <a:srgbClr val="000000"/>
                  </a:solidFill>
                  <a:latin typeface="Arial"/>
                </a:endParaRPr>
              </a:p>
            </p:txBody>
          </p:sp>
        </p:grpSp>
        <p:sp>
          <p:nvSpPr>
            <p:cNvPr id="279" name="Line 39"/>
            <p:cNvSpPr/>
            <p:nvPr/>
          </p:nvSpPr>
          <p:spPr>
            <a:xfrm>
              <a:off x="762120" y="4324320"/>
              <a:ext cx="5333400" cy="8640"/>
            </a:xfrm>
            <a:custGeom>
              <a:avLst/>
              <a:gdLst>
                <a:gd name="textAreaLeft" fmla="*/ 0 w 5333400"/>
                <a:gd name="textAreaRight" fmla="*/ 5334120 w 5333400"/>
                <a:gd name="textAreaTop" fmla="*/ 0 h 8640"/>
                <a:gd name="textAreaBottom" fmla="*/ 9360 h 8640"/>
              </a:gdLst>
              <a:ahLst/>
              <a:rect l="textAreaLeft" t="textAreaTop" r="textAreaRight" b="textAreaBottom"/>
              <a:pathLst>
                <a:path w="5334000" h="9525">
                  <a:moveTo>
                    <a:pt x="0" y="0"/>
                  </a:moveTo>
                  <a:lnTo>
                    <a:pt x="5334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280" name="Group 42"/>
            <p:cNvGrpSpPr/>
            <p:nvPr/>
          </p:nvGrpSpPr>
          <p:grpSpPr>
            <a:xfrm>
              <a:off x="762120" y="4467240"/>
              <a:ext cx="3837240" cy="228600"/>
              <a:chOff x="762120" y="4467240"/>
              <a:chExt cx="3837240" cy="228600"/>
            </a:xfrm>
          </p:grpSpPr>
          <p:sp>
            <p:nvSpPr>
              <p:cNvPr id="281" name="Rectangle 40"/>
              <p:cNvSpPr/>
              <p:nvPr/>
            </p:nvSpPr>
            <p:spPr>
              <a:xfrm>
                <a:off x="762120" y="4572000"/>
                <a:ext cx="37440" cy="37440"/>
              </a:xfrm>
              <a:prstGeom prst="rect">
                <a:avLst/>
              </a:prstGeom>
              <a:solidFill>
                <a:srgbClr val="4fd1c5"/>
              </a:solidFill>
              <a:ln w="0">
                <a:noFill/>
              </a:ln>
            </p:spPr>
            <p:style>
              <a:lnRef idx="0"/>
              <a:fillRef idx="0"/>
              <a:effectRef idx="0"/>
              <a:fontRef idx="minor"/>
            </p:style>
            <p:txBody>
              <a:bodyPr lIns="90000" rIns="90000" tIns="-6840" bIns="-6840" anchor="t">
                <a:noAutofit/>
              </a:bodyPr>
              <a:p>
                <a:pPr>
                  <a:lnSpc>
                    <a:spcPct val="100000"/>
                  </a:lnSpc>
                </a:pPr>
                <a:endParaRPr b="0" lang="en-IN" sz="1800" spc="-1" strike="noStrike">
                  <a:solidFill>
                    <a:srgbClr val="000000"/>
                  </a:solidFill>
                  <a:latin typeface="Arial"/>
                </a:endParaRPr>
              </a:p>
            </p:txBody>
          </p:sp>
          <p:sp>
            <p:nvSpPr>
              <p:cNvPr id="282" name="TextBox 41"/>
              <p:cNvSpPr/>
              <p:nvPr/>
            </p:nvSpPr>
            <p:spPr>
              <a:xfrm>
                <a:off x="1379880" y="4467240"/>
                <a:ext cx="321948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Pretrained on large-scale speech data</a:t>
                </a:r>
                <a:endParaRPr b="0" lang="en-IN" sz="1500" spc="-1" strike="noStrike">
                  <a:solidFill>
                    <a:srgbClr val="000000"/>
                  </a:solidFill>
                  <a:latin typeface="Arial"/>
                </a:endParaRPr>
              </a:p>
            </p:txBody>
          </p:sp>
        </p:grpSp>
        <p:sp>
          <p:nvSpPr>
            <p:cNvPr id="283" name="Line 43"/>
            <p:cNvSpPr/>
            <p:nvPr/>
          </p:nvSpPr>
          <p:spPr>
            <a:xfrm>
              <a:off x="762120" y="4896000"/>
              <a:ext cx="5333400" cy="8640"/>
            </a:xfrm>
            <a:custGeom>
              <a:avLst/>
              <a:gdLst>
                <a:gd name="textAreaLeft" fmla="*/ 0 w 5333400"/>
                <a:gd name="textAreaRight" fmla="*/ 5334120 w 5333400"/>
                <a:gd name="textAreaTop" fmla="*/ 0 h 8640"/>
                <a:gd name="textAreaBottom" fmla="*/ 9360 h 8640"/>
              </a:gdLst>
              <a:ahLst/>
              <a:rect l="textAreaLeft" t="textAreaTop" r="textAreaRight" b="textAreaBottom"/>
              <a:pathLst>
                <a:path w="5334000" h="9525">
                  <a:moveTo>
                    <a:pt x="0" y="0"/>
                  </a:moveTo>
                  <a:lnTo>
                    <a:pt x="5334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284" name="Group 47"/>
            <p:cNvGrpSpPr/>
            <p:nvPr/>
          </p:nvGrpSpPr>
          <p:grpSpPr>
            <a:xfrm>
              <a:off x="-12960" y="5038560"/>
              <a:ext cx="5568480" cy="476280"/>
              <a:chOff x="-12960" y="5038560"/>
              <a:chExt cx="5568480" cy="476280"/>
            </a:xfrm>
          </p:grpSpPr>
          <p:sp>
            <p:nvSpPr>
              <p:cNvPr id="285" name="Rectangle 44"/>
              <p:cNvSpPr/>
              <p:nvPr/>
            </p:nvSpPr>
            <p:spPr>
              <a:xfrm>
                <a:off x="762120" y="5143680"/>
                <a:ext cx="37440" cy="37440"/>
              </a:xfrm>
              <a:prstGeom prst="rect">
                <a:avLst/>
              </a:prstGeom>
              <a:solidFill>
                <a:srgbClr val="4fd1c5"/>
              </a:solidFill>
              <a:ln w="0">
                <a:noFill/>
              </a:ln>
            </p:spPr>
            <p:style>
              <a:lnRef idx="0"/>
              <a:fillRef idx="0"/>
              <a:effectRef idx="0"/>
              <a:fontRef idx="minor"/>
            </p:style>
            <p:txBody>
              <a:bodyPr lIns="90000" rIns="90000" tIns="-6840" bIns="-6840" anchor="t">
                <a:noAutofit/>
              </a:bodyPr>
              <a:p>
                <a:pPr>
                  <a:lnSpc>
                    <a:spcPct val="100000"/>
                  </a:lnSpc>
                </a:pPr>
                <a:endParaRPr b="0" lang="en-IN" sz="1800" spc="-1" strike="noStrike">
                  <a:solidFill>
                    <a:srgbClr val="000000"/>
                  </a:solidFill>
                  <a:latin typeface="Arial"/>
                </a:endParaRPr>
              </a:p>
            </p:txBody>
          </p:sp>
          <p:sp>
            <p:nvSpPr>
              <p:cNvPr id="286" name="TextBox 45"/>
              <p:cNvSpPr/>
              <p:nvPr/>
            </p:nvSpPr>
            <p:spPr>
              <a:xfrm>
                <a:off x="1465920" y="5038560"/>
                <a:ext cx="340884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Captures rich acoustic representations   </a:t>
                </a:r>
                <a:endParaRPr b="0" lang="en-IN" sz="1500" spc="-1" strike="noStrike">
                  <a:solidFill>
                    <a:srgbClr val="000000"/>
                  </a:solidFill>
                  <a:latin typeface="Arial"/>
                </a:endParaRPr>
              </a:p>
            </p:txBody>
          </p:sp>
          <p:sp>
            <p:nvSpPr>
              <p:cNvPr id="287" name="TextBox 46"/>
              <p:cNvSpPr/>
              <p:nvPr/>
            </p:nvSpPr>
            <p:spPr>
              <a:xfrm>
                <a:off x="-12960" y="5286240"/>
                <a:ext cx="556848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spcBef>
                    <a:spcPts val="1191"/>
                  </a:spcBef>
                  <a:spcAft>
                    <a:spcPts val="992"/>
                  </a:spcAft>
                </a:pPr>
                <a:r>
                  <a:rPr b="0" lang="en-IN" sz="1500" spc="-1" strike="noStrike">
                    <a:solidFill>
                      <a:srgbClr val="d4d4d8"/>
                    </a:solidFill>
                    <a:latin typeface="Arial"/>
                    <a:ea typeface="Microsoft YaHei"/>
                  </a:rPr>
                  <a:t>                            </a:t>
                </a:r>
                <a:r>
                  <a:rPr b="0" lang="en-IN" sz="1500" spc="-1" strike="noStrike">
                    <a:solidFill>
                      <a:srgbClr val="d4d4d8"/>
                    </a:solidFill>
                    <a:latin typeface="Arial"/>
                    <a:ea typeface="Microsoft YaHei"/>
                  </a:rPr>
                  <a:t>without relying on handcrafted acoustic features.</a:t>
                </a:r>
                <a:endParaRPr b="0" lang="en-IN" sz="1500" spc="-1" strike="noStrike">
                  <a:solidFill>
                    <a:srgbClr val="000000"/>
                  </a:solidFill>
                  <a:latin typeface="Arial"/>
                </a:endParaRPr>
              </a:p>
            </p:txBody>
          </p:sp>
        </p:grpSp>
        <p:sp>
          <p:nvSpPr>
            <p:cNvPr id="288" name="Line 48"/>
            <p:cNvSpPr/>
            <p:nvPr/>
          </p:nvSpPr>
          <p:spPr>
            <a:xfrm>
              <a:off x="762120" y="5772240"/>
              <a:ext cx="5333400" cy="8640"/>
            </a:xfrm>
            <a:custGeom>
              <a:avLst/>
              <a:gdLst>
                <a:gd name="textAreaLeft" fmla="*/ 0 w 5333400"/>
                <a:gd name="textAreaRight" fmla="*/ 5334120 w 5333400"/>
                <a:gd name="textAreaTop" fmla="*/ 0 h 8640"/>
                <a:gd name="textAreaBottom" fmla="*/ 9360 h 8640"/>
              </a:gdLst>
              <a:ahLst/>
              <a:rect l="textAreaLeft" t="textAreaTop" r="textAreaRight" b="textAreaBottom"/>
              <a:pathLst>
                <a:path w="5334000" h="9525">
                  <a:moveTo>
                    <a:pt x="0" y="0"/>
                  </a:moveTo>
                  <a:lnTo>
                    <a:pt x="5334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289" name="Group 62"/>
          <p:cNvGrpSpPr/>
          <p:nvPr/>
        </p:nvGrpSpPr>
        <p:grpSpPr>
          <a:xfrm>
            <a:off x="7220880" y="3612240"/>
            <a:ext cx="4208400" cy="2872440"/>
            <a:chOff x="7220880" y="3612240"/>
            <a:chExt cx="4208400" cy="2872440"/>
          </a:xfrm>
        </p:grpSpPr>
        <p:sp>
          <p:nvSpPr>
            <p:cNvPr id="290" name="TextBox 50"/>
            <p:cNvSpPr/>
            <p:nvPr/>
          </p:nvSpPr>
          <p:spPr>
            <a:xfrm>
              <a:off x="7220880" y="3612240"/>
              <a:ext cx="154800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OUR CONFIGURATION</a:t>
              </a:r>
              <a:endParaRPr b="0" lang="en-IN" sz="1130" spc="-1" strike="noStrike">
                <a:solidFill>
                  <a:srgbClr val="000000"/>
                </a:solidFill>
                <a:latin typeface="Arial"/>
              </a:endParaRPr>
            </a:p>
          </p:txBody>
        </p:sp>
        <p:grpSp>
          <p:nvGrpSpPr>
            <p:cNvPr id="291" name="Group 53"/>
            <p:cNvGrpSpPr/>
            <p:nvPr/>
          </p:nvGrpSpPr>
          <p:grpSpPr>
            <a:xfrm>
              <a:off x="7224840" y="4010040"/>
              <a:ext cx="2851200" cy="228600"/>
              <a:chOff x="7224840" y="4010040"/>
              <a:chExt cx="2851200" cy="228600"/>
            </a:xfrm>
          </p:grpSpPr>
          <p:sp>
            <p:nvSpPr>
              <p:cNvPr id="292" name="TextBox 51"/>
              <p:cNvSpPr/>
              <p:nvPr/>
            </p:nvSpPr>
            <p:spPr>
              <a:xfrm>
                <a:off x="7224840" y="4058640"/>
                <a:ext cx="158040" cy="1598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050" spc="-1" strike="noStrike">
                    <a:solidFill>
                      <a:srgbClr val="5a5a62"/>
                    </a:solidFill>
                    <a:latin typeface="Consolas"/>
                    <a:ea typeface="Microsoft YaHei"/>
                  </a:rPr>
                  <a:t>01</a:t>
                </a:r>
                <a:endParaRPr b="0" lang="en-IN" sz="1050" spc="-1" strike="noStrike">
                  <a:solidFill>
                    <a:srgbClr val="000000"/>
                  </a:solidFill>
                  <a:latin typeface="Arial"/>
                </a:endParaRPr>
              </a:p>
            </p:txBody>
          </p:sp>
          <p:sp>
            <p:nvSpPr>
              <p:cNvPr id="293" name="TextBox 52"/>
              <p:cNvSpPr/>
              <p:nvPr/>
            </p:nvSpPr>
            <p:spPr>
              <a:xfrm>
                <a:off x="7912800" y="4010040"/>
                <a:ext cx="216324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WavLM-base architecture</a:t>
                </a:r>
                <a:endParaRPr b="0" lang="en-IN" sz="1500" spc="-1" strike="noStrike">
                  <a:solidFill>
                    <a:srgbClr val="000000"/>
                  </a:solidFill>
                  <a:latin typeface="Arial"/>
                </a:endParaRPr>
              </a:p>
            </p:txBody>
          </p:sp>
        </p:grpSp>
        <p:grpSp>
          <p:nvGrpSpPr>
            <p:cNvPr id="294" name="Group 56"/>
            <p:cNvGrpSpPr/>
            <p:nvPr/>
          </p:nvGrpSpPr>
          <p:grpSpPr>
            <a:xfrm>
              <a:off x="7243200" y="4390920"/>
              <a:ext cx="3425040" cy="228600"/>
              <a:chOff x="7243200" y="4390920"/>
              <a:chExt cx="3425040" cy="228600"/>
            </a:xfrm>
          </p:grpSpPr>
          <p:sp>
            <p:nvSpPr>
              <p:cNvPr id="295" name="TextBox 54"/>
              <p:cNvSpPr/>
              <p:nvPr/>
            </p:nvSpPr>
            <p:spPr>
              <a:xfrm>
                <a:off x="7243200" y="4439520"/>
                <a:ext cx="159120" cy="1598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050" spc="-1" strike="noStrike">
                    <a:solidFill>
                      <a:srgbClr val="5a5a62"/>
                    </a:solidFill>
                    <a:latin typeface="Consolas"/>
                    <a:ea typeface="Microsoft YaHei"/>
                  </a:rPr>
                  <a:t>02</a:t>
                </a:r>
                <a:endParaRPr b="0" lang="en-IN" sz="1050" spc="-1" strike="noStrike">
                  <a:solidFill>
                    <a:srgbClr val="000000"/>
                  </a:solidFill>
                  <a:latin typeface="Arial"/>
                </a:endParaRPr>
              </a:p>
            </p:txBody>
          </p:sp>
          <p:sp>
            <p:nvSpPr>
              <p:cNvPr id="296" name="TextBox 55"/>
              <p:cNvSpPr/>
              <p:nvPr/>
            </p:nvSpPr>
            <p:spPr>
              <a:xfrm>
                <a:off x="7977600" y="4390920"/>
                <a:ext cx="269064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Backbone frozen during training</a:t>
                </a:r>
                <a:endParaRPr b="0" lang="en-IN" sz="1500" spc="-1" strike="noStrike">
                  <a:solidFill>
                    <a:srgbClr val="000000"/>
                  </a:solidFill>
                  <a:latin typeface="Arial"/>
                </a:endParaRPr>
              </a:p>
            </p:txBody>
          </p:sp>
        </p:grpSp>
        <p:grpSp>
          <p:nvGrpSpPr>
            <p:cNvPr id="297" name="Group 59"/>
            <p:cNvGrpSpPr/>
            <p:nvPr/>
          </p:nvGrpSpPr>
          <p:grpSpPr>
            <a:xfrm>
              <a:off x="7243200" y="4772160"/>
              <a:ext cx="3984840" cy="228600"/>
              <a:chOff x="7243200" y="4772160"/>
              <a:chExt cx="3984840" cy="228600"/>
            </a:xfrm>
          </p:grpSpPr>
          <p:sp>
            <p:nvSpPr>
              <p:cNvPr id="298" name="TextBox 57"/>
              <p:cNvSpPr/>
              <p:nvPr/>
            </p:nvSpPr>
            <p:spPr>
              <a:xfrm>
                <a:off x="7243200" y="4820760"/>
                <a:ext cx="159120" cy="1598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050" spc="-1" strike="noStrike">
                    <a:solidFill>
                      <a:srgbClr val="5a5a62"/>
                    </a:solidFill>
                    <a:latin typeface="Consolas"/>
                    <a:ea typeface="Microsoft YaHei"/>
                  </a:rPr>
                  <a:t>03</a:t>
                </a:r>
                <a:endParaRPr b="0" lang="en-IN" sz="1050" spc="-1" strike="noStrike">
                  <a:solidFill>
                    <a:srgbClr val="000000"/>
                  </a:solidFill>
                  <a:latin typeface="Arial"/>
                </a:endParaRPr>
              </a:p>
            </p:txBody>
          </p:sp>
          <p:sp>
            <p:nvSpPr>
              <p:cNvPr id="299" name="TextBox 58"/>
              <p:cNvSpPr/>
              <p:nvPr/>
            </p:nvSpPr>
            <p:spPr>
              <a:xfrm>
                <a:off x="7987320" y="4772160"/>
                <a:ext cx="324072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768-dimensional utterance embedding</a:t>
                </a:r>
                <a:endParaRPr b="0" lang="en-IN" sz="1500" spc="-1" strike="noStrike">
                  <a:solidFill>
                    <a:srgbClr val="000000"/>
                  </a:solidFill>
                  <a:latin typeface="Arial"/>
                </a:endParaRPr>
              </a:p>
            </p:txBody>
          </p:sp>
        </p:grpSp>
        <p:sp>
          <p:nvSpPr>
            <p:cNvPr id="300" name="Line 60"/>
            <p:cNvSpPr/>
            <p:nvPr/>
          </p:nvSpPr>
          <p:spPr>
            <a:xfrm>
              <a:off x="7238880" y="5257800"/>
              <a:ext cx="4190400" cy="8640"/>
            </a:xfrm>
            <a:custGeom>
              <a:avLst/>
              <a:gdLst>
                <a:gd name="textAreaLeft" fmla="*/ 0 w 4190400"/>
                <a:gd name="textAreaRight" fmla="*/ 4191120 w 4190400"/>
                <a:gd name="textAreaTop" fmla="*/ 0 h 8640"/>
                <a:gd name="textAreaBottom" fmla="*/ 9360 h 8640"/>
              </a:gdLst>
              <a:ahLst/>
              <a:rect l="textAreaLeft" t="textAreaTop" r="textAreaRight" b="textAreaBottom"/>
              <a:pathLst>
                <a:path w="4191000" h="9525">
                  <a:moveTo>
                    <a:pt x="0" y="0"/>
                  </a:moveTo>
                  <a:lnTo>
                    <a:pt x="4191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301" name="TextBox 61"/>
            <p:cNvSpPr/>
            <p:nvPr/>
          </p:nvSpPr>
          <p:spPr>
            <a:xfrm>
              <a:off x="7368840" y="5478840"/>
              <a:ext cx="2522880" cy="10058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6600" spc="-1" strike="noStrike">
                  <a:solidFill>
                    <a:srgbClr val="4fd1c5"/>
                  </a:solidFill>
                  <a:latin typeface="Consolas"/>
                  <a:ea typeface="Microsoft YaHei"/>
                </a:rPr>
                <a:t>768-D</a:t>
              </a:r>
              <a:endParaRPr b="0" lang="en-IN" sz="6600" spc="-1" strike="noStrike">
                <a:solidFill>
                  <a:srgbClr val="000000"/>
                </a:solidFill>
                <a:latin typeface="Arial"/>
              </a:endParaRPr>
            </a:p>
          </p:txBody>
        </p:sp>
      </p:grpSp>
      <p:grpSp>
        <p:nvGrpSpPr>
          <p:cNvPr id="302" name="Group 65"/>
          <p:cNvGrpSpPr/>
          <p:nvPr/>
        </p:nvGrpSpPr>
        <p:grpSpPr>
          <a:xfrm>
            <a:off x="750240" y="6467040"/>
            <a:ext cx="10675440" cy="149040"/>
            <a:chOff x="750240" y="6467040"/>
            <a:chExt cx="10675440" cy="149040"/>
          </a:xfrm>
        </p:grpSpPr>
        <p:sp>
          <p:nvSpPr>
            <p:cNvPr id="303" name="TextBox 63"/>
            <p:cNvSpPr/>
            <p:nvPr/>
          </p:nvSpPr>
          <p:spPr>
            <a:xfrm>
              <a:off x="750240" y="6467040"/>
              <a:ext cx="2023200" cy="148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endParaRPr b="0" lang="en-IN" sz="1800" spc="-1" strike="noStrike">
                <a:solidFill>
                  <a:srgbClr val="000000"/>
                </a:solidFill>
                <a:latin typeface="Arial"/>
              </a:endParaRPr>
            </a:p>
          </p:txBody>
        </p:sp>
        <p:sp>
          <p:nvSpPr>
            <p:cNvPr id="304" name="TextBox 64"/>
            <p:cNvSpPr/>
            <p:nvPr/>
          </p:nvSpPr>
          <p:spPr>
            <a:xfrm>
              <a:off x="11276640" y="6467040"/>
              <a:ext cx="149040" cy="14904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980" spc="-1" strike="noStrike">
                  <a:solidFill>
                    <a:srgbClr val="5a5a62"/>
                  </a:solidFill>
                  <a:latin typeface="Consolas"/>
                  <a:ea typeface="Microsoft YaHei"/>
                </a:rPr>
                <a:t>05</a:t>
              </a:r>
              <a:endParaRPr b="0" lang="en-IN" sz="980" spc="-1" strike="noStrike">
                <a:solidFill>
                  <a:srgbClr val="000000"/>
                </a:solidFill>
                <a:latin typeface="Arial"/>
              </a:endParaRPr>
            </a:p>
          </p:txBody>
        </p:sp>
      </p:gr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Rectangle 2"/>
          <p:cNvSpPr/>
          <p:nvPr/>
        </p:nvSpPr>
        <p:spPr>
          <a:xfrm>
            <a:off x="0" y="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306" name="Group 8"/>
          <p:cNvGrpSpPr/>
          <p:nvPr/>
        </p:nvGrpSpPr>
        <p:grpSpPr>
          <a:xfrm>
            <a:off x="762120" y="556200"/>
            <a:ext cx="10667160" cy="881280"/>
            <a:chOff x="762120" y="556200"/>
            <a:chExt cx="10667160" cy="881280"/>
          </a:xfrm>
        </p:grpSpPr>
        <p:sp>
          <p:nvSpPr>
            <p:cNvPr id="307" name="Rectangle 3"/>
            <p:cNvSpPr/>
            <p:nvPr/>
          </p:nvSpPr>
          <p:spPr>
            <a:xfrm>
              <a:off x="762120" y="609480"/>
              <a:ext cx="380160" cy="18360"/>
            </a:xfrm>
            <a:prstGeom prst="rect">
              <a:avLst/>
            </a:prstGeom>
            <a:solidFill>
              <a:srgbClr val="4fd1c5"/>
            </a:solidFill>
            <a:ln w="0">
              <a:noFill/>
            </a:ln>
          </p:spPr>
          <p:style>
            <a:lnRef idx="0"/>
            <a:fillRef idx="0"/>
            <a:effectRef idx="0"/>
            <a:fontRef idx="minor"/>
          </p:style>
          <p:txBody>
            <a:bodyPr lIns="90000" rIns="90000" tIns="-25920" bIns="-25920" anchor="t">
              <a:noAutofit/>
            </a:bodyPr>
            <a:p>
              <a:pPr>
                <a:lnSpc>
                  <a:spcPct val="100000"/>
                </a:lnSpc>
              </a:pPr>
              <a:endParaRPr b="0" lang="en-IN" sz="1800" spc="-1" strike="noStrike">
                <a:solidFill>
                  <a:srgbClr val="000000"/>
                </a:solidFill>
                <a:latin typeface="Arial"/>
              </a:endParaRPr>
            </a:p>
          </p:txBody>
        </p:sp>
        <p:sp>
          <p:nvSpPr>
            <p:cNvPr id="308" name="TextBox 4"/>
            <p:cNvSpPr/>
            <p:nvPr/>
          </p:nvSpPr>
          <p:spPr>
            <a:xfrm>
              <a:off x="1261800" y="556200"/>
              <a:ext cx="118476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THE CORE IDEA</a:t>
              </a:r>
              <a:endParaRPr b="0" lang="en-IN" sz="1200" spc="-1" strike="noStrike">
                <a:solidFill>
                  <a:srgbClr val="000000"/>
                </a:solidFill>
                <a:latin typeface="Arial"/>
              </a:endParaRPr>
            </a:p>
          </p:txBody>
        </p:sp>
        <p:sp>
          <p:nvSpPr>
            <p:cNvPr id="309" name="TextBox 5"/>
            <p:cNvSpPr/>
            <p:nvPr/>
          </p:nvSpPr>
          <p:spPr>
            <a:xfrm>
              <a:off x="9929160" y="556200"/>
              <a:ext cx="1415160" cy="1828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200" spc="-1" strike="noStrike">
                  <a:solidFill>
                    <a:srgbClr val="8a8a93"/>
                  </a:solidFill>
                  <a:latin typeface="Arial"/>
                  <a:ea typeface="Microsoft YaHei"/>
                </a:rPr>
                <a:t>Domain-Robust SER</a:t>
              </a:r>
              <a:endParaRPr b="0" lang="en-IN" sz="1200" spc="-1" strike="noStrike">
                <a:solidFill>
                  <a:srgbClr val="000000"/>
                </a:solidFill>
                <a:latin typeface="Arial"/>
              </a:endParaRPr>
            </a:p>
          </p:txBody>
        </p:sp>
        <p:sp>
          <p:nvSpPr>
            <p:cNvPr id="310" name="TextBox 6"/>
            <p:cNvSpPr/>
            <p:nvPr/>
          </p:nvSpPr>
          <p:spPr>
            <a:xfrm>
              <a:off x="1687680" y="876240"/>
              <a:ext cx="8430120" cy="4572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000" spc="-1" strike="noStrike">
                  <a:solidFill>
                    <a:srgbClr val="f4f4f5"/>
                  </a:solidFill>
                  <a:latin typeface="Arial"/>
                  <a:ea typeface="Microsoft YaHei"/>
                </a:rPr>
                <a:t>Speaker + Corpus-Aware Contrastive Learning</a:t>
              </a:r>
              <a:endParaRPr b="0" lang="en-IN" sz="3000" spc="-1" strike="noStrike">
                <a:solidFill>
                  <a:srgbClr val="000000"/>
                </a:solidFill>
                <a:latin typeface="Arial"/>
              </a:endParaRPr>
            </a:p>
          </p:txBody>
        </p:sp>
        <p:sp>
          <p:nvSpPr>
            <p:cNvPr id="311" name="Line 7"/>
            <p:cNvSpPr/>
            <p:nvPr/>
          </p:nvSpPr>
          <p:spPr>
            <a:xfrm>
              <a:off x="762120" y="142884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312" name="Group 11"/>
          <p:cNvGrpSpPr/>
          <p:nvPr/>
        </p:nvGrpSpPr>
        <p:grpSpPr>
          <a:xfrm>
            <a:off x="842040" y="1683360"/>
            <a:ext cx="5208840" cy="476280"/>
            <a:chOff x="842040" y="1683360"/>
            <a:chExt cx="5208840" cy="476280"/>
          </a:xfrm>
        </p:grpSpPr>
        <p:sp>
          <p:nvSpPr>
            <p:cNvPr id="313" name="TextBox 9"/>
            <p:cNvSpPr/>
            <p:nvPr/>
          </p:nvSpPr>
          <p:spPr>
            <a:xfrm>
              <a:off x="842040" y="1683360"/>
              <a:ext cx="520884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Not all positive pairs (same emotion) are equally useful           </a:t>
              </a:r>
              <a:endParaRPr b="0" lang="en-IN" sz="1500" spc="-1" strike="noStrike">
                <a:solidFill>
                  <a:srgbClr val="000000"/>
                </a:solidFill>
                <a:latin typeface="Arial"/>
              </a:endParaRPr>
            </a:p>
          </p:txBody>
        </p:sp>
        <p:sp>
          <p:nvSpPr>
            <p:cNvPr id="314" name="TextBox 10"/>
            <p:cNvSpPr/>
            <p:nvPr/>
          </p:nvSpPr>
          <p:spPr>
            <a:xfrm>
              <a:off x="867600" y="1931040"/>
              <a:ext cx="3643200" cy="228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500" spc="-1" strike="noStrike">
                  <a:solidFill>
                    <a:srgbClr val="d4d4d8"/>
                  </a:solidFill>
                  <a:latin typeface="Arial"/>
                  <a:ea typeface="Microsoft YaHei"/>
                </a:rPr>
                <a:t>for learning domain-robust representations.</a:t>
              </a:r>
              <a:endParaRPr b="0" lang="en-IN" sz="1500" spc="-1" strike="noStrike">
                <a:solidFill>
                  <a:srgbClr val="000000"/>
                </a:solidFill>
                <a:latin typeface="Arial"/>
              </a:endParaRPr>
            </a:p>
          </p:txBody>
        </p:sp>
      </p:grpSp>
      <p:grpSp>
        <p:nvGrpSpPr>
          <p:cNvPr id="315" name="Group 33"/>
          <p:cNvGrpSpPr/>
          <p:nvPr/>
        </p:nvGrpSpPr>
        <p:grpSpPr>
          <a:xfrm>
            <a:off x="762120" y="2400480"/>
            <a:ext cx="7619400" cy="3447000"/>
            <a:chOff x="762120" y="2400480"/>
            <a:chExt cx="7619400" cy="3447000"/>
          </a:xfrm>
        </p:grpSpPr>
        <p:grpSp>
          <p:nvGrpSpPr>
            <p:cNvPr id="316" name="Group 18"/>
            <p:cNvGrpSpPr/>
            <p:nvPr/>
          </p:nvGrpSpPr>
          <p:grpSpPr>
            <a:xfrm>
              <a:off x="762120" y="2400480"/>
              <a:ext cx="7619400" cy="1046880"/>
              <a:chOff x="762120" y="2400480"/>
              <a:chExt cx="7619400" cy="1046880"/>
            </a:xfrm>
          </p:grpSpPr>
          <p:sp>
            <p:nvSpPr>
              <p:cNvPr id="317" name="Freeform 12"/>
              <p:cNvSpPr/>
              <p:nvPr/>
            </p:nvSpPr>
            <p:spPr>
              <a:xfrm>
                <a:off x="762120" y="2400480"/>
                <a:ext cx="7619400" cy="1046880"/>
              </a:xfrm>
              <a:custGeom>
                <a:avLst/>
                <a:gdLst>
                  <a:gd name="textAreaLeft" fmla="*/ 0 w 7619400"/>
                  <a:gd name="textAreaRight" fmla="*/ 7620120 w 7619400"/>
                  <a:gd name="textAreaTop" fmla="*/ 0 h 1046880"/>
                  <a:gd name="textAreaBottom" fmla="*/ 1047600 h 1046880"/>
                </a:gdLst>
                <a:ahLst/>
                <a:rect l="textAreaLeft" t="textAreaTop" r="textAreaRight" b="textAreaBottom"/>
                <a:pathLst>
                  <a:path w="7620000" h="1047750">
                    <a:moveTo>
                      <a:pt x="57150" y="0"/>
                    </a:moveTo>
                    <a:lnTo>
                      <a:pt x="7562850" y="0"/>
                    </a:lnTo>
                    <a:cubicBezTo>
                      <a:pt x="7594413" y="0"/>
                      <a:pt x="7620000" y="25587"/>
                      <a:pt x="7620000" y="57150"/>
                    </a:cubicBezTo>
                    <a:lnTo>
                      <a:pt x="7620000" y="990600"/>
                    </a:lnTo>
                    <a:cubicBezTo>
                      <a:pt x="7620000" y="1022163"/>
                      <a:pt x="7594413" y="1047750"/>
                      <a:pt x="7562850" y="1047750"/>
                    </a:cubicBezTo>
                    <a:lnTo>
                      <a:pt x="57150" y="1047750"/>
                    </a:lnTo>
                    <a:cubicBezTo>
                      <a:pt x="25587" y="1047750"/>
                      <a:pt x="0" y="1022163"/>
                      <a:pt x="0" y="9906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18" name="TextBox 13"/>
              <p:cNvSpPr/>
              <p:nvPr/>
            </p:nvSpPr>
            <p:spPr>
              <a:xfrm>
                <a:off x="1098720" y="2678760"/>
                <a:ext cx="342216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SAME EMOTION · DIFF. SPEAKER · DIFF. CORPUS</a:t>
                </a:r>
                <a:endParaRPr b="0" lang="en-IN" sz="1130" spc="-1" strike="noStrike">
                  <a:solidFill>
                    <a:srgbClr val="000000"/>
                  </a:solidFill>
                  <a:latin typeface="Arial"/>
                </a:endParaRPr>
              </a:p>
            </p:txBody>
          </p:sp>
          <p:sp>
            <p:nvSpPr>
              <p:cNvPr id="319" name="TextBox 14"/>
              <p:cNvSpPr/>
              <p:nvPr/>
            </p:nvSpPr>
            <p:spPr>
              <a:xfrm>
                <a:off x="1365480" y="2964960"/>
                <a:ext cx="228528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f4f4f5"/>
                    </a:solidFill>
                    <a:latin typeface="Arial"/>
                    <a:ea typeface="Microsoft YaHei"/>
                  </a:rPr>
                  <a:t>High priority positive pair</a:t>
                </a:r>
                <a:endParaRPr b="0" lang="en-IN" sz="1650" spc="-1" strike="noStrike">
                  <a:solidFill>
                    <a:srgbClr val="000000"/>
                  </a:solidFill>
                  <a:latin typeface="Arial"/>
                </a:endParaRPr>
              </a:p>
            </p:txBody>
          </p:sp>
          <p:sp>
            <p:nvSpPr>
              <p:cNvPr id="320" name="Line 15"/>
              <p:cNvSpPr/>
              <p:nvPr/>
            </p:nvSpPr>
            <p:spPr>
              <a:xfrm>
                <a:off x="5400720" y="2933640"/>
                <a:ext cx="1009080" cy="8640"/>
              </a:xfrm>
              <a:custGeom>
                <a:avLst/>
                <a:gdLst>
                  <a:gd name="textAreaLeft" fmla="*/ 0 w 1009080"/>
                  <a:gd name="textAreaRight" fmla="*/ 1009800 w 1009080"/>
                  <a:gd name="textAreaTop" fmla="*/ 0 h 8640"/>
                  <a:gd name="textAreaBottom" fmla="*/ 9360 h 8640"/>
                </a:gdLst>
                <a:ahLst/>
                <a:rect l="textAreaLeft" t="textAreaTop" r="textAreaRight" b="textAreaBottom"/>
                <a:pathLst>
                  <a:path w="1009650" h="9525">
                    <a:moveTo>
                      <a:pt x="0" y="0"/>
                    </a:moveTo>
                    <a:lnTo>
                      <a:pt x="1009650" y="0"/>
                    </a:lnTo>
                  </a:path>
                </a:pathLst>
              </a:custGeom>
              <a:noFill/>
              <a:ln w="76200">
                <a:solidFill>
                  <a:srgbClr val="4fd1c5"/>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321" name="Ellipse 16"/>
              <p:cNvSpPr/>
              <p:nvPr/>
            </p:nvSpPr>
            <p:spPr>
              <a:xfrm>
                <a:off x="5257800" y="2857680"/>
                <a:ext cx="151560" cy="151560"/>
              </a:xfrm>
              <a:prstGeom prst="ellipse">
                <a:avLst/>
              </a:prstGeom>
              <a:solidFill>
                <a:srgbClr val="4fd1c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322" name="Ellipse 17"/>
              <p:cNvSpPr/>
              <p:nvPr/>
            </p:nvSpPr>
            <p:spPr>
              <a:xfrm>
                <a:off x="6400800" y="2857680"/>
                <a:ext cx="151560" cy="151560"/>
              </a:xfrm>
              <a:prstGeom prst="ellipse">
                <a:avLst/>
              </a:prstGeom>
              <a:solidFill>
                <a:srgbClr val="4fd1c5"/>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grpSp>
        <p:grpSp>
          <p:nvGrpSpPr>
            <p:cNvPr id="323" name="Group 25"/>
            <p:cNvGrpSpPr/>
            <p:nvPr/>
          </p:nvGrpSpPr>
          <p:grpSpPr>
            <a:xfrm>
              <a:off x="762120" y="3600360"/>
              <a:ext cx="7619400" cy="1046880"/>
              <a:chOff x="762120" y="3600360"/>
              <a:chExt cx="7619400" cy="1046880"/>
            </a:xfrm>
          </p:grpSpPr>
          <p:sp>
            <p:nvSpPr>
              <p:cNvPr id="324" name="Freeform 19"/>
              <p:cNvSpPr/>
              <p:nvPr/>
            </p:nvSpPr>
            <p:spPr>
              <a:xfrm>
                <a:off x="762120" y="3600360"/>
                <a:ext cx="7619400" cy="1046880"/>
              </a:xfrm>
              <a:custGeom>
                <a:avLst/>
                <a:gdLst>
                  <a:gd name="textAreaLeft" fmla="*/ 0 w 7619400"/>
                  <a:gd name="textAreaRight" fmla="*/ 7620120 w 7619400"/>
                  <a:gd name="textAreaTop" fmla="*/ 0 h 1046880"/>
                  <a:gd name="textAreaBottom" fmla="*/ 1047600 h 1046880"/>
                </a:gdLst>
                <a:ahLst/>
                <a:rect l="textAreaLeft" t="textAreaTop" r="textAreaRight" b="textAreaBottom"/>
                <a:pathLst>
                  <a:path w="7620000" h="1047750">
                    <a:moveTo>
                      <a:pt x="57150" y="0"/>
                    </a:moveTo>
                    <a:lnTo>
                      <a:pt x="7562850" y="0"/>
                    </a:lnTo>
                    <a:cubicBezTo>
                      <a:pt x="7594413" y="0"/>
                      <a:pt x="7620000" y="25587"/>
                      <a:pt x="7620000" y="57150"/>
                    </a:cubicBezTo>
                    <a:lnTo>
                      <a:pt x="7620000" y="990600"/>
                    </a:lnTo>
                    <a:cubicBezTo>
                      <a:pt x="7620000" y="1022163"/>
                      <a:pt x="7594413" y="1047750"/>
                      <a:pt x="7562850" y="1047750"/>
                    </a:cubicBezTo>
                    <a:lnTo>
                      <a:pt x="57150" y="1047750"/>
                    </a:lnTo>
                    <a:cubicBezTo>
                      <a:pt x="25587" y="1047750"/>
                      <a:pt x="0" y="1022163"/>
                      <a:pt x="0" y="9906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25" name="TextBox 20"/>
              <p:cNvSpPr/>
              <p:nvPr/>
            </p:nvSpPr>
            <p:spPr>
              <a:xfrm>
                <a:off x="1023480" y="3879000"/>
                <a:ext cx="309600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SAME EMOTION · SAME SPEAKER / CORPUS</a:t>
                </a:r>
                <a:endParaRPr b="0" lang="en-IN" sz="1130" spc="-1" strike="noStrike">
                  <a:solidFill>
                    <a:srgbClr val="000000"/>
                  </a:solidFill>
                  <a:latin typeface="Arial"/>
                </a:endParaRPr>
              </a:p>
            </p:txBody>
          </p:sp>
          <p:sp>
            <p:nvSpPr>
              <p:cNvPr id="326" name="TextBox 21"/>
              <p:cNvSpPr/>
              <p:nvPr/>
            </p:nvSpPr>
            <p:spPr>
              <a:xfrm>
                <a:off x="1376280" y="4165200"/>
                <a:ext cx="223956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f4f4f5"/>
                    </a:solidFill>
                    <a:latin typeface="Arial"/>
                    <a:ea typeface="Microsoft YaHei"/>
                  </a:rPr>
                  <a:t>Low priority positive pair</a:t>
                </a:r>
                <a:endParaRPr b="0" lang="en-IN" sz="1650" spc="-1" strike="noStrike">
                  <a:solidFill>
                    <a:srgbClr val="000000"/>
                  </a:solidFill>
                  <a:latin typeface="Arial"/>
                </a:endParaRPr>
              </a:p>
            </p:txBody>
          </p:sp>
          <p:sp>
            <p:nvSpPr>
              <p:cNvPr id="327" name="Line 22"/>
              <p:cNvSpPr/>
              <p:nvPr/>
            </p:nvSpPr>
            <p:spPr>
              <a:xfrm>
                <a:off x="5410080" y="4133880"/>
                <a:ext cx="990000" cy="8640"/>
              </a:xfrm>
              <a:custGeom>
                <a:avLst/>
                <a:gdLst>
                  <a:gd name="textAreaLeft" fmla="*/ 0 w 990000"/>
                  <a:gd name="textAreaRight" fmla="*/ 990720 w 990000"/>
                  <a:gd name="textAreaTop" fmla="*/ 0 h 8640"/>
                  <a:gd name="textAreaBottom" fmla="*/ 9360 h 8640"/>
                </a:gdLst>
                <a:ahLst/>
                <a:rect l="textAreaLeft" t="textAreaTop" r="textAreaRight" b="textAreaBottom"/>
                <a:pathLst>
                  <a:path w="990600" h="9525">
                    <a:moveTo>
                      <a:pt x="0" y="0"/>
                    </a:moveTo>
                    <a:lnTo>
                      <a:pt x="990600" y="0"/>
                    </a:lnTo>
                  </a:path>
                </a:pathLst>
              </a:custGeom>
              <a:noFill/>
              <a:ln w="28575">
                <a:solidFill>
                  <a:srgbClr val="8a8a93"/>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328" name="Ellipse 23"/>
              <p:cNvSpPr/>
              <p:nvPr/>
            </p:nvSpPr>
            <p:spPr>
              <a:xfrm>
                <a:off x="5257800" y="4057560"/>
                <a:ext cx="151560" cy="151560"/>
              </a:xfrm>
              <a:prstGeom prst="ellipse">
                <a:avLst/>
              </a:prstGeom>
              <a:solidFill>
                <a:srgbClr val="8a8a93"/>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29" name="Ellipse 24"/>
              <p:cNvSpPr/>
              <p:nvPr/>
            </p:nvSpPr>
            <p:spPr>
              <a:xfrm>
                <a:off x="6400800" y="4057560"/>
                <a:ext cx="151560" cy="151560"/>
              </a:xfrm>
              <a:prstGeom prst="ellipse">
                <a:avLst/>
              </a:prstGeom>
              <a:solidFill>
                <a:srgbClr val="8a8a93"/>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grpSp>
          <p:nvGrpSpPr>
            <p:cNvPr id="330" name="Group 32"/>
            <p:cNvGrpSpPr/>
            <p:nvPr/>
          </p:nvGrpSpPr>
          <p:grpSpPr>
            <a:xfrm>
              <a:off x="762120" y="4800600"/>
              <a:ext cx="7619400" cy="1046880"/>
              <a:chOff x="762120" y="4800600"/>
              <a:chExt cx="7619400" cy="1046880"/>
            </a:xfrm>
          </p:grpSpPr>
          <p:sp>
            <p:nvSpPr>
              <p:cNvPr id="331" name="Freeform 26"/>
              <p:cNvSpPr/>
              <p:nvPr/>
            </p:nvSpPr>
            <p:spPr>
              <a:xfrm>
                <a:off x="762120" y="4800600"/>
                <a:ext cx="7619400" cy="1046880"/>
              </a:xfrm>
              <a:custGeom>
                <a:avLst/>
                <a:gdLst>
                  <a:gd name="textAreaLeft" fmla="*/ 0 w 7619400"/>
                  <a:gd name="textAreaRight" fmla="*/ 7620120 w 7619400"/>
                  <a:gd name="textAreaTop" fmla="*/ 0 h 1046880"/>
                  <a:gd name="textAreaBottom" fmla="*/ 1047600 h 1046880"/>
                </a:gdLst>
                <a:ahLst/>
                <a:rect l="textAreaLeft" t="textAreaTop" r="textAreaRight" b="textAreaBottom"/>
                <a:pathLst>
                  <a:path w="7620000" h="1047750">
                    <a:moveTo>
                      <a:pt x="57150" y="0"/>
                    </a:moveTo>
                    <a:lnTo>
                      <a:pt x="7562850" y="0"/>
                    </a:lnTo>
                    <a:cubicBezTo>
                      <a:pt x="7594413" y="0"/>
                      <a:pt x="7620000" y="25587"/>
                      <a:pt x="7620000" y="57150"/>
                    </a:cubicBezTo>
                    <a:lnTo>
                      <a:pt x="7620000" y="990600"/>
                    </a:lnTo>
                    <a:cubicBezTo>
                      <a:pt x="7620000" y="1022163"/>
                      <a:pt x="7594413" y="1047750"/>
                      <a:pt x="7562850" y="1047750"/>
                    </a:cubicBezTo>
                    <a:lnTo>
                      <a:pt x="57150" y="1047750"/>
                    </a:lnTo>
                    <a:cubicBezTo>
                      <a:pt x="25587" y="1047750"/>
                      <a:pt x="0" y="1022163"/>
                      <a:pt x="0" y="9906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32" name="TextBox 27"/>
              <p:cNvSpPr/>
              <p:nvPr/>
            </p:nvSpPr>
            <p:spPr>
              <a:xfrm>
                <a:off x="991080" y="5079240"/>
                <a:ext cx="150948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DIFFERENT EMOTION</a:t>
                </a:r>
                <a:endParaRPr b="0" lang="en-IN" sz="1130" spc="-1" strike="noStrike">
                  <a:solidFill>
                    <a:srgbClr val="000000"/>
                  </a:solidFill>
                  <a:latin typeface="Arial"/>
                </a:endParaRPr>
              </a:p>
            </p:txBody>
          </p:sp>
          <p:sp>
            <p:nvSpPr>
              <p:cNvPr id="333" name="TextBox 28"/>
              <p:cNvSpPr/>
              <p:nvPr/>
            </p:nvSpPr>
            <p:spPr>
              <a:xfrm>
                <a:off x="1233000" y="5365440"/>
                <a:ext cx="167112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f4f4f5"/>
                    </a:solidFill>
                    <a:latin typeface="Arial"/>
                    <a:ea typeface="Microsoft YaHei"/>
                  </a:rPr>
                  <a:t>Not a positive pair</a:t>
                </a:r>
                <a:endParaRPr b="0" lang="en-IN" sz="1650" spc="-1" strike="noStrike">
                  <a:solidFill>
                    <a:srgbClr val="000000"/>
                  </a:solidFill>
                  <a:latin typeface="Arial"/>
                </a:endParaRPr>
              </a:p>
            </p:txBody>
          </p:sp>
          <p:sp>
            <p:nvSpPr>
              <p:cNvPr id="334" name="Line 29"/>
              <p:cNvSpPr/>
              <p:nvPr/>
            </p:nvSpPr>
            <p:spPr>
              <a:xfrm>
                <a:off x="5410080" y="5334120"/>
                <a:ext cx="990000" cy="8640"/>
              </a:xfrm>
              <a:custGeom>
                <a:avLst/>
                <a:gdLst>
                  <a:gd name="textAreaLeft" fmla="*/ 0 w 990000"/>
                  <a:gd name="textAreaRight" fmla="*/ 990720 w 990000"/>
                  <a:gd name="textAreaTop" fmla="*/ 0 h 8640"/>
                  <a:gd name="textAreaBottom" fmla="*/ 9360 h 8640"/>
                </a:gdLst>
                <a:ahLst/>
                <a:rect l="textAreaLeft" t="textAreaTop" r="textAreaRight" b="textAreaBottom"/>
                <a:pathLst>
                  <a:path w="990600" h="9525">
                    <a:moveTo>
                      <a:pt x="0" y="0"/>
                    </a:moveTo>
                    <a:lnTo>
                      <a:pt x="990600" y="0"/>
                    </a:lnTo>
                  </a:path>
                </a:pathLst>
              </a:custGeom>
              <a:noFill/>
              <a:ln w="14288">
                <a:solidFill>
                  <a:srgbClr val="5a5a62"/>
                </a:solidFill>
                <a:prstDash val="dash"/>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335" name="Ellipse 30"/>
              <p:cNvSpPr/>
              <p:nvPr/>
            </p:nvSpPr>
            <p:spPr>
              <a:xfrm>
                <a:off x="5257800" y="5257800"/>
                <a:ext cx="151560" cy="151560"/>
              </a:xfrm>
              <a:prstGeom prst="ellipse">
                <a:avLst/>
              </a:prstGeom>
              <a:solidFill>
                <a:srgbClr val="5a5a62"/>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36" name="Ellipse 31"/>
              <p:cNvSpPr/>
              <p:nvPr/>
            </p:nvSpPr>
            <p:spPr>
              <a:xfrm>
                <a:off x="6400800" y="5257800"/>
                <a:ext cx="151560" cy="151560"/>
              </a:xfrm>
              <a:prstGeom prst="ellipse">
                <a:avLst/>
              </a:prstGeom>
              <a:solidFill>
                <a:srgbClr val="5a5a62"/>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grpSp>
      <p:grpSp>
        <p:nvGrpSpPr>
          <p:cNvPr id="337" name="Group 47"/>
          <p:cNvGrpSpPr/>
          <p:nvPr/>
        </p:nvGrpSpPr>
        <p:grpSpPr>
          <a:xfrm>
            <a:off x="8737920" y="2545560"/>
            <a:ext cx="2710440" cy="3151080"/>
            <a:chOff x="8737920" y="2545560"/>
            <a:chExt cx="2710440" cy="3151080"/>
          </a:xfrm>
        </p:grpSpPr>
        <p:sp>
          <p:nvSpPr>
            <p:cNvPr id="338" name="TextBox 34"/>
            <p:cNvSpPr/>
            <p:nvPr/>
          </p:nvSpPr>
          <p:spPr>
            <a:xfrm>
              <a:off x="8747280" y="2545560"/>
              <a:ext cx="93528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PAIR WEIGHT</a:t>
              </a:r>
              <a:endParaRPr b="0" lang="en-IN" sz="1130" spc="-1" strike="noStrike">
                <a:solidFill>
                  <a:srgbClr val="000000"/>
                </a:solidFill>
                <a:latin typeface="Arial"/>
              </a:endParaRPr>
            </a:p>
          </p:txBody>
        </p:sp>
        <p:sp>
          <p:nvSpPr>
            <p:cNvPr id="339" name="Line 35"/>
            <p:cNvSpPr/>
            <p:nvPr/>
          </p:nvSpPr>
          <p:spPr>
            <a:xfrm>
              <a:off x="8763120" y="2819520"/>
              <a:ext cx="2666160" cy="8640"/>
            </a:xfrm>
            <a:custGeom>
              <a:avLst/>
              <a:gdLst>
                <a:gd name="textAreaLeft" fmla="*/ 0 w 2666160"/>
                <a:gd name="textAreaRight" fmla="*/ 2666880 w 2666160"/>
                <a:gd name="textAreaTop" fmla="*/ 0 h 8640"/>
                <a:gd name="textAreaBottom" fmla="*/ 9360 h 8640"/>
              </a:gdLst>
              <a:ahLst/>
              <a:rect l="textAreaLeft" t="textAreaTop" r="textAreaRight" b="textAreaBottom"/>
              <a:pathLst>
                <a:path w="2667000" h="9525">
                  <a:moveTo>
                    <a:pt x="0" y="0"/>
                  </a:moveTo>
                  <a:lnTo>
                    <a:pt x="2667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340" name="Group 38"/>
            <p:cNvGrpSpPr/>
            <p:nvPr/>
          </p:nvGrpSpPr>
          <p:grpSpPr>
            <a:xfrm>
              <a:off x="8737920" y="2770920"/>
              <a:ext cx="2710440" cy="525600"/>
              <a:chOff x="8737920" y="2770920"/>
              <a:chExt cx="2710440" cy="525600"/>
            </a:xfrm>
          </p:grpSpPr>
          <p:sp>
            <p:nvSpPr>
              <p:cNvPr id="341" name="TextBox 36"/>
              <p:cNvSpPr/>
              <p:nvPr/>
            </p:nvSpPr>
            <p:spPr>
              <a:xfrm>
                <a:off x="8737920" y="2770920"/>
                <a:ext cx="790200" cy="525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450" spc="-1" strike="noStrike">
                    <a:solidFill>
                      <a:srgbClr val="4fd1c5"/>
                    </a:solidFill>
                    <a:latin typeface="Consolas"/>
                    <a:ea typeface="Microsoft YaHei"/>
                  </a:rPr>
                  <a:t>1.0</a:t>
                </a:r>
                <a:endParaRPr b="0" lang="en-IN" sz="3450" spc="-1" strike="noStrike">
                  <a:solidFill>
                    <a:srgbClr val="000000"/>
                  </a:solidFill>
                  <a:latin typeface="Arial"/>
                </a:endParaRPr>
              </a:p>
            </p:txBody>
          </p:sp>
          <p:sp>
            <p:nvSpPr>
              <p:cNvPr id="342" name="TextBox 37"/>
              <p:cNvSpPr/>
              <p:nvPr/>
            </p:nvSpPr>
            <p:spPr>
              <a:xfrm>
                <a:off x="11090520" y="3021840"/>
                <a:ext cx="357840" cy="1720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130" spc="-1" strike="noStrike">
                    <a:solidFill>
                      <a:srgbClr val="8a8a93"/>
                    </a:solidFill>
                    <a:latin typeface="Arial"/>
                    <a:ea typeface="Microsoft YaHei"/>
                  </a:rPr>
                  <a:t>HIGH</a:t>
                </a:r>
                <a:endParaRPr b="0" lang="en-IN" sz="1130" spc="-1" strike="noStrike">
                  <a:solidFill>
                    <a:srgbClr val="000000"/>
                  </a:solidFill>
                  <a:latin typeface="Arial"/>
                </a:endParaRPr>
              </a:p>
            </p:txBody>
          </p:sp>
        </p:grpSp>
        <p:sp>
          <p:nvSpPr>
            <p:cNvPr id="343" name="Line 39"/>
            <p:cNvSpPr/>
            <p:nvPr/>
          </p:nvSpPr>
          <p:spPr>
            <a:xfrm>
              <a:off x="8763120" y="3524400"/>
              <a:ext cx="2666160" cy="8640"/>
            </a:xfrm>
            <a:custGeom>
              <a:avLst/>
              <a:gdLst>
                <a:gd name="textAreaLeft" fmla="*/ 0 w 2666160"/>
                <a:gd name="textAreaRight" fmla="*/ 2666880 w 2666160"/>
                <a:gd name="textAreaTop" fmla="*/ 0 h 8640"/>
                <a:gd name="textAreaBottom" fmla="*/ 9360 h 8640"/>
              </a:gdLst>
              <a:ahLst/>
              <a:rect l="textAreaLeft" t="textAreaTop" r="textAreaRight" b="textAreaBottom"/>
              <a:pathLst>
                <a:path w="2667000" h="9525">
                  <a:moveTo>
                    <a:pt x="0" y="0"/>
                  </a:moveTo>
                  <a:lnTo>
                    <a:pt x="2667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344" name="Group 42"/>
            <p:cNvGrpSpPr/>
            <p:nvPr/>
          </p:nvGrpSpPr>
          <p:grpSpPr>
            <a:xfrm>
              <a:off x="8817840" y="3970800"/>
              <a:ext cx="2606760" cy="525600"/>
              <a:chOff x="8817840" y="3970800"/>
              <a:chExt cx="2606760" cy="525600"/>
            </a:xfrm>
          </p:grpSpPr>
          <p:sp>
            <p:nvSpPr>
              <p:cNvPr id="345" name="TextBox 40"/>
              <p:cNvSpPr/>
              <p:nvPr/>
            </p:nvSpPr>
            <p:spPr>
              <a:xfrm>
                <a:off x="8817840" y="3970800"/>
                <a:ext cx="1053720" cy="525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450" spc="-1" strike="noStrike">
                    <a:solidFill>
                      <a:srgbClr val="f4f4f5"/>
                    </a:solidFill>
                    <a:latin typeface="Consolas"/>
                    <a:ea typeface="Microsoft YaHei"/>
                  </a:rPr>
                  <a:t>0.25</a:t>
                </a:r>
                <a:endParaRPr b="0" lang="en-IN" sz="3450" spc="-1" strike="noStrike">
                  <a:solidFill>
                    <a:srgbClr val="000000"/>
                  </a:solidFill>
                  <a:latin typeface="Arial"/>
                </a:endParaRPr>
              </a:p>
            </p:txBody>
          </p:sp>
          <p:sp>
            <p:nvSpPr>
              <p:cNvPr id="346" name="TextBox 41"/>
              <p:cNvSpPr/>
              <p:nvPr/>
            </p:nvSpPr>
            <p:spPr>
              <a:xfrm>
                <a:off x="11097720" y="4222080"/>
                <a:ext cx="326880" cy="1720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130" spc="-1" strike="noStrike">
                    <a:solidFill>
                      <a:srgbClr val="8a8a93"/>
                    </a:solidFill>
                    <a:latin typeface="Arial"/>
                    <a:ea typeface="Microsoft YaHei"/>
                  </a:rPr>
                  <a:t>LOW</a:t>
                </a:r>
                <a:endParaRPr b="0" lang="en-IN" sz="1130" spc="-1" strike="noStrike">
                  <a:solidFill>
                    <a:srgbClr val="000000"/>
                  </a:solidFill>
                  <a:latin typeface="Arial"/>
                </a:endParaRPr>
              </a:p>
            </p:txBody>
          </p:sp>
        </p:grpSp>
        <p:sp>
          <p:nvSpPr>
            <p:cNvPr id="347" name="Line 43"/>
            <p:cNvSpPr/>
            <p:nvPr/>
          </p:nvSpPr>
          <p:spPr>
            <a:xfrm>
              <a:off x="8763120" y="4724280"/>
              <a:ext cx="2666160" cy="8640"/>
            </a:xfrm>
            <a:custGeom>
              <a:avLst/>
              <a:gdLst>
                <a:gd name="textAreaLeft" fmla="*/ 0 w 2666160"/>
                <a:gd name="textAreaRight" fmla="*/ 2666880 w 2666160"/>
                <a:gd name="textAreaTop" fmla="*/ 0 h 8640"/>
                <a:gd name="textAreaBottom" fmla="*/ 9360 h 8640"/>
              </a:gdLst>
              <a:ahLst/>
              <a:rect l="textAreaLeft" t="textAreaTop" r="textAreaRight" b="textAreaBottom"/>
              <a:pathLst>
                <a:path w="2667000" h="9525">
                  <a:moveTo>
                    <a:pt x="0" y="0"/>
                  </a:moveTo>
                  <a:lnTo>
                    <a:pt x="2667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348" name="Group 46"/>
            <p:cNvGrpSpPr/>
            <p:nvPr/>
          </p:nvGrpSpPr>
          <p:grpSpPr>
            <a:xfrm>
              <a:off x="8803800" y="5171040"/>
              <a:ext cx="2635560" cy="525600"/>
              <a:chOff x="8803800" y="5171040"/>
              <a:chExt cx="2635560" cy="525600"/>
            </a:xfrm>
          </p:grpSpPr>
          <p:sp>
            <p:nvSpPr>
              <p:cNvPr id="349" name="TextBox 44"/>
              <p:cNvSpPr/>
              <p:nvPr/>
            </p:nvSpPr>
            <p:spPr>
              <a:xfrm>
                <a:off x="8803800" y="5171040"/>
                <a:ext cx="790200" cy="5256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450" spc="-1" strike="noStrike">
                    <a:solidFill>
                      <a:srgbClr val="5a5a62"/>
                    </a:solidFill>
                    <a:latin typeface="Consolas"/>
                    <a:ea typeface="Microsoft YaHei"/>
                  </a:rPr>
                  <a:t>0.0</a:t>
                </a:r>
                <a:endParaRPr b="0" lang="en-IN" sz="3450" spc="-1" strike="noStrike">
                  <a:solidFill>
                    <a:srgbClr val="000000"/>
                  </a:solidFill>
                  <a:latin typeface="Arial"/>
                </a:endParaRPr>
              </a:p>
            </p:txBody>
          </p:sp>
          <p:sp>
            <p:nvSpPr>
              <p:cNvPr id="350" name="TextBox 45"/>
              <p:cNvSpPr/>
              <p:nvPr/>
            </p:nvSpPr>
            <p:spPr>
              <a:xfrm>
                <a:off x="11025720" y="5421960"/>
                <a:ext cx="413640" cy="1720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130" spc="-1" strike="noStrike">
                    <a:solidFill>
                      <a:srgbClr val="8a8a93"/>
                    </a:solidFill>
                    <a:latin typeface="Arial"/>
                    <a:ea typeface="Microsoft YaHei"/>
                  </a:rPr>
                  <a:t>NONE</a:t>
                </a:r>
                <a:endParaRPr b="0" lang="en-IN" sz="1130" spc="-1" strike="noStrike">
                  <a:solidFill>
                    <a:srgbClr val="000000"/>
                  </a:solidFill>
                  <a:latin typeface="Arial"/>
                </a:endParaRPr>
              </a:p>
            </p:txBody>
          </p:sp>
        </p:grpSp>
      </p:grpSp>
      <p:grpSp>
        <p:nvGrpSpPr>
          <p:cNvPr id="351" name="Group 50"/>
          <p:cNvGrpSpPr/>
          <p:nvPr/>
        </p:nvGrpSpPr>
        <p:grpSpPr>
          <a:xfrm>
            <a:off x="762120" y="6095880"/>
            <a:ext cx="10667160" cy="397080"/>
            <a:chOff x="762120" y="6095880"/>
            <a:chExt cx="10667160" cy="397080"/>
          </a:xfrm>
        </p:grpSpPr>
        <p:sp>
          <p:nvSpPr>
            <p:cNvPr id="352" name="Line 48"/>
            <p:cNvSpPr/>
            <p:nvPr/>
          </p:nvSpPr>
          <p:spPr>
            <a:xfrm>
              <a:off x="762120" y="609588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353" name="TextBox 49"/>
            <p:cNvSpPr/>
            <p:nvPr/>
          </p:nvSpPr>
          <p:spPr>
            <a:xfrm>
              <a:off x="1568880" y="6241680"/>
              <a:ext cx="655560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4fd1c5"/>
                  </a:solidFill>
                  <a:latin typeface="Arial"/>
                  <a:ea typeface="Microsoft YaHei"/>
                </a:rPr>
                <a:t>Goal is to explicitly prioritize emotion similarity across diverse domains.</a:t>
              </a:r>
              <a:endParaRPr b="0" lang="en-IN" sz="1650" spc="-1" strike="noStrike">
                <a:solidFill>
                  <a:srgbClr val="000000"/>
                </a:solidFill>
                <a:latin typeface="Arial"/>
              </a:endParaRPr>
            </a:p>
          </p:txBody>
        </p:sp>
      </p:grpSp>
      <p:sp>
        <p:nvSpPr>
          <p:cNvPr id="354" name="TextBox 51"/>
          <p:cNvSpPr/>
          <p:nvPr/>
        </p:nvSpPr>
        <p:spPr>
          <a:xfrm>
            <a:off x="11276640" y="6581160"/>
            <a:ext cx="149040" cy="14904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980" spc="-1" strike="noStrike">
                <a:solidFill>
                  <a:srgbClr val="5a5a62"/>
                </a:solidFill>
                <a:latin typeface="Consolas"/>
                <a:ea typeface="Microsoft YaHei"/>
              </a:rPr>
              <a:t>06</a:t>
            </a:r>
            <a:endParaRPr b="0" lang="en-IN" sz="980" spc="-1" strike="noStrike">
              <a:solidFill>
                <a:srgbClr val="000000"/>
              </a:solidFill>
              <a:latin typeface="Arial"/>
            </a:endParaRPr>
          </a:p>
        </p:txBody>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Rectangle 2"/>
          <p:cNvSpPr/>
          <p:nvPr/>
        </p:nvSpPr>
        <p:spPr>
          <a:xfrm>
            <a:off x="0" y="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356" name="Group 8"/>
          <p:cNvGrpSpPr/>
          <p:nvPr/>
        </p:nvGrpSpPr>
        <p:grpSpPr>
          <a:xfrm>
            <a:off x="762120" y="556200"/>
            <a:ext cx="10667160" cy="881280"/>
            <a:chOff x="762120" y="556200"/>
            <a:chExt cx="10667160" cy="881280"/>
          </a:xfrm>
        </p:grpSpPr>
        <p:sp>
          <p:nvSpPr>
            <p:cNvPr id="357" name="Rectangle 3"/>
            <p:cNvSpPr/>
            <p:nvPr/>
          </p:nvSpPr>
          <p:spPr>
            <a:xfrm>
              <a:off x="762120" y="609480"/>
              <a:ext cx="380160" cy="18360"/>
            </a:xfrm>
            <a:prstGeom prst="rect">
              <a:avLst/>
            </a:prstGeom>
            <a:solidFill>
              <a:srgbClr val="4fd1c5"/>
            </a:solidFill>
            <a:ln w="0">
              <a:noFill/>
            </a:ln>
          </p:spPr>
          <p:style>
            <a:lnRef idx="0"/>
            <a:fillRef idx="0"/>
            <a:effectRef idx="0"/>
            <a:fontRef idx="minor"/>
          </p:style>
          <p:txBody>
            <a:bodyPr lIns="90000" rIns="90000" tIns="-25920" bIns="-25920" anchor="t">
              <a:noAutofit/>
            </a:bodyPr>
            <a:p>
              <a:pPr>
                <a:lnSpc>
                  <a:spcPct val="100000"/>
                </a:lnSpc>
              </a:pPr>
              <a:endParaRPr b="0" lang="en-IN" sz="1800" spc="-1" strike="noStrike">
                <a:solidFill>
                  <a:srgbClr val="000000"/>
                </a:solidFill>
                <a:latin typeface="Arial"/>
              </a:endParaRPr>
            </a:p>
          </p:txBody>
        </p:sp>
        <p:sp>
          <p:nvSpPr>
            <p:cNvPr id="358" name="TextBox 4"/>
            <p:cNvSpPr/>
            <p:nvPr/>
          </p:nvSpPr>
          <p:spPr>
            <a:xfrm>
              <a:off x="1239840" y="556200"/>
              <a:ext cx="158004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TRAINING STRATEGY</a:t>
              </a:r>
              <a:endParaRPr b="0" lang="en-IN" sz="1200" spc="-1" strike="noStrike">
                <a:solidFill>
                  <a:srgbClr val="000000"/>
                </a:solidFill>
                <a:latin typeface="Arial"/>
              </a:endParaRPr>
            </a:p>
          </p:txBody>
        </p:sp>
        <p:sp>
          <p:nvSpPr>
            <p:cNvPr id="359" name="TextBox 5"/>
            <p:cNvSpPr/>
            <p:nvPr/>
          </p:nvSpPr>
          <p:spPr>
            <a:xfrm>
              <a:off x="9929160" y="556200"/>
              <a:ext cx="1415160" cy="1828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200" spc="-1" strike="noStrike">
                  <a:solidFill>
                    <a:srgbClr val="8a8a93"/>
                  </a:solidFill>
                  <a:latin typeface="Arial"/>
                  <a:ea typeface="Microsoft YaHei"/>
                </a:rPr>
                <a:t>Domain-Robust SER</a:t>
              </a:r>
              <a:endParaRPr b="0" lang="en-IN" sz="1200" spc="-1" strike="noStrike">
                <a:solidFill>
                  <a:srgbClr val="000000"/>
                </a:solidFill>
                <a:latin typeface="Arial"/>
              </a:endParaRPr>
            </a:p>
          </p:txBody>
        </p:sp>
        <p:sp>
          <p:nvSpPr>
            <p:cNvPr id="360" name="TextBox 6"/>
            <p:cNvSpPr/>
            <p:nvPr/>
          </p:nvSpPr>
          <p:spPr>
            <a:xfrm>
              <a:off x="1609200" y="876240"/>
              <a:ext cx="7068960" cy="4572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000" spc="-1" strike="noStrike">
                  <a:solidFill>
                    <a:srgbClr val="f4f4f5"/>
                  </a:solidFill>
                  <a:latin typeface="Arial"/>
                  <a:ea typeface="Microsoft YaHei"/>
                </a:rPr>
                <a:t>Joint Optimization for Robust Learning</a:t>
              </a:r>
              <a:endParaRPr b="0" lang="en-IN" sz="3000" spc="-1" strike="noStrike">
                <a:solidFill>
                  <a:srgbClr val="000000"/>
                </a:solidFill>
                <a:latin typeface="Arial"/>
              </a:endParaRPr>
            </a:p>
          </p:txBody>
        </p:sp>
        <p:sp>
          <p:nvSpPr>
            <p:cNvPr id="361" name="Line 7"/>
            <p:cNvSpPr/>
            <p:nvPr/>
          </p:nvSpPr>
          <p:spPr>
            <a:xfrm>
              <a:off x="762120" y="142884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362" name="Group 20"/>
          <p:cNvGrpSpPr/>
          <p:nvPr/>
        </p:nvGrpSpPr>
        <p:grpSpPr>
          <a:xfrm>
            <a:off x="749160" y="1707480"/>
            <a:ext cx="10680120" cy="2006640"/>
            <a:chOff x="749160" y="1707480"/>
            <a:chExt cx="10680120" cy="2006640"/>
          </a:xfrm>
        </p:grpSpPr>
        <p:sp>
          <p:nvSpPr>
            <p:cNvPr id="363" name="TextBox 9"/>
            <p:cNvSpPr/>
            <p:nvPr/>
          </p:nvSpPr>
          <p:spPr>
            <a:xfrm>
              <a:off x="749160" y="1707480"/>
              <a:ext cx="221832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TWO INTEGRATED OBJECTIVES</a:t>
              </a:r>
              <a:endParaRPr b="0" lang="en-IN" sz="1130" spc="-1" strike="noStrike">
                <a:solidFill>
                  <a:srgbClr val="000000"/>
                </a:solidFill>
                <a:latin typeface="Arial"/>
              </a:endParaRPr>
            </a:p>
          </p:txBody>
        </p:sp>
        <p:grpSp>
          <p:nvGrpSpPr>
            <p:cNvPr id="364" name="Group 14"/>
            <p:cNvGrpSpPr/>
            <p:nvPr/>
          </p:nvGrpSpPr>
          <p:grpSpPr>
            <a:xfrm>
              <a:off x="762120" y="2038320"/>
              <a:ext cx="4190400" cy="1675800"/>
              <a:chOff x="762120" y="2038320"/>
              <a:chExt cx="4190400" cy="1675800"/>
            </a:xfrm>
          </p:grpSpPr>
          <p:sp>
            <p:nvSpPr>
              <p:cNvPr id="365" name="Freeform 10"/>
              <p:cNvSpPr/>
              <p:nvPr/>
            </p:nvSpPr>
            <p:spPr>
              <a:xfrm>
                <a:off x="762120" y="2038320"/>
                <a:ext cx="4190400" cy="1675800"/>
              </a:xfrm>
              <a:custGeom>
                <a:avLst/>
                <a:gdLst>
                  <a:gd name="textAreaLeft" fmla="*/ 0 w 4190400"/>
                  <a:gd name="textAreaRight" fmla="*/ 4191120 w 4190400"/>
                  <a:gd name="textAreaTop" fmla="*/ 0 h 1675800"/>
                  <a:gd name="textAreaBottom" fmla="*/ 1676520 h 1675800"/>
                </a:gdLst>
                <a:ahLst/>
                <a:rect l="textAreaLeft" t="textAreaTop" r="textAreaRight" b="textAreaBottom"/>
                <a:pathLst>
                  <a:path w="4191000" h="1676400">
                    <a:moveTo>
                      <a:pt x="57150" y="0"/>
                    </a:moveTo>
                    <a:lnTo>
                      <a:pt x="4133850" y="0"/>
                    </a:lnTo>
                    <a:cubicBezTo>
                      <a:pt x="4165413" y="0"/>
                      <a:pt x="4191000" y="25587"/>
                      <a:pt x="4191000" y="57150"/>
                    </a:cubicBezTo>
                    <a:lnTo>
                      <a:pt x="4191000" y="1619250"/>
                    </a:lnTo>
                    <a:cubicBezTo>
                      <a:pt x="4191000" y="1650813"/>
                      <a:pt x="4165413" y="1676400"/>
                      <a:pt x="4133850" y="1676400"/>
                    </a:cubicBezTo>
                    <a:lnTo>
                      <a:pt x="57150" y="1676400"/>
                    </a:lnTo>
                    <a:cubicBezTo>
                      <a:pt x="25587" y="1676400"/>
                      <a:pt x="0" y="1650813"/>
                      <a:pt x="0" y="16192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66" name="TextBox 11"/>
              <p:cNvSpPr/>
              <p:nvPr/>
            </p:nvSpPr>
            <p:spPr>
              <a:xfrm>
                <a:off x="1063080" y="2290680"/>
                <a:ext cx="689400" cy="343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2250" spc="-1" strike="noStrike">
                    <a:solidFill>
                      <a:srgbClr val="f4f4f5"/>
                    </a:solidFill>
                    <a:latin typeface="Consolas"/>
                    <a:ea typeface="Microsoft YaHei"/>
                  </a:rPr>
                  <a:t>L_CE</a:t>
                </a:r>
                <a:endParaRPr b="0" lang="en-IN" sz="2250" spc="-1" strike="noStrike">
                  <a:solidFill>
                    <a:srgbClr val="000000"/>
                  </a:solidFill>
                  <a:latin typeface="Arial"/>
                </a:endParaRPr>
              </a:p>
            </p:txBody>
          </p:sp>
          <p:sp>
            <p:nvSpPr>
              <p:cNvPr id="367" name="TextBox 12"/>
              <p:cNvSpPr/>
              <p:nvPr/>
            </p:nvSpPr>
            <p:spPr>
              <a:xfrm>
                <a:off x="1274760" y="2755440"/>
                <a:ext cx="183240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f4f4f5"/>
                    </a:solidFill>
                    <a:latin typeface="Arial"/>
                    <a:ea typeface="Microsoft YaHei"/>
                  </a:rPr>
                  <a:t>Cross-Entropy Loss</a:t>
                </a:r>
                <a:endParaRPr b="0" lang="en-IN" sz="1650" spc="-1" strike="noStrike">
                  <a:solidFill>
                    <a:srgbClr val="000000"/>
                  </a:solidFill>
                  <a:latin typeface="Arial"/>
                </a:endParaRPr>
              </a:p>
            </p:txBody>
          </p:sp>
          <p:sp>
            <p:nvSpPr>
              <p:cNvPr id="368" name="TextBox 13"/>
              <p:cNvSpPr/>
              <p:nvPr/>
            </p:nvSpPr>
            <p:spPr>
              <a:xfrm>
                <a:off x="1508760" y="3169080"/>
                <a:ext cx="2913120" cy="2055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350" spc="-1" strike="noStrike">
                    <a:solidFill>
                      <a:srgbClr val="8a8a93"/>
                    </a:solidFill>
                    <a:latin typeface="Arial"/>
                    <a:ea typeface="Microsoft YaHei"/>
                  </a:rPr>
                  <a:t>Ensures correct emotion classification.</a:t>
                </a:r>
                <a:endParaRPr b="0" lang="en-IN" sz="1350" spc="-1" strike="noStrike">
                  <a:solidFill>
                    <a:srgbClr val="000000"/>
                  </a:solidFill>
                  <a:latin typeface="Arial"/>
                </a:endParaRPr>
              </a:p>
            </p:txBody>
          </p:sp>
        </p:grpSp>
        <p:grpSp>
          <p:nvGrpSpPr>
            <p:cNvPr id="369" name="Group 19"/>
            <p:cNvGrpSpPr/>
            <p:nvPr/>
          </p:nvGrpSpPr>
          <p:grpSpPr>
            <a:xfrm>
              <a:off x="7238880" y="2038320"/>
              <a:ext cx="4190400" cy="1675800"/>
              <a:chOff x="7238880" y="2038320"/>
              <a:chExt cx="4190400" cy="1675800"/>
            </a:xfrm>
          </p:grpSpPr>
          <p:sp>
            <p:nvSpPr>
              <p:cNvPr id="370" name="Freeform 15"/>
              <p:cNvSpPr/>
              <p:nvPr/>
            </p:nvSpPr>
            <p:spPr>
              <a:xfrm>
                <a:off x="7238880" y="2038320"/>
                <a:ext cx="4190400" cy="1675800"/>
              </a:xfrm>
              <a:custGeom>
                <a:avLst/>
                <a:gdLst>
                  <a:gd name="textAreaLeft" fmla="*/ 0 w 4190400"/>
                  <a:gd name="textAreaRight" fmla="*/ 4191120 w 4190400"/>
                  <a:gd name="textAreaTop" fmla="*/ 0 h 1675800"/>
                  <a:gd name="textAreaBottom" fmla="*/ 1676520 h 1675800"/>
                </a:gdLst>
                <a:ahLst/>
                <a:rect l="textAreaLeft" t="textAreaTop" r="textAreaRight" b="textAreaBottom"/>
                <a:pathLst>
                  <a:path w="4191000" h="1676400">
                    <a:moveTo>
                      <a:pt x="57150" y="0"/>
                    </a:moveTo>
                    <a:lnTo>
                      <a:pt x="4133850" y="0"/>
                    </a:lnTo>
                    <a:cubicBezTo>
                      <a:pt x="4165413" y="0"/>
                      <a:pt x="4191000" y="25587"/>
                      <a:pt x="4191000" y="57150"/>
                    </a:cubicBezTo>
                    <a:lnTo>
                      <a:pt x="4191000" y="1619250"/>
                    </a:lnTo>
                    <a:cubicBezTo>
                      <a:pt x="4191000" y="1650813"/>
                      <a:pt x="4165413" y="1676400"/>
                      <a:pt x="4133850" y="1676400"/>
                    </a:cubicBezTo>
                    <a:lnTo>
                      <a:pt x="57150" y="1676400"/>
                    </a:lnTo>
                    <a:cubicBezTo>
                      <a:pt x="25587" y="1676400"/>
                      <a:pt x="0" y="1650813"/>
                      <a:pt x="0" y="1619250"/>
                    </a:cubicBezTo>
                    <a:lnTo>
                      <a:pt x="0" y="57150"/>
                    </a:lnTo>
                    <a:cubicBezTo>
                      <a:pt x="0" y="25587"/>
                      <a:pt x="25587" y="0"/>
                      <a:pt x="57150" y="0"/>
                    </a:cubicBezTo>
                    <a:close/>
                  </a:path>
                </a:pathLst>
              </a:custGeom>
              <a:solidFill>
                <a:srgbClr val="151517"/>
              </a:solidFill>
              <a:ln w="14288">
                <a:solidFill>
                  <a:srgbClr val="4fd1c5"/>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71" name="TextBox 16"/>
              <p:cNvSpPr/>
              <p:nvPr/>
            </p:nvSpPr>
            <p:spPr>
              <a:xfrm>
                <a:off x="7574400" y="2290680"/>
                <a:ext cx="1379880" cy="343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2250" spc="-1" strike="noStrike">
                    <a:solidFill>
                      <a:srgbClr val="4fd1c5"/>
                    </a:solidFill>
                    <a:latin typeface="Consolas"/>
                    <a:ea typeface="Microsoft YaHei"/>
                  </a:rPr>
                  <a:t>L_SupCon</a:t>
                </a:r>
                <a:endParaRPr b="0" lang="en-IN" sz="2250" spc="-1" strike="noStrike">
                  <a:solidFill>
                    <a:srgbClr val="000000"/>
                  </a:solidFill>
                  <a:latin typeface="Arial"/>
                </a:endParaRPr>
              </a:p>
            </p:txBody>
          </p:sp>
          <p:sp>
            <p:nvSpPr>
              <p:cNvPr id="372" name="TextBox 17"/>
              <p:cNvSpPr/>
              <p:nvPr/>
            </p:nvSpPr>
            <p:spPr>
              <a:xfrm>
                <a:off x="7845480" y="2755440"/>
                <a:ext cx="265716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650" spc="-1" strike="noStrike">
                    <a:solidFill>
                      <a:srgbClr val="f4f4f5"/>
                    </a:solidFill>
                    <a:latin typeface="Arial"/>
                    <a:ea typeface="Microsoft YaHei"/>
                  </a:rPr>
                  <a:t>Supervised Contrastive Loss</a:t>
                </a:r>
                <a:endParaRPr b="0" lang="en-IN" sz="1650" spc="-1" strike="noStrike">
                  <a:solidFill>
                    <a:srgbClr val="000000"/>
                  </a:solidFill>
                  <a:latin typeface="Arial"/>
                </a:endParaRPr>
              </a:p>
            </p:txBody>
          </p:sp>
          <p:sp>
            <p:nvSpPr>
              <p:cNvPr id="373" name="TextBox 18"/>
              <p:cNvSpPr/>
              <p:nvPr/>
            </p:nvSpPr>
            <p:spPr>
              <a:xfrm>
                <a:off x="7983000" y="3169080"/>
                <a:ext cx="2751480" cy="2055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350" spc="-1" strike="noStrike">
                    <a:solidFill>
                      <a:srgbClr val="8a8a93"/>
                    </a:solidFill>
                    <a:latin typeface="Arial"/>
                    <a:ea typeface="Microsoft YaHei"/>
                  </a:rPr>
                  <a:t>Structures the representation space.</a:t>
                </a:r>
                <a:endParaRPr b="0" lang="en-IN" sz="1350" spc="-1" strike="noStrike">
                  <a:solidFill>
                    <a:srgbClr val="000000"/>
                  </a:solidFill>
                  <a:latin typeface="Arial"/>
                </a:endParaRPr>
              </a:p>
            </p:txBody>
          </p:sp>
        </p:grpSp>
      </p:grpSp>
      <p:grpSp>
        <p:nvGrpSpPr>
          <p:cNvPr id="374" name="Group 23"/>
          <p:cNvGrpSpPr/>
          <p:nvPr/>
        </p:nvGrpSpPr>
        <p:grpSpPr>
          <a:xfrm>
            <a:off x="2857320" y="3714480"/>
            <a:ext cx="6477120" cy="362160"/>
            <a:chOff x="2857320" y="3714480"/>
            <a:chExt cx="6477120" cy="362160"/>
          </a:xfrm>
        </p:grpSpPr>
        <p:sp>
          <p:nvSpPr>
            <p:cNvPr id="375" name="Line 21"/>
            <p:cNvSpPr/>
            <p:nvPr/>
          </p:nvSpPr>
          <p:spPr>
            <a:xfrm>
              <a:off x="2857320" y="3714480"/>
              <a:ext cx="2019240" cy="362160"/>
            </a:xfrm>
            <a:prstGeom prst="line">
              <a:avLst/>
            </a:prstGeom>
            <a:ln w="14288">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sp>
          <p:nvSpPr>
            <p:cNvPr id="376" name="Line 22"/>
            <p:cNvSpPr/>
            <p:nvPr/>
          </p:nvSpPr>
          <p:spPr>
            <a:xfrm flipH="1">
              <a:off x="7315200" y="3714480"/>
              <a:ext cx="2019240" cy="362160"/>
            </a:xfrm>
            <a:prstGeom prst="line">
              <a:avLst/>
            </a:prstGeom>
            <a:ln w="14288">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grpSp>
        <p:nvGrpSpPr>
          <p:cNvPr id="377" name="Group 26"/>
          <p:cNvGrpSpPr/>
          <p:nvPr/>
        </p:nvGrpSpPr>
        <p:grpSpPr>
          <a:xfrm>
            <a:off x="4762440" y="4133880"/>
            <a:ext cx="2666160" cy="627840"/>
            <a:chOff x="4762440" y="4133880"/>
            <a:chExt cx="2666160" cy="627840"/>
          </a:xfrm>
        </p:grpSpPr>
        <p:sp>
          <p:nvSpPr>
            <p:cNvPr id="378" name="Freeform 24"/>
            <p:cNvSpPr/>
            <p:nvPr/>
          </p:nvSpPr>
          <p:spPr>
            <a:xfrm>
              <a:off x="4762440" y="4133880"/>
              <a:ext cx="2666160" cy="627840"/>
            </a:xfrm>
            <a:custGeom>
              <a:avLst/>
              <a:gdLst>
                <a:gd name="textAreaLeft" fmla="*/ 0 w 2666160"/>
                <a:gd name="textAreaRight" fmla="*/ 2666880 w 2666160"/>
                <a:gd name="textAreaTop" fmla="*/ 0 h 627840"/>
                <a:gd name="textAreaBottom" fmla="*/ 628560 h 627840"/>
              </a:gdLst>
              <a:ahLst/>
              <a:rect l="textAreaLeft" t="textAreaTop" r="textAreaRight" b="textAreaBottom"/>
              <a:pathLst>
                <a:path w="2667000" h="628650">
                  <a:moveTo>
                    <a:pt x="57150" y="0"/>
                  </a:moveTo>
                  <a:lnTo>
                    <a:pt x="2609850" y="0"/>
                  </a:lnTo>
                  <a:cubicBezTo>
                    <a:pt x="2641413" y="0"/>
                    <a:pt x="2667000" y="25587"/>
                    <a:pt x="2667000" y="57150"/>
                  </a:cubicBezTo>
                  <a:lnTo>
                    <a:pt x="2667000" y="571500"/>
                  </a:lnTo>
                  <a:cubicBezTo>
                    <a:pt x="2667000" y="603063"/>
                    <a:pt x="2641413" y="628650"/>
                    <a:pt x="2609850" y="628650"/>
                  </a:cubicBezTo>
                  <a:lnTo>
                    <a:pt x="57150" y="628650"/>
                  </a:lnTo>
                  <a:cubicBezTo>
                    <a:pt x="25587" y="628650"/>
                    <a:pt x="0" y="603063"/>
                    <a:pt x="0" y="571500"/>
                  </a:cubicBezTo>
                  <a:lnTo>
                    <a:pt x="0" y="57150"/>
                  </a:lnTo>
                  <a:cubicBezTo>
                    <a:pt x="0" y="25587"/>
                    <a:pt x="25587" y="0"/>
                    <a:pt x="57150" y="0"/>
                  </a:cubicBezTo>
                  <a:close/>
                </a:path>
              </a:pathLst>
            </a:custGeom>
            <a:solidFill>
              <a:srgbClr val="151517"/>
            </a:solidFill>
            <a:ln w="19050">
              <a:solidFill>
                <a:srgbClr val="4fd1c5"/>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79" name="TextBox 25"/>
            <p:cNvSpPr/>
            <p:nvPr/>
          </p:nvSpPr>
          <p:spPr>
            <a:xfrm>
              <a:off x="5098320" y="4339440"/>
              <a:ext cx="1994040" cy="2743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1800" spc="-1" strike="noStrike">
                  <a:solidFill>
                    <a:srgbClr val="f4f4f5"/>
                  </a:solidFill>
                  <a:latin typeface="Arial"/>
                  <a:ea typeface="Microsoft YaHei"/>
                </a:rPr>
                <a:t>Joint Optimization</a:t>
              </a:r>
              <a:endParaRPr b="0" lang="en-IN" sz="1800" spc="-1" strike="noStrike">
                <a:solidFill>
                  <a:srgbClr val="000000"/>
                </a:solidFill>
                <a:latin typeface="Arial"/>
              </a:endParaRPr>
            </a:p>
          </p:txBody>
        </p:sp>
      </p:grpSp>
      <p:grpSp>
        <p:nvGrpSpPr>
          <p:cNvPr id="380" name="Group 30"/>
          <p:cNvGrpSpPr/>
          <p:nvPr/>
        </p:nvGrpSpPr>
        <p:grpSpPr>
          <a:xfrm>
            <a:off x="762120" y="5200560"/>
            <a:ext cx="10667160" cy="1185120"/>
            <a:chOff x="762120" y="5200560"/>
            <a:chExt cx="10667160" cy="1185120"/>
          </a:xfrm>
        </p:grpSpPr>
        <p:sp>
          <p:nvSpPr>
            <p:cNvPr id="381" name="Line 27"/>
            <p:cNvSpPr/>
            <p:nvPr/>
          </p:nvSpPr>
          <p:spPr>
            <a:xfrm>
              <a:off x="762120" y="520056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382" name="TextBox 28"/>
            <p:cNvSpPr/>
            <p:nvPr/>
          </p:nvSpPr>
          <p:spPr>
            <a:xfrm>
              <a:off x="3068280" y="5549400"/>
              <a:ext cx="6054120" cy="5029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1" lang="en-IN" sz="3300" spc="-1" strike="noStrike">
                  <a:solidFill>
                    <a:srgbClr val="f4f4f5"/>
                  </a:solidFill>
                  <a:latin typeface="Consolas"/>
                  <a:ea typeface="Microsoft YaHei"/>
                </a:rPr>
                <a:t>L_total =L_CE</a:t>
              </a:r>
              <a:r>
                <a:rPr b="1" lang="en-IN" sz="3300" spc="-1" strike="noStrike">
                  <a:solidFill>
                    <a:srgbClr val="8a8a93"/>
                  </a:solidFill>
                  <a:latin typeface="Consolas"/>
                  <a:ea typeface="Microsoft YaHei"/>
                </a:rPr>
                <a:t>+ λ</a:t>
              </a:r>
              <a:r>
                <a:rPr b="1" lang="en-IN" sz="3300" spc="-1" strike="noStrike">
                  <a:solidFill>
                    <a:srgbClr val="4fd1c5"/>
                  </a:solidFill>
                  <a:latin typeface="Consolas"/>
                  <a:ea typeface="Microsoft YaHei"/>
                </a:rPr>
                <a:t>L_SupCon</a:t>
              </a:r>
              <a:endParaRPr b="0" lang="en-IN" sz="3300" spc="-1" strike="noStrike">
                <a:solidFill>
                  <a:srgbClr val="000000"/>
                </a:solidFill>
                <a:latin typeface="Arial"/>
              </a:endParaRPr>
            </a:p>
          </p:txBody>
        </p:sp>
        <p:sp>
          <p:nvSpPr>
            <p:cNvPr id="383" name="TextBox 29"/>
            <p:cNvSpPr/>
            <p:nvPr/>
          </p:nvSpPr>
          <p:spPr>
            <a:xfrm>
              <a:off x="5614560" y="6111360"/>
              <a:ext cx="962640" cy="2743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800" spc="-1" strike="noStrike">
                  <a:solidFill>
                    <a:srgbClr val="4fd1c5"/>
                  </a:solidFill>
                  <a:latin typeface="Consolas"/>
                  <a:ea typeface="Microsoft YaHei"/>
                </a:rPr>
                <a:t>λ = 1.0</a:t>
              </a:r>
              <a:endParaRPr b="0" lang="en-IN" sz="1800" spc="-1" strike="noStrike">
                <a:solidFill>
                  <a:srgbClr val="000000"/>
                </a:solidFill>
                <a:latin typeface="Arial"/>
              </a:endParaRPr>
            </a:p>
          </p:txBody>
        </p:sp>
      </p:grpSp>
      <p:grpSp>
        <p:nvGrpSpPr>
          <p:cNvPr id="384" name="Group 33"/>
          <p:cNvGrpSpPr/>
          <p:nvPr/>
        </p:nvGrpSpPr>
        <p:grpSpPr>
          <a:xfrm>
            <a:off x="750240" y="6619320"/>
            <a:ext cx="10675440" cy="149040"/>
            <a:chOff x="750240" y="6619320"/>
            <a:chExt cx="10675440" cy="149040"/>
          </a:xfrm>
        </p:grpSpPr>
        <p:sp>
          <p:nvSpPr>
            <p:cNvPr id="385" name="TextBox 31"/>
            <p:cNvSpPr/>
            <p:nvPr/>
          </p:nvSpPr>
          <p:spPr>
            <a:xfrm>
              <a:off x="750240" y="6619320"/>
              <a:ext cx="2023200" cy="148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endParaRPr b="0" lang="en-IN" sz="1800" spc="-1" strike="noStrike">
                <a:solidFill>
                  <a:srgbClr val="000000"/>
                </a:solidFill>
                <a:latin typeface="Arial"/>
              </a:endParaRPr>
            </a:p>
          </p:txBody>
        </p:sp>
        <p:sp>
          <p:nvSpPr>
            <p:cNvPr id="386" name="TextBox 32"/>
            <p:cNvSpPr/>
            <p:nvPr/>
          </p:nvSpPr>
          <p:spPr>
            <a:xfrm>
              <a:off x="11276640" y="6619320"/>
              <a:ext cx="149040" cy="14904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980" spc="-1" strike="noStrike">
                  <a:solidFill>
                    <a:srgbClr val="5a5a62"/>
                  </a:solidFill>
                  <a:latin typeface="Consolas"/>
                  <a:ea typeface="Microsoft YaHei"/>
                </a:rPr>
                <a:t>07</a:t>
              </a:r>
              <a:endParaRPr b="0" lang="en-IN" sz="980" spc="-1" strike="noStrike">
                <a:solidFill>
                  <a:srgbClr val="000000"/>
                </a:solidFill>
                <a:latin typeface="Arial"/>
              </a:endParaRPr>
            </a:p>
          </p:txBody>
        </p:sp>
      </p:gr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Rectangle 2"/>
          <p:cNvSpPr/>
          <p:nvPr/>
        </p:nvSpPr>
        <p:spPr>
          <a:xfrm>
            <a:off x="0" y="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388" name="Group 8"/>
          <p:cNvGrpSpPr/>
          <p:nvPr/>
        </p:nvGrpSpPr>
        <p:grpSpPr>
          <a:xfrm>
            <a:off x="762120" y="556200"/>
            <a:ext cx="10667160" cy="881280"/>
            <a:chOff x="762120" y="556200"/>
            <a:chExt cx="10667160" cy="881280"/>
          </a:xfrm>
        </p:grpSpPr>
        <p:sp>
          <p:nvSpPr>
            <p:cNvPr id="389" name="Rectangle 3"/>
            <p:cNvSpPr/>
            <p:nvPr/>
          </p:nvSpPr>
          <p:spPr>
            <a:xfrm>
              <a:off x="762120" y="609480"/>
              <a:ext cx="380160" cy="18360"/>
            </a:xfrm>
            <a:prstGeom prst="rect">
              <a:avLst/>
            </a:prstGeom>
            <a:solidFill>
              <a:srgbClr val="4fd1c5"/>
            </a:solidFill>
            <a:ln w="0">
              <a:noFill/>
            </a:ln>
          </p:spPr>
          <p:style>
            <a:lnRef idx="0"/>
            <a:fillRef idx="0"/>
            <a:effectRef idx="0"/>
            <a:fontRef idx="minor"/>
          </p:style>
          <p:txBody>
            <a:bodyPr lIns="90000" rIns="90000" tIns="-25920" bIns="-25920" anchor="t">
              <a:noAutofit/>
            </a:bodyPr>
            <a:p>
              <a:pPr>
                <a:lnSpc>
                  <a:spcPct val="100000"/>
                </a:lnSpc>
              </a:pPr>
              <a:endParaRPr b="0" lang="en-IN" sz="1800" spc="-1" strike="noStrike">
                <a:solidFill>
                  <a:srgbClr val="000000"/>
                </a:solidFill>
                <a:latin typeface="Arial"/>
              </a:endParaRPr>
            </a:p>
          </p:txBody>
        </p:sp>
        <p:sp>
          <p:nvSpPr>
            <p:cNvPr id="390" name="TextBox 4"/>
            <p:cNvSpPr/>
            <p:nvPr/>
          </p:nvSpPr>
          <p:spPr>
            <a:xfrm>
              <a:off x="1294560" y="556200"/>
              <a:ext cx="15048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DATA &amp; EVALUATION</a:t>
              </a:r>
              <a:endParaRPr b="0" lang="en-IN" sz="1200" spc="-1" strike="noStrike">
                <a:solidFill>
                  <a:srgbClr val="000000"/>
                </a:solidFill>
                <a:latin typeface="Arial"/>
              </a:endParaRPr>
            </a:p>
          </p:txBody>
        </p:sp>
        <p:sp>
          <p:nvSpPr>
            <p:cNvPr id="391" name="TextBox 5"/>
            <p:cNvSpPr/>
            <p:nvPr/>
          </p:nvSpPr>
          <p:spPr>
            <a:xfrm>
              <a:off x="9929160" y="556200"/>
              <a:ext cx="1415160" cy="1828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200" spc="-1" strike="noStrike">
                  <a:solidFill>
                    <a:srgbClr val="8a8a93"/>
                  </a:solidFill>
                  <a:latin typeface="Arial"/>
                  <a:ea typeface="Microsoft YaHei"/>
                </a:rPr>
                <a:t>Domain-Robust SER</a:t>
              </a:r>
              <a:endParaRPr b="0" lang="en-IN" sz="1200" spc="-1" strike="noStrike">
                <a:solidFill>
                  <a:srgbClr val="000000"/>
                </a:solidFill>
                <a:latin typeface="Arial"/>
              </a:endParaRPr>
            </a:p>
          </p:txBody>
        </p:sp>
        <p:sp>
          <p:nvSpPr>
            <p:cNvPr id="392" name="TextBox 6"/>
            <p:cNvSpPr/>
            <p:nvPr/>
          </p:nvSpPr>
          <p:spPr>
            <a:xfrm>
              <a:off x="1505520" y="876240"/>
              <a:ext cx="6034320" cy="4572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000" spc="-1" strike="noStrike">
                  <a:solidFill>
                    <a:srgbClr val="f4f4f5"/>
                  </a:solidFill>
                  <a:latin typeface="Arial"/>
                  <a:ea typeface="Microsoft YaHei"/>
                </a:rPr>
                <a:t>Datasets and Evaluation Strategy</a:t>
              </a:r>
              <a:endParaRPr b="0" lang="en-IN" sz="3000" spc="-1" strike="noStrike">
                <a:solidFill>
                  <a:srgbClr val="000000"/>
                </a:solidFill>
                <a:latin typeface="Arial"/>
              </a:endParaRPr>
            </a:p>
          </p:txBody>
        </p:sp>
        <p:sp>
          <p:nvSpPr>
            <p:cNvPr id="393" name="Line 7"/>
            <p:cNvSpPr/>
            <p:nvPr/>
          </p:nvSpPr>
          <p:spPr>
            <a:xfrm>
              <a:off x="762120" y="142884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394" name="Group 27"/>
          <p:cNvGrpSpPr/>
          <p:nvPr/>
        </p:nvGrpSpPr>
        <p:grpSpPr>
          <a:xfrm>
            <a:off x="730440" y="1612080"/>
            <a:ext cx="10698840" cy="1645200"/>
            <a:chOff x="730440" y="1612080"/>
            <a:chExt cx="10698840" cy="1645200"/>
          </a:xfrm>
        </p:grpSpPr>
        <p:sp>
          <p:nvSpPr>
            <p:cNvPr id="395" name="TextBox 9"/>
            <p:cNvSpPr/>
            <p:nvPr/>
          </p:nvSpPr>
          <p:spPr>
            <a:xfrm>
              <a:off x="730440" y="1612080"/>
              <a:ext cx="158292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THREE SER CORPORA</a:t>
              </a:r>
              <a:endParaRPr b="0" lang="en-IN" sz="1130" spc="-1" strike="noStrike">
                <a:solidFill>
                  <a:srgbClr val="000000"/>
                </a:solidFill>
                <a:latin typeface="Arial"/>
              </a:endParaRPr>
            </a:p>
          </p:txBody>
        </p:sp>
        <p:grpSp>
          <p:nvGrpSpPr>
            <p:cNvPr id="396" name="Group 13"/>
            <p:cNvGrpSpPr/>
            <p:nvPr/>
          </p:nvGrpSpPr>
          <p:grpSpPr>
            <a:xfrm>
              <a:off x="762120" y="1886040"/>
              <a:ext cx="3247200" cy="990000"/>
              <a:chOff x="762120" y="1886040"/>
              <a:chExt cx="3247200" cy="990000"/>
            </a:xfrm>
          </p:grpSpPr>
          <p:sp>
            <p:nvSpPr>
              <p:cNvPr id="397" name="Freeform 10"/>
              <p:cNvSpPr/>
              <p:nvPr/>
            </p:nvSpPr>
            <p:spPr>
              <a:xfrm>
                <a:off x="762120" y="1886040"/>
                <a:ext cx="3247200" cy="990000"/>
              </a:xfrm>
              <a:custGeom>
                <a:avLst/>
                <a:gdLst>
                  <a:gd name="textAreaLeft" fmla="*/ 0 w 3247200"/>
                  <a:gd name="textAreaRight" fmla="*/ 3247920 w 3247200"/>
                  <a:gd name="textAreaTop" fmla="*/ 0 h 990000"/>
                  <a:gd name="textAreaBottom" fmla="*/ 990720 h 990000"/>
                </a:gdLst>
                <a:ahLst/>
                <a:rect l="textAreaLeft" t="textAreaTop" r="textAreaRight" b="textAreaBottom"/>
                <a:pathLst>
                  <a:path w="3248025" h="990600">
                    <a:moveTo>
                      <a:pt x="57150" y="0"/>
                    </a:moveTo>
                    <a:lnTo>
                      <a:pt x="3190875" y="0"/>
                    </a:lnTo>
                    <a:cubicBezTo>
                      <a:pt x="3222438" y="0"/>
                      <a:pt x="3248025" y="25587"/>
                      <a:pt x="3248025" y="57150"/>
                    </a:cubicBezTo>
                    <a:lnTo>
                      <a:pt x="3248025" y="933450"/>
                    </a:lnTo>
                    <a:cubicBezTo>
                      <a:pt x="3248025" y="965013"/>
                      <a:pt x="3222438" y="990600"/>
                      <a:pt x="3190875" y="990600"/>
                    </a:cubicBezTo>
                    <a:lnTo>
                      <a:pt x="57150" y="990600"/>
                    </a:lnTo>
                    <a:cubicBezTo>
                      <a:pt x="25587" y="990600"/>
                      <a:pt x="0" y="965013"/>
                      <a:pt x="0" y="9334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398" name="TextBox 11"/>
              <p:cNvSpPr/>
              <p:nvPr/>
            </p:nvSpPr>
            <p:spPr>
              <a:xfrm>
                <a:off x="1008360" y="2091600"/>
                <a:ext cx="1067400" cy="27432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800" spc="-1" strike="noStrike">
                    <a:solidFill>
                      <a:srgbClr val="f4f4f5"/>
                    </a:solidFill>
                    <a:latin typeface="Arial"/>
                    <a:ea typeface="Microsoft YaHei"/>
                  </a:rPr>
                  <a:t>IEMOCAP</a:t>
                </a:r>
                <a:endParaRPr b="0" lang="en-IN" sz="1800" spc="-1" strike="noStrike">
                  <a:solidFill>
                    <a:srgbClr val="000000"/>
                  </a:solidFill>
                  <a:latin typeface="Arial"/>
                </a:endParaRPr>
              </a:p>
            </p:txBody>
          </p:sp>
          <p:sp>
            <p:nvSpPr>
              <p:cNvPr id="399" name="TextBox 12"/>
              <p:cNvSpPr/>
              <p:nvPr/>
            </p:nvSpPr>
            <p:spPr>
              <a:xfrm>
                <a:off x="1246680" y="2461320"/>
                <a:ext cx="21510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Dyadic emotional conversations</a:t>
                </a:r>
                <a:endParaRPr b="0" lang="en-IN" sz="1200" spc="-1" strike="noStrike">
                  <a:solidFill>
                    <a:srgbClr val="000000"/>
                  </a:solidFill>
                  <a:latin typeface="Arial"/>
                </a:endParaRPr>
              </a:p>
            </p:txBody>
          </p:sp>
        </p:grpSp>
        <p:grpSp>
          <p:nvGrpSpPr>
            <p:cNvPr id="400" name="Group 17"/>
            <p:cNvGrpSpPr/>
            <p:nvPr/>
          </p:nvGrpSpPr>
          <p:grpSpPr>
            <a:xfrm>
              <a:off x="4467240" y="1886040"/>
              <a:ext cx="3247200" cy="990000"/>
              <a:chOff x="4467240" y="1886040"/>
              <a:chExt cx="3247200" cy="990000"/>
            </a:xfrm>
          </p:grpSpPr>
          <p:sp>
            <p:nvSpPr>
              <p:cNvPr id="401" name="Freeform 14"/>
              <p:cNvSpPr/>
              <p:nvPr/>
            </p:nvSpPr>
            <p:spPr>
              <a:xfrm>
                <a:off x="4467240" y="1886040"/>
                <a:ext cx="3247200" cy="990000"/>
              </a:xfrm>
              <a:custGeom>
                <a:avLst/>
                <a:gdLst>
                  <a:gd name="textAreaLeft" fmla="*/ 0 w 3247200"/>
                  <a:gd name="textAreaRight" fmla="*/ 3247920 w 3247200"/>
                  <a:gd name="textAreaTop" fmla="*/ 0 h 990000"/>
                  <a:gd name="textAreaBottom" fmla="*/ 990720 h 990000"/>
                </a:gdLst>
                <a:ahLst/>
                <a:rect l="textAreaLeft" t="textAreaTop" r="textAreaRight" b="textAreaBottom"/>
                <a:pathLst>
                  <a:path w="3248025" h="990600">
                    <a:moveTo>
                      <a:pt x="57150" y="0"/>
                    </a:moveTo>
                    <a:lnTo>
                      <a:pt x="3190875" y="0"/>
                    </a:lnTo>
                    <a:cubicBezTo>
                      <a:pt x="3222438" y="0"/>
                      <a:pt x="3248025" y="25587"/>
                      <a:pt x="3248025" y="57150"/>
                    </a:cubicBezTo>
                    <a:lnTo>
                      <a:pt x="3248025" y="933450"/>
                    </a:lnTo>
                    <a:cubicBezTo>
                      <a:pt x="3248025" y="965013"/>
                      <a:pt x="3222438" y="990600"/>
                      <a:pt x="3190875" y="990600"/>
                    </a:cubicBezTo>
                    <a:lnTo>
                      <a:pt x="57150" y="990600"/>
                    </a:lnTo>
                    <a:cubicBezTo>
                      <a:pt x="25587" y="990600"/>
                      <a:pt x="0" y="965013"/>
                      <a:pt x="0" y="9334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02" name="TextBox 15"/>
              <p:cNvSpPr/>
              <p:nvPr/>
            </p:nvSpPr>
            <p:spPr>
              <a:xfrm>
                <a:off x="4714200" y="2091600"/>
                <a:ext cx="1079640" cy="27432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800" spc="-1" strike="noStrike">
                    <a:solidFill>
                      <a:srgbClr val="f4f4f5"/>
                    </a:solidFill>
                    <a:latin typeface="Arial"/>
                    <a:ea typeface="Microsoft YaHei"/>
                  </a:rPr>
                  <a:t>CREMA-D</a:t>
                </a:r>
                <a:endParaRPr b="0" lang="en-IN" sz="1800" spc="-1" strike="noStrike">
                  <a:solidFill>
                    <a:srgbClr val="000000"/>
                  </a:solidFill>
                  <a:latin typeface="Arial"/>
                </a:endParaRPr>
              </a:p>
            </p:txBody>
          </p:sp>
          <p:sp>
            <p:nvSpPr>
              <p:cNvPr id="403" name="TextBox 16"/>
              <p:cNvSpPr/>
              <p:nvPr/>
            </p:nvSpPr>
            <p:spPr>
              <a:xfrm>
                <a:off x="4904640" y="2461320"/>
                <a:ext cx="143928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91 actors, 7,442 clips</a:t>
                </a:r>
                <a:endParaRPr b="0" lang="en-IN" sz="1200" spc="-1" strike="noStrike">
                  <a:solidFill>
                    <a:srgbClr val="000000"/>
                  </a:solidFill>
                  <a:latin typeface="Arial"/>
                </a:endParaRPr>
              </a:p>
            </p:txBody>
          </p:sp>
        </p:grpSp>
        <p:grpSp>
          <p:nvGrpSpPr>
            <p:cNvPr id="404" name="Group 21"/>
            <p:cNvGrpSpPr/>
            <p:nvPr/>
          </p:nvGrpSpPr>
          <p:grpSpPr>
            <a:xfrm>
              <a:off x="8172360" y="1886040"/>
              <a:ext cx="3256920" cy="990000"/>
              <a:chOff x="8172360" y="1886040"/>
              <a:chExt cx="3256920" cy="990000"/>
            </a:xfrm>
          </p:grpSpPr>
          <p:sp>
            <p:nvSpPr>
              <p:cNvPr id="405" name="Freeform 18"/>
              <p:cNvSpPr/>
              <p:nvPr/>
            </p:nvSpPr>
            <p:spPr>
              <a:xfrm>
                <a:off x="8172360" y="1886040"/>
                <a:ext cx="3256920" cy="990000"/>
              </a:xfrm>
              <a:custGeom>
                <a:avLst/>
                <a:gdLst>
                  <a:gd name="textAreaLeft" fmla="*/ 0 w 3256920"/>
                  <a:gd name="textAreaRight" fmla="*/ 3257640 w 3256920"/>
                  <a:gd name="textAreaTop" fmla="*/ 0 h 990000"/>
                  <a:gd name="textAreaBottom" fmla="*/ 990720 h 990000"/>
                </a:gdLst>
                <a:ahLst/>
                <a:rect l="textAreaLeft" t="textAreaTop" r="textAreaRight" b="textAreaBottom"/>
                <a:pathLst>
                  <a:path w="3257550" h="990600">
                    <a:moveTo>
                      <a:pt x="57150" y="0"/>
                    </a:moveTo>
                    <a:lnTo>
                      <a:pt x="3200400" y="0"/>
                    </a:lnTo>
                    <a:cubicBezTo>
                      <a:pt x="3231963" y="0"/>
                      <a:pt x="3257550" y="25587"/>
                      <a:pt x="3257550" y="57150"/>
                    </a:cubicBezTo>
                    <a:lnTo>
                      <a:pt x="3257550" y="933450"/>
                    </a:lnTo>
                    <a:cubicBezTo>
                      <a:pt x="3257550" y="965013"/>
                      <a:pt x="3231963" y="990600"/>
                      <a:pt x="3200400" y="990600"/>
                    </a:cubicBezTo>
                    <a:lnTo>
                      <a:pt x="57150" y="990600"/>
                    </a:lnTo>
                    <a:cubicBezTo>
                      <a:pt x="25587" y="990600"/>
                      <a:pt x="0" y="965013"/>
                      <a:pt x="0" y="9334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06" name="TextBox 19"/>
              <p:cNvSpPr/>
              <p:nvPr/>
            </p:nvSpPr>
            <p:spPr>
              <a:xfrm>
                <a:off x="8387640" y="2091600"/>
                <a:ext cx="1089000" cy="27432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800" spc="-1" strike="noStrike">
                    <a:solidFill>
                      <a:srgbClr val="f4f4f5"/>
                    </a:solidFill>
                    <a:latin typeface="Arial"/>
                    <a:ea typeface="Microsoft YaHei"/>
                  </a:rPr>
                  <a:t>RAVDESS</a:t>
                </a:r>
                <a:endParaRPr b="0" lang="en-IN" sz="1800" spc="-1" strike="noStrike">
                  <a:solidFill>
                    <a:srgbClr val="000000"/>
                  </a:solidFill>
                  <a:latin typeface="Arial"/>
                </a:endParaRPr>
              </a:p>
            </p:txBody>
          </p:sp>
          <p:sp>
            <p:nvSpPr>
              <p:cNvPr id="407" name="TextBox 20"/>
              <p:cNvSpPr/>
              <p:nvPr/>
            </p:nvSpPr>
            <p:spPr>
              <a:xfrm>
                <a:off x="8627760" y="2461320"/>
                <a:ext cx="149112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24 professional actors</a:t>
                </a:r>
                <a:endParaRPr b="0" lang="en-IN" sz="1200" spc="-1" strike="noStrike">
                  <a:solidFill>
                    <a:srgbClr val="000000"/>
                  </a:solidFill>
                  <a:latin typeface="Arial"/>
                </a:endParaRPr>
              </a:p>
            </p:txBody>
          </p:sp>
        </p:grpSp>
        <p:sp>
          <p:nvSpPr>
            <p:cNvPr id="408" name="Line 22"/>
            <p:cNvSpPr/>
            <p:nvPr/>
          </p:nvSpPr>
          <p:spPr>
            <a:xfrm>
              <a:off x="2381400" y="2876400"/>
              <a:ext cx="8640" cy="227880"/>
            </a:xfrm>
            <a:custGeom>
              <a:avLst/>
              <a:gdLst>
                <a:gd name="textAreaLeft" fmla="*/ 0 w 8640"/>
                <a:gd name="textAreaRight" fmla="*/ 9360 w 8640"/>
                <a:gd name="textAreaTop" fmla="*/ 0 h 227880"/>
                <a:gd name="textAreaBottom" fmla="*/ 228600 h 227880"/>
              </a:gdLst>
              <a:ahLst/>
              <a:rect l="textAreaLeft" t="textAreaTop" r="textAreaRight" b="textAreaBottom"/>
              <a:pathLst>
                <a:path w="9525" h="228600">
                  <a:moveTo>
                    <a:pt x="0" y="0"/>
                  </a:moveTo>
                  <a:lnTo>
                    <a:pt x="0" y="228600"/>
                  </a:lnTo>
                </a:path>
              </a:pathLst>
            </a:custGeom>
            <a:noFill/>
            <a:ln w="14288">
              <a:solidFill>
                <a:srgbClr val="5a5a62"/>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409" name="Line 23"/>
            <p:cNvSpPr/>
            <p:nvPr/>
          </p:nvSpPr>
          <p:spPr>
            <a:xfrm>
              <a:off x="6095880" y="2876400"/>
              <a:ext cx="8640" cy="227880"/>
            </a:xfrm>
            <a:custGeom>
              <a:avLst/>
              <a:gdLst>
                <a:gd name="textAreaLeft" fmla="*/ 0 w 8640"/>
                <a:gd name="textAreaRight" fmla="*/ 9360 w 8640"/>
                <a:gd name="textAreaTop" fmla="*/ 0 h 227880"/>
                <a:gd name="textAreaBottom" fmla="*/ 228600 h 227880"/>
              </a:gdLst>
              <a:ahLst/>
              <a:rect l="textAreaLeft" t="textAreaTop" r="textAreaRight" b="textAreaBottom"/>
              <a:pathLst>
                <a:path w="9525" h="228600">
                  <a:moveTo>
                    <a:pt x="0" y="0"/>
                  </a:moveTo>
                  <a:lnTo>
                    <a:pt x="0" y="228600"/>
                  </a:lnTo>
                </a:path>
              </a:pathLst>
            </a:custGeom>
            <a:noFill/>
            <a:ln w="14288">
              <a:solidFill>
                <a:srgbClr val="5a5a62"/>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410" name="Line 24"/>
            <p:cNvSpPr/>
            <p:nvPr/>
          </p:nvSpPr>
          <p:spPr>
            <a:xfrm>
              <a:off x="9810720" y="2876400"/>
              <a:ext cx="8640" cy="227880"/>
            </a:xfrm>
            <a:custGeom>
              <a:avLst/>
              <a:gdLst>
                <a:gd name="textAreaLeft" fmla="*/ 0 w 8640"/>
                <a:gd name="textAreaRight" fmla="*/ 9360 w 8640"/>
                <a:gd name="textAreaTop" fmla="*/ 0 h 227880"/>
                <a:gd name="textAreaBottom" fmla="*/ 228600 h 227880"/>
              </a:gdLst>
              <a:ahLst/>
              <a:rect l="textAreaLeft" t="textAreaTop" r="textAreaRight" b="textAreaBottom"/>
              <a:pathLst>
                <a:path w="9525" h="228600">
                  <a:moveTo>
                    <a:pt x="0" y="0"/>
                  </a:moveTo>
                  <a:lnTo>
                    <a:pt x="0" y="228600"/>
                  </a:lnTo>
                </a:path>
              </a:pathLst>
            </a:custGeom>
            <a:noFill/>
            <a:ln w="14288">
              <a:solidFill>
                <a:srgbClr val="5a5a62"/>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000000"/>
                </a:solidFill>
                <a:latin typeface="Arial"/>
              </a:endParaRPr>
            </a:p>
          </p:txBody>
        </p:sp>
        <p:sp>
          <p:nvSpPr>
            <p:cNvPr id="411" name="Line 25"/>
            <p:cNvSpPr/>
            <p:nvPr/>
          </p:nvSpPr>
          <p:spPr>
            <a:xfrm>
              <a:off x="2381400" y="3105000"/>
              <a:ext cx="7428960" cy="8640"/>
            </a:xfrm>
            <a:custGeom>
              <a:avLst/>
              <a:gdLst>
                <a:gd name="textAreaLeft" fmla="*/ 0 w 7428960"/>
                <a:gd name="textAreaRight" fmla="*/ 7429680 w 7428960"/>
                <a:gd name="textAreaTop" fmla="*/ 0 h 8640"/>
                <a:gd name="textAreaBottom" fmla="*/ 9360 h 8640"/>
              </a:gdLst>
              <a:ahLst/>
              <a:rect l="textAreaLeft" t="textAreaTop" r="textAreaRight" b="textAreaBottom"/>
              <a:pathLst>
                <a:path w="7429500" h="9525">
                  <a:moveTo>
                    <a:pt x="0" y="0"/>
                  </a:moveTo>
                  <a:lnTo>
                    <a:pt x="7429500" y="0"/>
                  </a:lnTo>
                </a:path>
              </a:pathLst>
            </a:custGeom>
            <a:noFill/>
            <a:ln w="14288">
              <a:solidFill>
                <a:srgbClr val="5a5a62"/>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412" name="Line 26"/>
            <p:cNvSpPr/>
            <p:nvPr/>
          </p:nvSpPr>
          <p:spPr>
            <a:xfrm>
              <a:off x="6095880" y="3105000"/>
              <a:ext cx="360" cy="152280"/>
            </a:xfrm>
            <a:prstGeom prst="line">
              <a:avLst/>
            </a:prstGeom>
            <a:ln w="14288">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grpSp>
        <p:nvGrpSpPr>
          <p:cNvPr id="413" name="Group 31"/>
          <p:cNvGrpSpPr/>
          <p:nvPr/>
        </p:nvGrpSpPr>
        <p:grpSpPr>
          <a:xfrm>
            <a:off x="762120" y="3295800"/>
            <a:ext cx="10667160" cy="437400"/>
            <a:chOff x="762120" y="3295800"/>
            <a:chExt cx="10667160" cy="437400"/>
          </a:xfrm>
        </p:grpSpPr>
        <p:sp>
          <p:nvSpPr>
            <p:cNvPr id="414" name="Freeform 28"/>
            <p:cNvSpPr/>
            <p:nvPr/>
          </p:nvSpPr>
          <p:spPr>
            <a:xfrm>
              <a:off x="762120" y="3295800"/>
              <a:ext cx="10667160" cy="437400"/>
            </a:xfrm>
            <a:custGeom>
              <a:avLst/>
              <a:gdLst>
                <a:gd name="textAreaLeft" fmla="*/ 0 w 10667160"/>
                <a:gd name="textAreaRight" fmla="*/ 10667880 w 10667160"/>
                <a:gd name="textAreaTop" fmla="*/ 0 h 437400"/>
                <a:gd name="textAreaBottom" fmla="*/ 438120 h 437400"/>
              </a:gdLst>
              <a:ahLst/>
              <a:rect l="textAreaLeft" t="textAreaTop" r="textAreaRight" b="textAreaBottom"/>
              <a:pathLst>
                <a:path w="10668000" h="438150">
                  <a:moveTo>
                    <a:pt x="57150" y="0"/>
                  </a:moveTo>
                  <a:lnTo>
                    <a:pt x="10610850" y="0"/>
                  </a:lnTo>
                  <a:cubicBezTo>
                    <a:pt x="10642413" y="0"/>
                    <a:pt x="10668000" y="25587"/>
                    <a:pt x="10668000" y="57150"/>
                  </a:cubicBezTo>
                  <a:lnTo>
                    <a:pt x="10668000" y="381000"/>
                  </a:lnTo>
                  <a:cubicBezTo>
                    <a:pt x="10668000" y="412563"/>
                    <a:pt x="10642413" y="438150"/>
                    <a:pt x="10610850" y="438150"/>
                  </a:cubicBezTo>
                  <a:lnTo>
                    <a:pt x="57150" y="438150"/>
                  </a:lnTo>
                  <a:cubicBezTo>
                    <a:pt x="25587" y="438150"/>
                    <a:pt x="0" y="412563"/>
                    <a:pt x="0" y="3810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15" name="TextBox 29"/>
            <p:cNvSpPr/>
            <p:nvPr/>
          </p:nvSpPr>
          <p:spPr>
            <a:xfrm>
              <a:off x="978480" y="3442320"/>
              <a:ext cx="6102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UNIFIED</a:t>
              </a:r>
              <a:endParaRPr b="0" lang="en-IN" sz="1200" spc="-1" strike="noStrike">
                <a:solidFill>
                  <a:srgbClr val="000000"/>
                </a:solidFill>
                <a:latin typeface="Arial"/>
              </a:endParaRPr>
            </a:p>
          </p:txBody>
        </p:sp>
        <p:sp>
          <p:nvSpPr>
            <p:cNvPr id="416" name="TextBox 30"/>
            <p:cNvSpPr/>
            <p:nvPr/>
          </p:nvSpPr>
          <p:spPr>
            <a:xfrm>
              <a:off x="2862000" y="3426120"/>
              <a:ext cx="3281760" cy="20556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350" spc="-1" strike="noStrike">
                  <a:solidFill>
                    <a:srgbClr val="d4d4d8"/>
                  </a:solidFill>
                  <a:latin typeface="Arial"/>
                  <a:ea typeface="Microsoft YaHei"/>
                </a:rPr>
                <a:t>angry · disgust · fear · happy · neutral · sad</a:t>
              </a:r>
              <a:endParaRPr b="0" lang="en-IN" sz="1350" spc="-1" strike="noStrike">
                <a:solidFill>
                  <a:srgbClr val="000000"/>
                </a:solidFill>
                <a:latin typeface="Arial"/>
              </a:endParaRPr>
            </a:p>
          </p:txBody>
        </p:sp>
      </p:grpSp>
      <p:grpSp>
        <p:nvGrpSpPr>
          <p:cNvPr id="417" name="Group 60"/>
          <p:cNvGrpSpPr/>
          <p:nvPr/>
        </p:nvGrpSpPr>
        <p:grpSpPr>
          <a:xfrm>
            <a:off x="741240" y="4038480"/>
            <a:ext cx="10688040" cy="2094840"/>
            <a:chOff x="741240" y="4038480"/>
            <a:chExt cx="10688040" cy="2094840"/>
          </a:xfrm>
        </p:grpSpPr>
        <p:sp>
          <p:nvSpPr>
            <p:cNvPr id="418" name="Line 32"/>
            <p:cNvSpPr/>
            <p:nvPr/>
          </p:nvSpPr>
          <p:spPr>
            <a:xfrm>
              <a:off x="762120" y="403848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419" name="TextBox 33"/>
            <p:cNvSpPr/>
            <p:nvPr/>
          </p:nvSpPr>
          <p:spPr>
            <a:xfrm>
              <a:off x="781200" y="4222080"/>
              <a:ext cx="172728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EVALUATION PROTOCOL</a:t>
              </a:r>
              <a:endParaRPr b="0" lang="en-IN" sz="1130" spc="-1" strike="noStrike">
                <a:solidFill>
                  <a:srgbClr val="000000"/>
                </a:solidFill>
                <a:latin typeface="Arial"/>
              </a:endParaRPr>
            </a:p>
          </p:txBody>
        </p:sp>
        <p:grpSp>
          <p:nvGrpSpPr>
            <p:cNvPr id="420" name="Group 37"/>
            <p:cNvGrpSpPr/>
            <p:nvPr/>
          </p:nvGrpSpPr>
          <p:grpSpPr>
            <a:xfrm>
              <a:off x="741240" y="4568040"/>
              <a:ext cx="4706280" cy="514440"/>
              <a:chOff x="741240" y="4568040"/>
              <a:chExt cx="4706280" cy="514440"/>
            </a:xfrm>
          </p:grpSpPr>
          <p:sp>
            <p:nvSpPr>
              <p:cNvPr id="421" name="TextBox 34"/>
              <p:cNvSpPr/>
              <p:nvPr/>
            </p:nvSpPr>
            <p:spPr>
              <a:xfrm>
                <a:off x="741240" y="4568040"/>
                <a:ext cx="275040" cy="27432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800" spc="-1" strike="noStrike">
                    <a:solidFill>
                      <a:srgbClr val="4fd1c5"/>
                    </a:solidFill>
                    <a:latin typeface="Consolas"/>
                    <a:ea typeface="Microsoft YaHei"/>
                  </a:rPr>
                  <a:t>01</a:t>
                </a:r>
                <a:endParaRPr b="0" lang="en-IN" sz="1800" spc="-1" strike="noStrike">
                  <a:solidFill>
                    <a:srgbClr val="000000"/>
                  </a:solidFill>
                  <a:latin typeface="Arial"/>
                </a:endParaRPr>
              </a:p>
            </p:txBody>
          </p:sp>
          <p:sp>
            <p:nvSpPr>
              <p:cNvPr id="422" name="TextBox 35"/>
              <p:cNvSpPr/>
              <p:nvPr/>
            </p:nvSpPr>
            <p:spPr>
              <a:xfrm>
                <a:off x="1411200" y="4584240"/>
                <a:ext cx="102024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650" spc="-1" strike="noStrike">
                    <a:solidFill>
                      <a:srgbClr val="f4f4f5"/>
                    </a:solidFill>
                    <a:latin typeface="Arial"/>
                    <a:ea typeface="Microsoft YaHei"/>
                  </a:rPr>
                  <a:t>In-Domain</a:t>
                </a:r>
                <a:endParaRPr b="0" lang="en-IN" sz="1650" spc="-1" strike="noStrike">
                  <a:solidFill>
                    <a:srgbClr val="000000"/>
                  </a:solidFill>
                  <a:latin typeface="Arial"/>
                </a:endParaRPr>
              </a:p>
            </p:txBody>
          </p:sp>
          <p:sp>
            <p:nvSpPr>
              <p:cNvPr id="423" name="TextBox 36"/>
              <p:cNvSpPr/>
              <p:nvPr/>
            </p:nvSpPr>
            <p:spPr>
              <a:xfrm>
                <a:off x="1880640" y="4899600"/>
                <a:ext cx="356688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Speaker-independent splits within the corpus setting.</a:t>
                </a:r>
                <a:endParaRPr b="0" lang="en-IN" sz="1200" spc="-1" strike="noStrike">
                  <a:solidFill>
                    <a:srgbClr val="000000"/>
                  </a:solidFill>
                  <a:latin typeface="Arial"/>
                </a:endParaRPr>
              </a:p>
            </p:txBody>
          </p:sp>
        </p:grpSp>
        <p:grpSp>
          <p:nvGrpSpPr>
            <p:cNvPr id="424" name="Group 41"/>
            <p:cNvGrpSpPr/>
            <p:nvPr/>
          </p:nvGrpSpPr>
          <p:grpSpPr>
            <a:xfrm>
              <a:off x="6681240" y="4568040"/>
              <a:ext cx="4495320" cy="514440"/>
              <a:chOff x="6681240" y="4568040"/>
              <a:chExt cx="4495320" cy="514440"/>
            </a:xfrm>
          </p:grpSpPr>
          <p:sp>
            <p:nvSpPr>
              <p:cNvPr id="425" name="TextBox 38"/>
              <p:cNvSpPr/>
              <p:nvPr/>
            </p:nvSpPr>
            <p:spPr>
              <a:xfrm>
                <a:off x="6681240" y="4568040"/>
                <a:ext cx="275040" cy="27432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800" spc="-1" strike="noStrike">
                    <a:solidFill>
                      <a:srgbClr val="4fd1c5"/>
                    </a:solidFill>
                    <a:latin typeface="Consolas"/>
                    <a:ea typeface="Microsoft YaHei"/>
                  </a:rPr>
                  <a:t>02</a:t>
                </a:r>
                <a:endParaRPr b="0" lang="en-IN" sz="1800" spc="-1" strike="noStrike">
                  <a:solidFill>
                    <a:srgbClr val="000000"/>
                  </a:solidFill>
                  <a:latin typeface="Arial"/>
                </a:endParaRPr>
              </a:p>
            </p:txBody>
          </p:sp>
          <p:sp>
            <p:nvSpPr>
              <p:cNvPr id="426" name="TextBox 39"/>
              <p:cNvSpPr/>
              <p:nvPr/>
            </p:nvSpPr>
            <p:spPr>
              <a:xfrm>
                <a:off x="7377480" y="4584240"/>
                <a:ext cx="1392120" cy="2512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650" spc="-1" strike="noStrike">
                    <a:solidFill>
                      <a:srgbClr val="f4f4f5"/>
                    </a:solidFill>
                    <a:latin typeface="Arial"/>
                    <a:ea typeface="Microsoft YaHei"/>
                  </a:rPr>
                  <a:t>Cross-Corpus</a:t>
                </a:r>
                <a:endParaRPr b="0" lang="en-IN" sz="1650" spc="-1" strike="noStrike">
                  <a:solidFill>
                    <a:srgbClr val="000000"/>
                  </a:solidFill>
                  <a:latin typeface="Arial"/>
                </a:endParaRPr>
              </a:p>
            </p:txBody>
          </p:sp>
          <p:sp>
            <p:nvSpPr>
              <p:cNvPr id="427" name="TextBox 40"/>
              <p:cNvSpPr/>
              <p:nvPr/>
            </p:nvSpPr>
            <p:spPr>
              <a:xfrm>
                <a:off x="7725600" y="4899600"/>
                <a:ext cx="345096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Train on source corpora, test on an unseen corpus.</a:t>
                </a:r>
                <a:endParaRPr b="0" lang="en-IN" sz="1200" spc="-1" strike="noStrike">
                  <a:solidFill>
                    <a:srgbClr val="000000"/>
                  </a:solidFill>
                  <a:latin typeface="Arial"/>
                </a:endParaRPr>
              </a:p>
            </p:txBody>
          </p:sp>
        </p:grpSp>
        <p:grpSp>
          <p:nvGrpSpPr>
            <p:cNvPr id="428" name="Group 59"/>
            <p:cNvGrpSpPr/>
            <p:nvPr/>
          </p:nvGrpSpPr>
          <p:grpSpPr>
            <a:xfrm>
              <a:off x="762120" y="5402880"/>
              <a:ext cx="10202400" cy="730440"/>
              <a:chOff x="762120" y="5402880"/>
              <a:chExt cx="10202400" cy="730440"/>
            </a:xfrm>
          </p:grpSpPr>
          <p:sp>
            <p:nvSpPr>
              <p:cNvPr id="429" name="TextBox 42"/>
              <p:cNvSpPr/>
              <p:nvPr/>
            </p:nvSpPr>
            <p:spPr>
              <a:xfrm>
                <a:off x="762840" y="5402880"/>
                <a:ext cx="162396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CROSS-CORPUS FLOW</a:t>
                </a:r>
                <a:endParaRPr b="0" lang="en-IN" sz="1130" spc="-1" strike="noStrike">
                  <a:solidFill>
                    <a:srgbClr val="000000"/>
                  </a:solidFill>
                  <a:latin typeface="Arial"/>
                </a:endParaRPr>
              </a:p>
            </p:txBody>
          </p:sp>
          <p:grpSp>
            <p:nvGrpSpPr>
              <p:cNvPr id="430" name="Group 45"/>
              <p:cNvGrpSpPr/>
              <p:nvPr/>
            </p:nvGrpSpPr>
            <p:grpSpPr>
              <a:xfrm>
                <a:off x="762120" y="5676840"/>
                <a:ext cx="1428120" cy="456480"/>
                <a:chOff x="762120" y="5676840"/>
                <a:chExt cx="1428120" cy="456480"/>
              </a:xfrm>
            </p:grpSpPr>
            <p:sp>
              <p:nvSpPr>
                <p:cNvPr id="431" name="Freeform 43"/>
                <p:cNvSpPr/>
                <p:nvPr/>
              </p:nvSpPr>
              <p:spPr>
                <a:xfrm>
                  <a:off x="762120" y="5676840"/>
                  <a:ext cx="1428120" cy="456480"/>
                </a:xfrm>
                <a:custGeom>
                  <a:avLst/>
                  <a:gdLst>
                    <a:gd name="textAreaLeft" fmla="*/ 0 w 1428120"/>
                    <a:gd name="textAreaRight" fmla="*/ 1428840 w 1428120"/>
                    <a:gd name="textAreaTop" fmla="*/ 0 h 456480"/>
                    <a:gd name="textAreaBottom" fmla="*/ 457200 h 456480"/>
                  </a:gdLst>
                  <a:ahLst/>
                  <a:rect l="textAreaLeft" t="textAreaTop" r="textAreaRight" b="textAreaBottom"/>
                  <a:pathLst>
                    <a:path w="1428750" h="457200">
                      <a:moveTo>
                        <a:pt x="57150" y="0"/>
                      </a:moveTo>
                      <a:lnTo>
                        <a:pt x="1371600" y="0"/>
                      </a:lnTo>
                      <a:cubicBezTo>
                        <a:pt x="1403163" y="0"/>
                        <a:pt x="1428750" y="25587"/>
                        <a:pt x="1428750" y="57150"/>
                      </a:cubicBezTo>
                      <a:lnTo>
                        <a:pt x="1428750" y="400050"/>
                      </a:lnTo>
                      <a:cubicBezTo>
                        <a:pt x="1428750" y="431613"/>
                        <a:pt x="1403163" y="457200"/>
                        <a:pt x="1371600" y="457200"/>
                      </a:cubicBezTo>
                      <a:lnTo>
                        <a:pt x="57150" y="457200"/>
                      </a:lnTo>
                      <a:cubicBezTo>
                        <a:pt x="25587" y="457200"/>
                        <a:pt x="0" y="431613"/>
                        <a:pt x="0" y="4000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32" name="TextBox 44"/>
                <p:cNvSpPr/>
                <p:nvPr/>
              </p:nvSpPr>
              <p:spPr>
                <a:xfrm>
                  <a:off x="975600" y="5816880"/>
                  <a:ext cx="100044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Corpus A + B</a:t>
                  </a:r>
                  <a:endParaRPr b="0" lang="en-IN" sz="1350" spc="-1" strike="noStrike">
                    <a:solidFill>
                      <a:srgbClr val="000000"/>
                    </a:solidFill>
                    <a:latin typeface="Arial"/>
                  </a:endParaRPr>
                </a:p>
              </p:txBody>
            </p:sp>
          </p:grpSp>
          <p:sp>
            <p:nvSpPr>
              <p:cNvPr id="433" name="Line 46"/>
              <p:cNvSpPr/>
              <p:nvPr/>
            </p:nvSpPr>
            <p:spPr>
              <a:xfrm>
                <a:off x="2228760" y="5905440"/>
                <a:ext cx="30456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434" name="Group 49"/>
              <p:cNvGrpSpPr/>
              <p:nvPr/>
            </p:nvGrpSpPr>
            <p:grpSpPr>
              <a:xfrm>
                <a:off x="2590920" y="5676840"/>
                <a:ext cx="1428120" cy="456480"/>
                <a:chOff x="2590920" y="5676840"/>
                <a:chExt cx="1428120" cy="456480"/>
              </a:xfrm>
            </p:grpSpPr>
            <p:sp>
              <p:nvSpPr>
                <p:cNvPr id="435" name="Freeform 47"/>
                <p:cNvSpPr/>
                <p:nvPr/>
              </p:nvSpPr>
              <p:spPr>
                <a:xfrm>
                  <a:off x="2590920" y="5676840"/>
                  <a:ext cx="1428120" cy="456480"/>
                </a:xfrm>
                <a:custGeom>
                  <a:avLst/>
                  <a:gdLst>
                    <a:gd name="textAreaLeft" fmla="*/ 0 w 1428120"/>
                    <a:gd name="textAreaRight" fmla="*/ 1428840 w 1428120"/>
                    <a:gd name="textAreaTop" fmla="*/ 0 h 456480"/>
                    <a:gd name="textAreaBottom" fmla="*/ 457200 h 456480"/>
                  </a:gdLst>
                  <a:ahLst/>
                  <a:rect l="textAreaLeft" t="textAreaTop" r="textAreaRight" b="textAreaBottom"/>
                  <a:pathLst>
                    <a:path w="1428750" h="457200">
                      <a:moveTo>
                        <a:pt x="57150" y="0"/>
                      </a:moveTo>
                      <a:lnTo>
                        <a:pt x="1371600" y="0"/>
                      </a:lnTo>
                      <a:cubicBezTo>
                        <a:pt x="1403163" y="0"/>
                        <a:pt x="1428750" y="25587"/>
                        <a:pt x="1428750" y="57150"/>
                      </a:cubicBezTo>
                      <a:lnTo>
                        <a:pt x="1428750" y="400050"/>
                      </a:lnTo>
                      <a:cubicBezTo>
                        <a:pt x="1428750" y="431613"/>
                        <a:pt x="1403163" y="457200"/>
                        <a:pt x="1371600" y="457200"/>
                      </a:cubicBezTo>
                      <a:lnTo>
                        <a:pt x="57150" y="457200"/>
                      </a:lnTo>
                      <a:cubicBezTo>
                        <a:pt x="25587" y="457200"/>
                        <a:pt x="0" y="431613"/>
                        <a:pt x="0" y="4000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36" name="TextBox 48"/>
                <p:cNvSpPr/>
                <p:nvPr/>
              </p:nvSpPr>
              <p:spPr>
                <a:xfrm>
                  <a:off x="2999520" y="5816880"/>
                  <a:ext cx="61020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Training</a:t>
                  </a:r>
                  <a:endParaRPr b="0" lang="en-IN" sz="1350" spc="-1" strike="noStrike">
                    <a:solidFill>
                      <a:srgbClr val="000000"/>
                    </a:solidFill>
                    <a:latin typeface="Arial"/>
                  </a:endParaRPr>
                </a:p>
              </p:txBody>
            </p:sp>
          </p:grpSp>
          <p:sp>
            <p:nvSpPr>
              <p:cNvPr id="437" name="Line 50"/>
              <p:cNvSpPr/>
              <p:nvPr/>
            </p:nvSpPr>
            <p:spPr>
              <a:xfrm>
                <a:off x="4057560" y="5905440"/>
                <a:ext cx="30456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438" name="Group 53"/>
              <p:cNvGrpSpPr/>
              <p:nvPr/>
            </p:nvGrpSpPr>
            <p:grpSpPr>
              <a:xfrm>
                <a:off x="4419720" y="5676840"/>
                <a:ext cx="1428120" cy="456480"/>
                <a:chOff x="4419720" y="5676840"/>
                <a:chExt cx="1428120" cy="456480"/>
              </a:xfrm>
            </p:grpSpPr>
            <p:sp>
              <p:nvSpPr>
                <p:cNvPr id="439" name="Freeform 51"/>
                <p:cNvSpPr/>
                <p:nvPr/>
              </p:nvSpPr>
              <p:spPr>
                <a:xfrm>
                  <a:off x="4419720" y="5676840"/>
                  <a:ext cx="1428120" cy="456480"/>
                </a:xfrm>
                <a:custGeom>
                  <a:avLst/>
                  <a:gdLst>
                    <a:gd name="textAreaLeft" fmla="*/ 0 w 1428120"/>
                    <a:gd name="textAreaRight" fmla="*/ 1428840 w 1428120"/>
                    <a:gd name="textAreaTop" fmla="*/ 0 h 456480"/>
                    <a:gd name="textAreaBottom" fmla="*/ 457200 h 456480"/>
                  </a:gdLst>
                  <a:ahLst/>
                  <a:rect l="textAreaLeft" t="textAreaTop" r="textAreaRight" b="textAreaBottom"/>
                  <a:pathLst>
                    <a:path w="1428750" h="457200">
                      <a:moveTo>
                        <a:pt x="57150" y="0"/>
                      </a:moveTo>
                      <a:lnTo>
                        <a:pt x="1371600" y="0"/>
                      </a:lnTo>
                      <a:cubicBezTo>
                        <a:pt x="1403163" y="0"/>
                        <a:pt x="1428750" y="25587"/>
                        <a:pt x="1428750" y="57150"/>
                      </a:cubicBezTo>
                      <a:lnTo>
                        <a:pt x="1428750" y="400050"/>
                      </a:lnTo>
                      <a:cubicBezTo>
                        <a:pt x="1428750" y="431613"/>
                        <a:pt x="1403163" y="457200"/>
                        <a:pt x="1371600" y="457200"/>
                      </a:cubicBezTo>
                      <a:lnTo>
                        <a:pt x="57150" y="457200"/>
                      </a:lnTo>
                      <a:cubicBezTo>
                        <a:pt x="25587" y="457200"/>
                        <a:pt x="0" y="431613"/>
                        <a:pt x="0" y="40005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40" name="TextBox 52"/>
                <p:cNvSpPr/>
                <p:nvPr/>
              </p:nvSpPr>
              <p:spPr>
                <a:xfrm>
                  <a:off x="4772880" y="5816880"/>
                  <a:ext cx="72144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Corpus C</a:t>
                  </a:r>
                  <a:endParaRPr b="0" lang="en-IN" sz="1350" spc="-1" strike="noStrike">
                    <a:solidFill>
                      <a:srgbClr val="000000"/>
                    </a:solidFill>
                    <a:latin typeface="Arial"/>
                  </a:endParaRPr>
                </a:p>
              </p:txBody>
            </p:sp>
          </p:grpSp>
          <p:sp>
            <p:nvSpPr>
              <p:cNvPr id="441" name="Line 54"/>
              <p:cNvSpPr/>
              <p:nvPr/>
            </p:nvSpPr>
            <p:spPr>
              <a:xfrm>
                <a:off x="5886360" y="5905440"/>
                <a:ext cx="30456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442" name="Group 57"/>
              <p:cNvGrpSpPr/>
              <p:nvPr/>
            </p:nvGrpSpPr>
            <p:grpSpPr>
              <a:xfrm>
                <a:off x="6248520" y="5676840"/>
                <a:ext cx="1428120" cy="456480"/>
                <a:chOff x="6248520" y="5676840"/>
                <a:chExt cx="1428120" cy="456480"/>
              </a:xfrm>
            </p:grpSpPr>
            <p:sp>
              <p:nvSpPr>
                <p:cNvPr id="443" name="Freeform 55"/>
                <p:cNvSpPr/>
                <p:nvPr/>
              </p:nvSpPr>
              <p:spPr>
                <a:xfrm>
                  <a:off x="6248520" y="5676840"/>
                  <a:ext cx="1428120" cy="456480"/>
                </a:xfrm>
                <a:custGeom>
                  <a:avLst/>
                  <a:gdLst>
                    <a:gd name="textAreaLeft" fmla="*/ 0 w 1428120"/>
                    <a:gd name="textAreaRight" fmla="*/ 1428840 w 1428120"/>
                    <a:gd name="textAreaTop" fmla="*/ 0 h 456480"/>
                    <a:gd name="textAreaBottom" fmla="*/ 457200 h 456480"/>
                  </a:gdLst>
                  <a:ahLst/>
                  <a:rect l="textAreaLeft" t="textAreaTop" r="textAreaRight" b="textAreaBottom"/>
                  <a:pathLst>
                    <a:path w="1428750" h="457200">
                      <a:moveTo>
                        <a:pt x="57150" y="0"/>
                      </a:moveTo>
                      <a:lnTo>
                        <a:pt x="1371600" y="0"/>
                      </a:lnTo>
                      <a:cubicBezTo>
                        <a:pt x="1403163" y="0"/>
                        <a:pt x="1428750" y="25587"/>
                        <a:pt x="1428750" y="57150"/>
                      </a:cubicBezTo>
                      <a:lnTo>
                        <a:pt x="1428750" y="400050"/>
                      </a:lnTo>
                      <a:cubicBezTo>
                        <a:pt x="1428750" y="431613"/>
                        <a:pt x="1403163" y="457200"/>
                        <a:pt x="1371600" y="457200"/>
                      </a:cubicBezTo>
                      <a:lnTo>
                        <a:pt x="57150" y="457200"/>
                      </a:lnTo>
                      <a:cubicBezTo>
                        <a:pt x="25587" y="457200"/>
                        <a:pt x="0" y="431613"/>
                        <a:pt x="0" y="400050"/>
                      </a:cubicBezTo>
                      <a:lnTo>
                        <a:pt x="0" y="57150"/>
                      </a:lnTo>
                      <a:cubicBezTo>
                        <a:pt x="0" y="25587"/>
                        <a:pt x="25587" y="0"/>
                        <a:pt x="57150" y="0"/>
                      </a:cubicBezTo>
                      <a:close/>
                    </a:path>
                  </a:pathLst>
                </a:custGeom>
                <a:solidFill>
                  <a:srgbClr val="151517"/>
                </a:solidFill>
                <a:ln w="14288">
                  <a:solidFill>
                    <a:srgbClr val="4fd1c5"/>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44" name="TextBox 56"/>
                <p:cNvSpPr/>
                <p:nvPr/>
              </p:nvSpPr>
              <p:spPr>
                <a:xfrm>
                  <a:off x="6582600" y="5816880"/>
                  <a:ext cx="759600" cy="2055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350" spc="-1" strike="noStrike">
                      <a:solidFill>
                        <a:srgbClr val="f4f4f5"/>
                      </a:solidFill>
                      <a:latin typeface="Arial"/>
                      <a:ea typeface="Microsoft YaHei"/>
                    </a:rPr>
                    <a:t>Prediction</a:t>
                  </a:r>
                  <a:endParaRPr b="0" lang="en-IN" sz="1350" spc="-1" strike="noStrike">
                    <a:solidFill>
                      <a:srgbClr val="000000"/>
                    </a:solidFill>
                    <a:latin typeface="Arial"/>
                  </a:endParaRPr>
                </a:p>
              </p:txBody>
            </p:sp>
          </p:grpSp>
          <p:sp>
            <p:nvSpPr>
              <p:cNvPr id="445" name="TextBox 58"/>
              <p:cNvSpPr/>
              <p:nvPr/>
            </p:nvSpPr>
            <p:spPr>
              <a:xfrm>
                <a:off x="7891560" y="5816880"/>
                <a:ext cx="3072960" cy="20556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350" spc="-1" strike="noStrike">
                    <a:solidFill>
                      <a:srgbClr val="4fd1c5"/>
                    </a:solidFill>
                    <a:latin typeface="Arial"/>
                    <a:ea typeface="Microsoft YaHei"/>
                  </a:rPr>
                  <a:t>Robustness to unseen corpora is critical.</a:t>
                </a:r>
                <a:endParaRPr b="0" lang="en-IN" sz="1350" spc="-1" strike="noStrike">
                  <a:solidFill>
                    <a:srgbClr val="000000"/>
                  </a:solidFill>
                  <a:latin typeface="Arial"/>
                </a:endParaRPr>
              </a:p>
            </p:txBody>
          </p:sp>
        </p:grpSp>
      </p:grpSp>
      <p:grpSp>
        <p:nvGrpSpPr>
          <p:cNvPr id="446" name="Group 63"/>
          <p:cNvGrpSpPr/>
          <p:nvPr/>
        </p:nvGrpSpPr>
        <p:grpSpPr>
          <a:xfrm>
            <a:off x="750240" y="6505200"/>
            <a:ext cx="10675440" cy="149040"/>
            <a:chOff x="750240" y="6505200"/>
            <a:chExt cx="10675440" cy="149040"/>
          </a:xfrm>
        </p:grpSpPr>
        <p:sp>
          <p:nvSpPr>
            <p:cNvPr id="447" name="TextBox 61"/>
            <p:cNvSpPr/>
            <p:nvPr/>
          </p:nvSpPr>
          <p:spPr>
            <a:xfrm>
              <a:off x="750240" y="6505200"/>
              <a:ext cx="2023200" cy="1486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endParaRPr b="0" lang="en-IN" sz="1800" spc="-1" strike="noStrike">
                <a:solidFill>
                  <a:srgbClr val="000000"/>
                </a:solidFill>
                <a:latin typeface="Arial"/>
              </a:endParaRPr>
            </a:p>
          </p:txBody>
        </p:sp>
        <p:sp>
          <p:nvSpPr>
            <p:cNvPr id="448" name="TextBox 62"/>
            <p:cNvSpPr/>
            <p:nvPr/>
          </p:nvSpPr>
          <p:spPr>
            <a:xfrm>
              <a:off x="11276640" y="6505200"/>
              <a:ext cx="149040" cy="14904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980" spc="-1" strike="noStrike">
                  <a:solidFill>
                    <a:srgbClr val="5a5a62"/>
                  </a:solidFill>
                  <a:latin typeface="Consolas"/>
                  <a:ea typeface="Microsoft YaHei"/>
                </a:rPr>
                <a:t>08</a:t>
              </a:r>
              <a:endParaRPr b="0" lang="en-IN" sz="980" spc="-1" strike="noStrike">
                <a:solidFill>
                  <a:srgbClr val="000000"/>
                </a:solidFill>
                <a:latin typeface="Arial"/>
              </a:endParaRPr>
            </a:p>
          </p:txBody>
        </p:sp>
      </p:grpSp>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Rectangle 2"/>
          <p:cNvSpPr/>
          <p:nvPr/>
        </p:nvSpPr>
        <p:spPr>
          <a:xfrm>
            <a:off x="0" y="0"/>
            <a:ext cx="12191400" cy="6857280"/>
          </a:xfrm>
          <a:prstGeom prst="rect">
            <a:avLst/>
          </a:prstGeom>
          <a:solidFill>
            <a:srgbClr val="0a0a0b"/>
          </a:solidFill>
          <a:ln w="0">
            <a:noFill/>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grpSp>
        <p:nvGrpSpPr>
          <p:cNvPr id="450" name="Group 8"/>
          <p:cNvGrpSpPr/>
          <p:nvPr/>
        </p:nvGrpSpPr>
        <p:grpSpPr>
          <a:xfrm>
            <a:off x="762120" y="556200"/>
            <a:ext cx="10667160" cy="881280"/>
            <a:chOff x="762120" y="556200"/>
            <a:chExt cx="10667160" cy="881280"/>
          </a:xfrm>
        </p:grpSpPr>
        <p:sp>
          <p:nvSpPr>
            <p:cNvPr id="451" name="Rectangle 3"/>
            <p:cNvSpPr/>
            <p:nvPr/>
          </p:nvSpPr>
          <p:spPr>
            <a:xfrm>
              <a:off x="762120" y="609480"/>
              <a:ext cx="380160" cy="18360"/>
            </a:xfrm>
            <a:prstGeom prst="rect">
              <a:avLst/>
            </a:prstGeom>
            <a:solidFill>
              <a:srgbClr val="4fd1c5"/>
            </a:solidFill>
            <a:ln w="0">
              <a:noFill/>
            </a:ln>
          </p:spPr>
          <p:style>
            <a:lnRef idx="0"/>
            <a:fillRef idx="0"/>
            <a:effectRef idx="0"/>
            <a:fontRef idx="minor"/>
          </p:style>
          <p:txBody>
            <a:bodyPr lIns="90000" rIns="90000" tIns="-25920" bIns="-25920" anchor="t">
              <a:noAutofit/>
            </a:bodyPr>
            <a:p>
              <a:pPr>
                <a:lnSpc>
                  <a:spcPct val="100000"/>
                </a:lnSpc>
              </a:pPr>
              <a:endParaRPr b="0" lang="en-IN" sz="1800" spc="-1" strike="noStrike">
                <a:solidFill>
                  <a:srgbClr val="000000"/>
                </a:solidFill>
                <a:latin typeface="Arial"/>
              </a:endParaRPr>
            </a:p>
          </p:txBody>
        </p:sp>
        <p:sp>
          <p:nvSpPr>
            <p:cNvPr id="452" name="TextBox 4"/>
            <p:cNvSpPr/>
            <p:nvPr/>
          </p:nvSpPr>
          <p:spPr>
            <a:xfrm>
              <a:off x="1272600" y="556200"/>
              <a:ext cx="17244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200" spc="-1" strike="noStrike">
                  <a:solidFill>
                    <a:srgbClr val="8a8a93"/>
                  </a:solidFill>
                  <a:latin typeface="Arial"/>
                  <a:ea typeface="Microsoft YaHei"/>
                </a:rPr>
                <a:t>SYSTEM &amp; TAKEAWAYS</a:t>
              </a:r>
              <a:endParaRPr b="0" lang="en-IN" sz="1200" spc="-1" strike="noStrike">
                <a:solidFill>
                  <a:srgbClr val="000000"/>
                </a:solidFill>
                <a:latin typeface="Arial"/>
              </a:endParaRPr>
            </a:p>
          </p:txBody>
        </p:sp>
        <p:sp>
          <p:nvSpPr>
            <p:cNvPr id="453" name="TextBox 5"/>
            <p:cNvSpPr/>
            <p:nvPr/>
          </p:nvSpPr>
          <p:spPr>
            <a:xfrm>
              <a:off x="9929160" y="556200"/>
              <a:ext cx="1415160" cy="182880"/>
            </a:xfrm>
            <a:prstGeom prst="rect">
              <a:avLst/>
            </a:prstGeom>
            <a:noFill/>
            <a:ln w="0">
              <a:noFill/>
            </a:ln>
          </p:spPr>
          <p:style>
            <a:lnRef idx="0"/>
            <a:fillRef idx="0"/>
            <a:effectRef idx="0"/>
            <a:fontRef idx="minor"/>
          </p:style>
          <p:txBody>
            <a:bodyPr wrap="none" lIns="0" rIns="0" tIns="0" bIns="0" anchor="t">
              <a:spAutoFit/>
            </a:bodyPr>
            <a:p>
              <a:pPr algn="r" defTabSz="457200">
                <a:lnSpc>
                  <a:spcPct val="100000"/>
                </a:lnSpc>
              </a:pPr>
              <a:r>
                <a:rPr b="0" lang="en-IN" sz="1200" spc="-1" strike="noStrike">
                  <a:solidFill>
                    <a:srgbClr val="8a8a93"/>
                  </a:solidFill>
                  <a:latin typeface="Arial"/>
                  <a:ea typeface="Microsoft YaHei"/>
                </a:rPr>
                <a:t>Domain-Robust SER</a:t>
              </a:r>
              <a:endParaRPr b="0" lang="en-IN" sz="1200" spc="-1" strike="noStrike">
                <a:solidFill>
                  <a:srgbClr val="000000"/>
                </a:solidFill>
                <a:latin typeface="Arial"/>
              </a:endParaRPr>
            </a:p>
          </p:txBody>
        </p:sp>
        <p:sp>
          <p:nvSpPr>
            <p:cNvPr id="454" name="TextBox 6"/>
            <p:cNvSpPr/>
            <p:nvPr/>
          </p:nvSpPr>
          <p:spPr>
            <a:xfrm>
              <a:off x="1448280" y="876240"/>
              <a:ext cx="7552080" cy="45720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3000" spc="-1" strike="noStrike">
                  <a:solidFill>
                    <a:srgbClr val="f4f4f5"/>
                  </a:solidFill>
                  <a:latin typeface="Arial"/>
                  <a:ea typeface="Microsoft YaHei"/>
                </a:rPr>
                <a:t>System Implementation &amp; Key Takeaways</a:t>
              </a:r>
              <a:endParaRPr b="0" lang="en-IN" sz="3000" spc="-1" strike="noStrike">
                <a:solidFill>
                  <a:srgbClr val="000000"/>
                </a:solidFill>
                <a:latin typeface="Arial"/>
              </a:endParaRPr>
            </a:p>
          </p:txBody>
        </p:sp>
        <p:sp>
          <p:nvSpPr>
            <p:cNvPr id="455" name="Line 7"/>
            <p:cNvSpPr/>
            <p:nvPr/>
          </p:nvSpPr>
          <p:spPr>
            <a:xfrm>
              <a:off x="762120" y="142884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456" name="Group 32"/>
          <p:cNvGrpSpPr/>
          <p:nvPr/>
        </p:nvGrpSpPr>
        <p:grpSpPr>
          <a:xfrm>
            <a:off x="762120" y="1631160"/>
            <a:ext cx="10609920" cy="1054440"/>
            <a:chOff x="762120" y="1631160"/>
            <a:chExt cx="10609920" cy="1054440"/>
          </a:xfrm>
        </p:grpSpPr>
        <p:sp>
          <p:nvSpPr>
            <p:cNvPr id="457" name="TextBox 9"/>
            <p:cNvSpPr/>
            <p:nvPr/>
          </p:nvSpPr>
          <p:spPr>
            <a:xfrm>
              <a:off x="784080" y="1631160"/>
              <a:ext cx="214056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REAL-TIME PREDICTION FLOW</a:t>
              </a:r>
              <a:endParaRPr b="0" lang="en-IN" sz="1130" spc="-1" strike="noStrike">
                <a:solidFill>
                  <a:srgbClr val="000000"/>
                </a:solidFill>
                <a:latin typeface="Arial"/>
              </a:endParaRPr>
            </a:p>
          </p:txBody>
        </p:sp>
        <p:grpSp>
          <p:nvGrpSpPr>
            <p:cNvPr id="458" name="Group 13"/>
            <p:cNvGrpSpPr/>
            <p:nvPr/>
          </p:nvGrpSpPr>
          <p:grpSpPr>
            <a:xfrm>
              <a:off x="762120" y="1905120"/>
              <a:ext cx="1770840" cy="780480"/>
              <a:chOff x="762120" y="1905120"/>
              <a:chExt cx="1770840" cy="780480"/>
            </a:xfrm>
          </p:grpSpPr>
          <p:sp>
            <p:nvSpPr>
              <p:cNvPr id="459" name="Freeform 10"/>
              <p:cNvSpPr/>
              <p:nvPr/>
            </p:nvSpPr>
            <p:spPr>
              <a:xfrm>
                <a:off x="762120" y="1905120"/>
                <a:ext cx="1770840" cy="780480"/>
              </a:xfrm>
              <a:custGeom>
                <a:avLst/>
                <a:gdLst>
                  <a:gd name="textAreaLeft" fmla="*/ 0 w 1770840"/>
                  <a:gd name="textAreaRight" fmla="*/ 1771560 w 1770840"/>
                  <a:gd name="textAreaTop" fmla="*/ 0 h 780480"/>
                  <a:gd name="textAreaBottom" fmla="*/ 781200 h 780480"/>
                </a:gdLst>
                <a:ahLst/>
                <a:rect l="textAreaLeft" t="textAreaTop" r="textAreaRight" b="textAreaBottom"/>
                <a:pathLst>
                  <a:path w="1771650" h="781050">
                    <a:moveTo>
                      <a:pt x="57150" y="0"/>
                    </a:moveTo>
                    <a:lnTo>
                      <a:pt x="1714500" y="0"/>
                    </a:lnTo>
                    <a:cubicBezTo>
                      <a:pt x="1746063" y="0"/>
                      <a:pt x="1771650" y="25587"/>
                      <a:pt x="1771650" y="57150"/>
                    </a:cubicBezTo>
                    <a:lnTo>
                      <a:pt x="1771650" y="723900"/>
                    </a:lnTo>
                    <a:cubicBezTo>
                      <a:pt x="1771650" y="755463"/>
                      <a:pt x="1746063" y="781050"/>
                      <a:pt x="1714500" y="781050"/>
                    </a:cubicBezTo>
                    <a:lnTo>
                      <a:pt x="57150" y="781050"/>
                    </a:lnTo>
                    <a:cubicBezTo>
                      <a:pt x="25587" y="781050"/>
                      <a:pt x="0" y="755463"/>
                      <a:pt x="0" y="7239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60" name="TextBox 11"/>
              <p:cNvSpPr/>
              <p:nvPr/>
            </p:nvSpPr>
            <p:spPr>
              <a:xfrm>
                <a:off x="1366200" y="2110320"/>
                <a:ext cx="561960" cy="194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80" spc="-1" strike="noStrike">
                    <a:solidFill>
                      <a:srgbClr val="f4f4f5"/>
                    </a:solidFill>
                    <a:latin typeface="Arial"/>
                    <a:ea typeface="Microsoft YaHei"/>
                  </a:rPr>
                  <a:t>Upload </a:t>
                </a:r>
                <a:endParaRPr b="0" lang="en-IN" sz="1280" spc="-1" strike="noStrike">
                  <a:solidFill>
                    <a:srgbClr val="000000"/>
                  </a:solidFill>
                  <a:latin typeface="Arial"/>
                </a:endParaRPr>
              </a:p>
            </p:txBody>
          </p:sp>
          <p:sp>
            <p:nvSpPr>
              <p:cNvPr id="461" name="TextBox 12"/>
              <p:cNvSpPr/>
              <p:nvPr/>
            </p:nvSpPr>
            <p:spPr>
              <a:xfrm>
                <a:off x="1439640" y="2338920"/>
                <a:ext cx="415800" cy="194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80" spc="-1" strike="noStrike">
                    <a:solidFill>
                      <a:srgbClr val="f4f4f5"/>
                    </a:solidFill>
                    <a:latin typeface="Arial"/>
                    <a:ea typeface="Microsoft YaHei"/>
                  </a:rPr>
                  <a:t>Audio</a:t>
                </a:r>
                <a:endParaRPr b="0" lang="en-IN" sz="1280" spc="-1" strike="noStrike">
                  <a:solidFill>
                    <a:srgbClr val="000000"/>
                  </a:solidFill>
                  <a:latin typeface="Arial"/>
                </a:endParaRPr>
              </a:p>
            </p:txBody>
          </p:sp>
        </p:grpSp>
        <p:sp>
          <p:nvSpPr>
            <p:cNvPr id="462" name="Line 14"/>
            <p:cNvSpPr/>
            <p:nvPr/>
          </p:nvSpPr>
          <p:spPr>
            <a:xfrm>
              <a:off x="2571480" y="2295360"/>
              <a:ext cx="32400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463" name="Group 17"/>
            <p:cNvGrpSpPr/>
            <p:nvPr/>
          </p:nvGrpSpPr>
          <p:grpSpPr>
            <a:xfrm>
              <a:off x="2971800" y="1905120"/>
              <a:ext cx="1770840" cy="780480"/>
              <a:chOff x="2971800" y="1905120"/>
              <a:chExt cx="1770840" cy="780480"/>
            </a:xfrm>
          </p:grpSpPr>
          <p:sp>
            <p:nvSpPr>
              <p:cNvPr id="464" name="Freeform 15"/>
              <p:cNvSpPr/>
              <p:nvPr/>
            </p:nvSpPr>
            <p:spPr>
              <a:xfrm>
                <a:off x="2971800" y="1905120"/>
                <a:ext cx="1770840" cy="780480"/>
              </a:xfrm>
              <a:custGeom>
                <a:avLst/>
                <a:gdLst>
                  <a:gd name="textAreaLeft" fmla="*/ 0 w 1770840"/>
                  <a:gd name="textAreaRight" fmla="*/ 1771560 w 1770840"/>
                  <a:gd name="textAreaTop" fmla="*/ 0 h 780480"/>
                  <a:gd name="textAreaBottom" fmla="*/ 781200 h 780480"/>
                </a:gdLst>
                <a:ahLst/>
                <a:rect l="textAreaLeft" t="textAreaTop" r="textAreaRight" b="textAreaBottom"/>
                <a:pathLst>
                  <a:path w="1771650" h="781050">
                    <a:moveTo>
                      <a:pt x="57150" y="0"/>
                    </a:moveTo>
                    <a:lnTo>
                      <a:pt x="1714500" y="0"/>
                    </a:lnTo>
                    <a:cubicBezTo>
                      <a:pt x="1746063" y="0"/>
                      <a:pt x="1771650" y="25587"/>
                      <a:pt x="1771650" y="57150"/>
                    </a:cubicBezTo>
                    <a:lnTo>
                      <a:pt x="1771650" y="723900"/>
                    </a:lnTo>
                    <a:cubicBezTo>
                      <a:pt x="1771650" y="755463"/>
                      <a:pt x="1746063" y="781050"/>
                      <a:pt x="1714500" y="781050"/>
                    </a:cubicBezTo>
                    <a:lnTo>
                      <a:pt x="57150" y="781050"/>
                    </a:lnTo>
                    <a:cubicBezTo>
                      <a:pt x="25587" y="781050"/>
                      <a:pt x="0" y="755463"/>
                      <a:pt x="0" y="7239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65" name="TextBox 16"/>
              <p:cNvSpPr/>
              <p:nvPr/>
            </p:nvSpPr>
            <p:spPr>
              <a:xfrm>
                <a:off x="3336840" y="2224440"/>
                <a:ext cx="1040400" cy="194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80" spc="-1" strike="noStrike">
                    <a:solidFill>
                      <a:srgbClr val="f4f4f5"/>
                    </a:solidFill>
                    <a:latin typeface="Arial"/>
                    <a:ea typeface="Microsoft YaHei"/>
                  </a:rPr>
                  <a:t>Preprocessing</a:t>
                </a:r>
                <a:endParaRPr b="0" lang="en-IN" sz="1280" spc="-1" strike="noStrike">
                  <a:solidFill>
                    <a:srgbClr val="000000"/>
                  </a:solidFill>
                  <a:latin typeface="Arial"/>
                </a:endParaRPr>
              </a:p>
            </p:txBody>
          </p:sp>
        </p:grpSp>
        <p:sp>
          <p:nvSpPr>
            <p:cNvPr id="466" name="Line 18"/>
            <p:cNvSpPr/>
            <p:nvPr/>
          </p:nvSpPr>
          <p:spPr>
            <a:xfrm>
              <a:off x="4781520" y="2295360"/>
              <a:ext cx="32364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467" name="Group 22"/>
            <p:cNvGrpSpPr/>
            <p:nvPr/>
          </p:nvGrpSpPr>
          <p:grpSpPr>
            <a:xfrm>
              <a:off x="5181480" y="1905120"/>
              <a:ext cx="1770840" cy="780480"/>
              <a:chOff x="5181480" y="1905120"/>
              <a:chExt cx="1770840" cy="780480"/>
            </a:xfrm>
          </p:grpSpPr>
          <p:sp>
            <p:nvSpPr>
              <p:cNvPr id="468" name="Freeform 19"/>
              <p:cNvSpPr/>
              <p:nvPr/>
            </p:nvSpPr>
            <p:spPr>
              <a:xfrm>
                <a:off x="5181480" y="1905120"/>
                <a:ext cx="1770840" cy="780480"/>
              </a:xfrm>
              <a:custGeom>
                <a:avLst/>
                <a:gdLst>
                  <a:gd name="textAreaLeft" fmla="*/ 0 w 1770840"/>
                  <a:gd name="textAreaRight" fmla="*/ 1771560 w 1770840"/>
                  <a:gd name="textAreaTop" fmla="*/ 0 h 780480"/>
                  <a:gd name="textAreaBottom" fmla="*/ 781200 h 780480"/>
                </a:gdLst>
                <a:ahLst/>
                <a:rect l="textAreaLeft" t="textAreaTop" r="textAreaRight" b="textAreaBottom"/>
                <a:pathLst>
                  <a:path w="1771650" h="781050">
                    <a:moveTo>
                      <a:pt x="57150" y="0"/>
                    </a:moveTo>
                    <a:lnTo>
                      <a:pt x="1714500" y="0"/>
                    </a:lnTo>
                    <a:cubicBezTo>
                      <a:pt x="1746063" y="0"/>
                      <a:pt x="1771650" y="25587"/>
                      <a:pt x="1771650" y="57150"/>
                    </a:cubicBezTo>
                    <a:lnTo>
                      <a:pt x="1771650" y="723900"/>
                    </a:lnTo>
                    <a:cubicBezTo>
                      <a:pt x="1771650" y="755463"/>
                      <a:pt x="1746063" y="781050"/>
                      <a:pt x="1714500" y="781050"/>
                    </a:cubicBezTo>
                    <a:lnTo>
                      <a:pt x="57150" y="781050"/>
                    </a:lnTo>
                    <a:cubicBezTo>
                      <a:pt x="25587" y="781050"/>
                      <a:pt x="0" y="755463"/>
                      <a:pt x="0" y="7239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69" name="TextBox 20"/>
              <p:cNvSpPr/>
              <p:nvPr/>
            </p:nvSpPr>
            <p:spPr>
              <a:xfrm>
                <a:off x="5490360" y="2110320"/>
                <a:ext cx="1153440" cy="194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80" spc="-1" strike="noStrike">
                    <a:solidFill>
                      <a:srgbClr val="f4f4f5"/>
                    </a:solidFill>
                    <a:latin typeface="Arial"/>
                    <a:ea typeface="Microsoft YaHei"/>
                  </a:rPr>
                  <a:t>WavLM Feature</a:t>
                </a:r>
                <a:endParaRPr b="0" lang="en-IN" sz="1280" spc="-1" strike="noStrike">
                  <a:solidFill>
                    <a:srgbClr val="000000"/>
                  </a:solidFill>
                  <a:latin typeface="Arial"/>
                </a:endParaRPr>
              </a:p>
            </p:txBody>
          </p:sp>
          <p:sp>
            <p:nvSpPr>
              <p:cNvPr id="470" name="TextBox 21"/>
              <p:cNvSpPr/>
              <p:nvPr/>
            </p:nvSpPr>
            <p:spPr>
              <a:xfrm>
                <a:off x="5705280" y="2338920"/>
                <a:ext cx="723600" cy="194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80" spc="-1" strike="noStrike">
                    <a:solidFill>
                      <a:srgbClr val="f4f4f5"/>
                    </a:solidFill>
                    <a:latin typeface="Arial"/>
                    <a:ea typeface="Microsoft YaHei"/>
                  </a:rPr>
                  <a:t>Extraction</a:t>
                </a:r>
                <a:endParaRPr b="0" lang="en-IN" sz="1280" spc="-1" strike="noStrike">
                  <a:solidFill>
                    <a:srgbClr val="000000"/>
                  </a:solidFill>
                  <a:latin typeface="Arial"/>
                </a:endParaRPr>
              </a:p>
            </p:txBody>
          </p:sp>
        </p:grpSp>
        <p:sp>
          <p:nvSpPr>
            <p:cNvPr id="471" name="Line 23"/>
            <p:cNvSpPr/>
            <p:nvPr/>
          </p:nvSpPr>
          <p:spPr>
            <a:xfrm>
              <a:off x="6991200" y="2295360"/>
              <a:ext cx="32400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472" name="Group 26"/>
            <p:cNvGrpSpPr/>
            <p:nvPr/>
          </p:nvGrpSpPr>
          <p:grpSpPr>
            <a:xfrm>
              <a:off x="7391520" y="1905120"/>
              <a:ext cx="1770840" cy="780480"/>
              <a:chOff x="7391520" y="1905120"/>
              <a:chExt cx="1770840" cy="780480"/>
            </a:xfrm>
          </p:grpSpPr>
          <p:sp>
            <p:nvSpPr>
              <p:cNvPr id="473" name="Freeform 24"/>
              <p:cNvSpPr/>
              <p:nvPr/>
            </p:nvSpPr>
            <p:spPr>
              <a:xfrm>
                <a:off x="7391520" y="1905120"/>
                <a:ext cx="1770840" cy="780480"/>
              </a:xfrm>
              <a:custGeom>
                <a:avLst/>
                <a:gdLst>
                  <a:gd name="textAreaLeft" fmla="*/ 0 w 1770840"/>
                  <a:gd name="textAreaRight" fmla="*/ 1771560 w 1770840"/>
                  <a:gd name="textAreaTop" fmla="*/ 0 h 780480"/>
                  <a:gd name="textAreaBottom" fmla="*/ 781200 h 780480"/>
                </a:gdLst>
                <a:ahLst/>
                <a:rect l="textAreaLeft" t="textAreaTop" r="textAreaRight" b="textAreaBottom"/>
                <a:pathLst>
                  <a:path w="1771650" h="781050">
                    <a:moveTo>
                      <a:pt x="57150" y="0"/>
                    </a:moveTo>
                    <a:lnTo>
                      <a:pt x="1714500" y="0"/>
                    </a:lnTo>
                    <a:cubicBezTo>
                      <a:pt x="1746063" y="0"/>
                      <a:pt x="1771650" y="25587"/>
                      <a:pt x="1771650" y="57150"/>
                    </a:cubicBezTo>
                    <a:lnTo>
                      <a:pt x="1771650" y="723900"/>
                    </a:lnTo>
                    <a:cubicBezTo>
                      <a:pt x="1771650" y="755463"/>
                      <a:pt x="1746063" y="781050"/>
                      <a:pt x="1714500" y="781050"/>
                    </a:cubicBezTo>
                    <a:lnTo>
                      <a:pt x="57150" y="781050"/>
                    </a:lnTo>
                    <a:cubicBezTo>
                      <a:pt x="25587" y="781050"/>
                      <a:pt x="0" y="755463"/>
                      <a:pt x="0" y="723900"/>
                    </a:cubicBezTo>
                    <a:lnTo>
                      <a:pt x="0" y="57150"/>
                    </a:lnTo>
                    <a:cubicBezTo>
                      <a:pt x="0" y="25587"/>
                      <a:pt x="25587" y="0"/>
                      <a:pt x="57150" y="0"/>
                    </a:cubicBezTo>
                    <a:close/>
                  </a:path>
                </a:pathLst>
              </a:custGeom>
              <a:solidFill>
                <a:srgbClr val="151517"/>
              </a:solidFill>
              <a:ln w="14288">
                <a:solidFill>
                  <a:srgbClr val="2a2a2e"/>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74" name="TextBox 25"/>
              <p:cNvSpPr/>
              <p:nvPr/>
            </p:nvSpPr>
            <p:spPr>
              <a:xfrm>
                <a:off x="7692840" y="2224440"/>
                <a:ext cx="1168560" cy="194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80" spc="-1" strike="noStrike">
                    <a:solidFill>
                      <a:srgbClr val="f4f4f5"/>
                    </a:solidFill>
                    <a:latin typeface="Arial"/>
                    <a:ea typeface="Microsoft YaHei"/>
                  </a:rPr>
                  <a:t>Linear Classifier</a:t>
                </a:r>
                <a:endParaRPr b="0" lang="en-IN" sz="1280" spc="-1" strike="noStrike">
                  <a:solidFill>
                    <a:srgbClr val="000000"/>
                  </a:solidFill>
                  <a:latin typeface="Arial"/>
                </a:endParaRPr>
              </a:p>
            </p:txBody>
          </p:sp>
        </p:grpSp>
        <p:sp>
          <p:nvSpPr>
            <p:cNvPr id="475" name="Line 27"/>
            <p:cNvSpPr/>
            <p:nvPr/>
          </p:nvSpPr>
          <p:spPr>
            <a:xfrm>
              <a:off x="9200880" y="2295360"/>
              <a:ext cx="324000" cy="360"/>
            </a:xfrm>
            <a:prstGeom prst="line">
              <a:avLst/>
            </a:prstGeom>
            <a:ln w="19050">
              <a:solidFill>
                <a:srgbClr val="5a5a62"/>
              </a:solidFill>
              <a:round/>
              <a:tailEnd len="lg" type="triangle" w="lg"/>
            </a:ln>
          </p:spPr>
          <p:style>
            <a:lnRef idx="0"/>
            <a:fillRef idx="0"/>
            <a:effectRef idx="0"/>
            <a:fontRef idx="minor"/>
          </p:style>
          <p:txBody>
            <a:bodyPr lIns="90000" rIns="90000" tIns="-45000" bIns="-45000" anchor="t" anchorCtr="1">
              <a:noAutofit/>
            </a:bodyPr>
            <a:p>
              <a:endParaRPr b="0" lang="en-IN" sz="1800" spc="-1" strike="noStrike">
                <a:solidFill>
                  <a:srgbClr val="000000"/>
                </a:solidFill>
                <a:latin typeface="Arial"/>
              </a:endParaRPr>
            </a:p>
          </p:txBody>
        </p:sp>
        <p:grpSp>
          <p:nvGrpSpPr>
            <p:cNvPr id="476" name="Group 31"/>
            <p:cNvGrpSpPr/>
            <p:nvPr/>
          </p:nvGrpSpPr>
          <p:grpSpPr>
            <a:xfrm>
              <a:off x="9601200" y="1905120"/>
              <a:ext cx="1770840" cy="780480"/>
              <a:chOff x="9601200" y="1905120"/>
              <a:chExt cx="1770840" cy="780480"/>
            </a:xfrm>
          </p:grpSpPr>
          <p:sp>
            <p:nvSpPr>
              <p:cNvPr id="477" name="Freeform 28"/>
              <p:cNvSpPr/>
              <p:nvPr/>
            </p:nvSpPr>
            <p:spPr>
              <a:xfrm>
                <a:off x="9601200" y="1905120"/>
                <a:ext cx="1770840" cy="780480"/>
              </a:xfrm>
              <a:custGeom>
                <a:avLst/>
                <a:gdLst>
                  <a:gd name="textAreaLeft" fmla="*/ 0 w 1770840"/>
                  <a:gd name="textAreaRight" fmla="*/ 1771560 w 1770840"/>
                  <a:gd name="textAreaTop" fmla="*/ 0 h 780480"/>
                  <a:gd name="textAreaBottom" fmla="*/ 781200 h 780480"/>
                </a:gdLst>
                <a:ahLst/>
                <a:rect l="textAreaLeft" t="textAreaTop" r="textAreaRight" b="textAreaBottom"/>
                <a:pathLst>
                  <a:path w="1771650" h="781050">
                    <a:moveTo>
                      <a:pt x="57150" y="0"/>
                    </a:moveTo>
                    <a:lnTo>
                      <a:pt x="1714500" y="0"/>
                    </a:lnTo>
                    <a:cubicBezTo>
                      <a:pt x="1746063" y="0"/>
                      <a:pt x="1771650" y="25587"/>
                      <a:pt x="1771650" y="57150"/>
                    </a:cubicBezTo>
                    <a:lnTo>
                      <a:pt x="1771650" y="723900"/>
                    </a:lnTo>
                    <a:cubicBezTo>
                      <a:pt x="1771650" y="755463"/>
                      <a:pt x="1746063" y="781050"/>
                      <a:pt x="1714500" y="781050"/>
                    </a:cubicBezTo>
                    <a:lnTo>
                      <a:pt x="57150" y="781050"/>
                    </a:lnTo>
                    <a:cubicBezTo>
                      <a:pt x="25587" y="781050"/>
                      <a:pt x="0" y="755463"/>
                      <a:pt x="0" y="723900"/>
                    </a:cubicBezTo>
                    <a:lnTo>
                      <a:pt x="0" y="57150"/>
                    </a:lnTo>
                    <a:cubicBezTo>
                      <a:pt x="0" y="25587"/>
                      <a:pt x="25587" y="0"/>
                      <a:pt x="57150" y="0"/>
                    </a:cubicBezTo>
                    <a:close/>
                  </a:path>
                </a:pathLst>
              </a:custGeom>
              <a:solidFill>
                <a:srgbClr val="151517"/>
              </a:solidFill>
              <a:ln w="14288">
                <a:solidFill>
                  <a:srgbClr val="4fd1c5"/>
                </a:solidFill>
                <a:round/>
              </a:ln>
            </p:spPr>
            <p:style>
              <a:lnRef idx="0"/>
              <a:fillRef idx="0"/>
              <a:effectRef idx="0"/>
              <a:fontRef idx="minor"/>
            </p:style>
            <p:txBody>
              <a:bodyPr lIns="90000" rIns="90000" tIns="45000" bIns="45000" anchor="t">
                <a:noAutofit/>
              </a:bodyPr>
              <a:p>
                <a:pPr>
                  <a:lnSpc>
                    <a:spcPct val="100000"/>
                  </a:lnSpc>
                </a:pPr>
                <a:endParaRPr b="0" lang="en-IN" sz="1800" spc="-1" strike="noStrike">
                  <a:solidFill>
                    <a:srgbClr val="ffffff"/>
                  </a:solidFill>
                  <a:latin typeface="Arial"/>
                </a:endParaRPr>
              </a:p>
            </p:txBody>
          </p:sp>
          <p:sp>
            <p:nvSpPr>
              <p:cNvPr id="478" name="TextBox 29"/>
              <p:cNvSpPr/>
              <p:nvPr/>
            </p:nvSpPr>
            <p:spPr>
              <a:xfrm>
                <a:off x="10188360" y="2110320"/>
                <a:ext cx="596880" cy="194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80" spc="-1" strike="noStrike">
                    <a:solidFill>
                      <a:srgbClr val="f4f4f5"/>
                    </a:solidFill>
                    <a:latin typeface="Arial"/>
                    <a:ea typeface="Microsoft YaHei"/>
                  </a:rPr>
                  <a:t>Emotion</a:t>
                </a:r>
                <a:endParaRPr b="0" lang="en-IN" sz="1280" spc="-1" strike="noStrike">
                  <a:solidFill>
                    <a:srgbClr val="000000"/>
                  </a:solidFill>
                  <a:latin typeface="Arial"/>
                </a:endParaRPr>
              </a:p>
            </p:txBody>
          </p:sp>
          <p:sp>
            <p:nvSpPr>
              <p:cNvPr id="479" name="TextBox 30"/>
              <p:cNvSpPr/>
              <p:nvPr/>
            </p:nvSpPr>
            <p:spPr>
              <a:xfrm>
                <a:off x="10043280" y="2338920"/>
                <a:ext cx="886680" cy="19476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280" spc="-1" strike="noStrike">
                    <a:solidFill>
                      <a:srgbClr val="f4f4f5"/>
                    </a:solidFill>
                    <a:latin typeface="Arial"/>
                    <a:ea typeface="Microsoft YaHei"/>
                  </a:rPr>
                  <a:t>Probabilities</a:t>
                </a:r>
                <a:endParaRPr b="0" lang="en-IN" sz="1280" spc="-1" strike="noStrike">
                  <a:solidFill>
                    <a:srgbClr val="000000"/>
                  </a:solidFill>
                  <a:latin typeface="Arial"/>
                </a:endParaRPr>
              </a:p>
            </p:txBody>
          </p:sp>
        </p:grpSp>
      </p:grpSp>
      <p:sp>
        <p:nvSpPr>
          <p:cNvPr id="480" name="Line 33"/>
          <p:cNvSpPr/>
          <p:nvPr/>
        </p:nvSpPr>
        <p:spPr>
          <a:xfrm>
            <a:off x="762120" y="306720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481" name="Group 47"/>
          <p:cNvGrpSpPr/>
          <p:nvPr/>
        </p:nvGrpSpPr>
        <p:grpSpPr>
          <a:xfrm>
            <a:off x="732600" y="3326760"/>
            <a:ext cx="5172480" cy="1787400"/>
            <a:chOff x="732600" y="3326760"/>
            <a:chExt cx="5172480" cy="1787400"/>
          </a:xfrm>
        </p:grpSpPr>
        <p:sp>
          <p:nvSpPr>
            <p:cNvPr id="482" name="TextBox 34"/>
            <p:cNvSpPr/>
            <p:nvPr/>
          </p:nvSpPr>
          <p:spPr>
            <a:xfrm>
              <a:off x="738360" y="3326760"/>
              <a:ext cx="132840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WORKING SYSTEM</a:t>
              </a:r>
              <a:endParaRPr b="0" lang="en-IN" sz="1130" spc="-1" strike="noStrike">
                <a:solidFill>
                  <a:srgbClr val="000000"/>
                </a:solidFill>
                <a:latin typeface="Arial"/>
              </a:endParaRPr>
            </a:p>
          </p:txBody>
        </p:sp>
        <p:grpSp>
          <p:nvGrpSpPr>
            <p:cNvPr id="483" name="Group 37"/>
            <p:cNvGrpSpPr/>
            <p:nvPr/>
          </p:nvGrpSpPr>
          <p:grpSpPr>
            <a:xfrm>
              <a:off x="742320" y="3694320"/>
              <a:ext cx="4734360" cy="217440"/>
              <a:chOff x="742320" y="3694320"/>
              <a:chExt cx="4734360" cy="217440"/>
            </a:xfrm>
          </p:grpSpPr>
          <p:sp>
            <p:nvSpPr>
              <p:cNvPr id="484" name="TextBox 35"/>
              <p:cNvSpPr/>
              <p:nvPr/>
            </p:nvSpPr>
            <p:spPr>
              <a:xfrm>
                <a:off x="742320" y="3726720"/>
                <a:ext cx="79524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FRONTEND</a:t>
                </a:r>
                <a:endParaRPr b="0" lang="en-IN" sz="1130" spc="-1" strike="noStrike">
                  <a:solidFill>
                    <a:srgbClr val="000000"/>
                  </a:solidFill>
                  <a:latin typeface="Arial"/>
                </a:endParaRPr>
              </a:p>
            </p:txBody>
          </p:sp>
          <p:sp>
            <p:nvSpPr>
              <p:cNvPr id="485" name="TextBox 36"/>
              <p:cNvSpPr/>
              <p:nvPr/>
            </p:nvSpPr>
            <p:spPr>
              <a:xfrm>
                <a:off x="2467080" y="3694320"/>
                <a:ext cx="3009600" cy="217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430" spc="-1" strike="noStrike">
                    <a:solidFill>
                      <a:srgbClr val="d4d4d8"/>
                    </a:solidFill>
                    <a:latin typeface="Arial"/>
                    <a:ea typeface="Microsoft YaHei"/>
                  </a:rPr>
                  <a:t>Next.js 16 · React 19 · TypeScript      </a:t>
                </a:r>
                <a:endParaRPr b="0" lang="en-IN" sz="1430" spc="-1" strike="noStrike">
                  <a:solidFill>
                    <a:srgbClr val="000000"/>
                  </a:solidFill>
                  <a:latin typeface="Arial"/>
                </a:endParaRPr>
              </a:p>
            </p:txBody>
          </p:sp>
        </p:grpSp>
        <p:sp>
          <p:nvSpPr>
            <p:cNvPr id="486" name="Line 38"/>
            <p:cNvSpPr/>
            <p:nvPr/>
          </p:nvSpPr>
          <p:spPr>
            <a:xfrm>
              <a:off x="762120" y="4038480"/>
              <a:ext cx="5142960" cy="8640"/>
            </a:xfrm>
            <a:custGeom>
              <a:avLst/>
              <a:gdLst>
                <a:gd name="textAreaLeft" fmla="*/ 0 w 5142960"/>
                <a:gd name="textAreaRight" fmla="*/ 5143680 w 5142960"/>
                <a:gd name="textAreaTop" fmla="*/ 0 h 8640"/>
                <a:gd name="textAreaBottom" fmla="*/ 9360 h 8640"/>
              </a:gdLst>
              <a:ahLst/>
              <a:rect l="textAreaLeft" t="textAreaTop" r="textAreaRight" b="textAreaBottom"/>
              <a:pathLst>
                <a:path w="5143500" h="9525">
                  <a:moveTo>
                    <a:pt x="0" y="0"/>
                  </a:moveTo>
                  <a:lnTo>
                    <a:pt x="51435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487" name="Group 41"/>
            <p:cNvGrpSpPr/>
            <p:nvPr/>
          </p:nvGrpSpPr>
          <p:grpSpPr>
            <a:xfrm>
              <a:off x="732600" y="4227840"/>
              <a:ext cx="3132360" cy="217440"/>
              <a:chOff x="732600" y="4227840"/>
              <a:chExt cx="3132360" cy="217440"/>
            </a:xfrm>
          </p:grpSpPr>
          <p:sp>
            <p:nvSpPr>
              <p:cNvPr id="488" name="TextBox 39"/>
              <p:cNvSpPr/>
              <p:nvPr/>
            </p:nvSpPr>
            <p:spPr>
              <a:xfrm>
                <a:off x="732600" y="4259880"/>
                <a:ext cx="69156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BACKEND</a:t>
                </a:r>
                <a:endParaRPr b="0" lang="en-IN" sz="1130" spc="-1" strike="noStrike">
                  <a:solidFill>
                    <a:srgbClr val="000000"/>
                  </a:solidFill>
                  <a:latin typeface="Arial"/>
                </a:endParaRPr>
              </a:p>
            </p:txBody>
          </p:sp>
          <p:sp>
            <p:nvSpPr>
              <p:cNvPr id="489" name="TextBox 40"/>
              <p:cNvSpPr/>
              <p:nvPr/>
            </p:nvSpPr>
            <p:spPr>
              <a:xfrm>
                <a:off x="2444040" y="4227840"/>
                <a:ext cx="1420920" cy="217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430" spc="-1" strike="noStrike">
                    <a:solidFill>
                      <a:srgbClr val="d4d4d8"/>
                    </a:solidFill>
                    <a:latin typeface="Arial"/>
                    <a:ea typeface="Microsoft YaHei"/>
                  </a:rPr>
                  <a:t>FastAPI · Uvicorn</a:t>
                </a:r>
                <a:endParaRPr b="0" lang="en-IN" sz="1430" spc="-1" strike="noStrike">
                  <a:solidFill>
                    <a:srgbClr val="000000"/>
                  </a:solidFill>
                  <a:latin typeface="Arial"/>
                </a:endParaRPr>
              </a:p>
            </p:txBody>
          </p:sp>
        </p:grpSp>
        <p:sp>
          <p:nvSpPr>
            <p:cNvPr id="490" name="Line 42"/>
            <p:cNvSpPr/>
            <p:nvPr/>
          </p:nvSpPr>
          <p:spPr>
            <a:xfrm>
              <a:off x="762120" y="4572000"/>
              <a:ext cx="5142960" cy="8640"/>
            </a:xfrm>
            <a:custGeom>
              <a:avLst/>
              <a:gdLst>
                <a:gd name="textAreaLeft" fmla="*/ 0 w 5142960"/>
                <a:gd name="textAreaRight" fmla="*/ 5143680 w 5142960"/>
                <a:gd name="textAreaTop" fmla="*/ 0 h 8640"/>
                <a:gd name="textAreaBottom" fmla="*/ 9360 h 8640"/>
              </a:gdLst>
              <a:ahLst/>
              <a:rect l="textAreaLeft" t="textAreaTop" r="textAreaRight" b="textAreaBottom"/>
              <a:pathLst>
                <a:path w="5143500" h="9525">
                  <a:moveTo>
                    <a:pt x="0" y="0"/>
                  </a:moveTo>
                  <a:lnTo>
                    <a:pt x="51435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nvGrpSpPr>
            <p:cNvPr id="491" name="Group 45"/>
            <p:cNvGrpSpPr/>
            <p:nvPr/>
          </p:nvGrpSpPr>
          <p:grpSpPr>
            <a:xfrm>
              <a:off x="758520" y="4761000"/>
              <a:ext cx="4422240" cy="217440"/>
              <a:chOff x="758520" y="4761000"/>
              <a:chExt cx="4422240" cy="217440"/>
            </a:xfrm>
          </p:grpSpPr>
          <p:sp>
            <p:nvSpPr>
              <p:cNvPr id="492" name="TextBox 43"/>
              <p:cNvSpPr/>
              <p:nvPr/>
            </p:nvSpPr>
            <p:spPr>
              <a:xfrm>
                <a:off x="758520" y="4793400"/>
                <a:ext cx="119700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MODEL RUNTIME</a:t>
                </a:r>
                <a:endParaRPr b="0" lang="en-IN" sz="1130" spc="-1" strike="noStrike">
                  <a:solidFill>
                    <a:srgbClr val="000000"/>
                  </a:solidFill>
                  <a:latin typeface="Arial"/>
                </a:endParaRPr>
              </a:p>
            </p:txBody>
          </p:sp>
          <p:sp>
            <p:nvSpPr>
              <p:cNvPr id="493" name="TextBox 44"/>
              <p:cNvSpPr/>
              <p:nvPr/>
            </p:nvSpPr>
            <p:spPr>
              <a:xfrm>
                <a:off x="2481120" y="4761000"/>
                <a:ext cx="2699640" cy="217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430" spc="-1" strike="noStrike">
                    <a:solidFill>
                      <a:srgbClr val="d4d4d8"/>
                    </a:solidFill>
                    <a:latin typeface="Arial"/>
                    <a:ea typeface="Microsoft YaHei"/>
                  </a:rPr>
                  <a:t>PyTorch · WavLM · SupCon + CE</a:t>
                </a:r>
                <a:endParaRPr b="0" lang="en-IN" sz="1430" spc="-1" strike="noStrike">
                  <a:solidFill>
                    <a:srgbClr val="000000"/>
                  </a:solidFill>
                  <a:latin typeface="Arial"/>
                </a:endParaRPr>
              </a:p>
            </p:txBody>
          </p:sp>
        </p:grpSp>
        <p:sp>
          <p:nvSpPr>
            <p:cNvPr id="494" name="Line 46"/>
            <p:cNvSpPr/>
            <p:nvPr/>
          </p:nvSpPr>
          <p:spPr>
            <a:xfrm>
              <a:off x="762120" y="5105520"/>
              <a:ext cx="5142960" cy="8640"/>
            </a:xfrm>
            <a:custGeom>
              <a:avLst/>
              <a:gdLst>
                <a:gd name="textAreaLeft" fmla="*/ 0 w 5142960"/>
                <a:gd name="textAreaRight" fmla="*/ 5143680 w 5142960"/>
                <a:gd name="textAreaTop" fmla="*/ 0 h 8640"/>
                <a:gd name="textAreaBottom" fmla="*/ 9360 h 8640"/>
              </a:gdLst>
              <a:ahLst/>
              <a:rect l="textAreaLeft" t="textAreaTop" r="textAreaRight" b="textAreaBottom"/>
              <a:pathLst>
                <a:path w="5143500" h="9525">
                  <a:moveTo>
                    <a:pt x="0" y="0"/>
                  </a:moveTo>
                  <a:lnTo>
                    <a:pt x="51435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grpSp>
      <p:grpSp>
        <p:nvGrpSpPr>
          <p:cNvPr id="495" name="Group 62"/>
          <p:cNvGrpSpPr/>
          <p:nvPr/>
        </p:nvGrpSpPr>
        <p:grpSpPr>
          <a:xfrm>
            <a:off x="6462720" y="3326760"/>
            <a:ext cx="6120000" cy="1956600"/>
            <a:chOff x="6462720" y="3326760"/>
            <a:chExt cx="6120000" cy="1956600"/>
          </a:xfrm>
        </p:grpSpPr>
        <p:sp>
          <p:nvSpPr>
            <p:cNvPr id="496" name="TextBox 48"/>
            <p:cNvSpPr/>
            <p:nvPr/>
          </p:nvSpPr>
          <p:spPr>
            <a:xfrm>
              <a:off x="6469560" y="3326760"/>
              <a:ext cx="1180440" cy="1720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130" spc="-1" strike="noStrike">
                  <a:solidFill>
                    <a:srgbClr val="8a8a93"/>
                  </a:solidFill>
                  <a:latin typeface="Arial"/>
                  <a:ea typeface="Microsoft YaHei"/>
                </a:rPr>
                <a:t>KEY TAKEAWAYS</a:t>
              </a:r>
              <a:endParaRPr b="0" lang="en-IN" sz="1130" spc="-1" strike="noStrike">
                <a:solidFill>
                  <a:srgbClr val="000000"/>
                </a:solidFill>
                <a:latin typeface="Arial"/>
              </a:endParaRPr>
            </a:p>
          </p:txBody>
        </p:sp>
        <p:grpSp>
          <p:nvGrpSpPr>
            <p:cNvPr id="497" name="Group 51"/>
            <p:cNvGrpSpPr/>
            <p:nvPr/>
          </p:nvGrpSpPr>
          <p:grpSpPr>
            <a:xfrm>
              <a:off x="6462720" y="3675240"/>
              <a:ext cx="3583800" cy="217440"/>
              <a:chOff x="6462720" y="3675240"/>
              <a:chExt cx="3583800" cy="217440"/>
            </a:xfrm>
          </p:grpSpPr>
          <p:sp>
            <p:nvSpPr>
              <p:cNvPr id="498" name="TextBox 49"/>
              <p:cNvSpPr/>
              <p:nvPr/>
            </p:nvSpPr>
            <p:spPr>
              <a:xfrm>
                <a:off x="6462720" y="3699360"/>
                <a:ext cx="1836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200" spc="-1" strike="noStrike">
                    <a:solidFill>
                      <a:srgbClr val="4fd1c5"/>
                    </a:solidFill>
                    <a:latin typeface="Consolas"/>
                    <a:ea typeface="Microsoft YaHei"/>
                  </a:rPr>
                  <a:t>01</a:t>
                </a:r>
                <a:endParaRPr b="0" lang="en-IN" sz="1200" spc="-1" strike="noStrike">
                  <a:solidFill>
                    <a:srgbClr val="000000"/>
                  </a:solidFill>
                  <a:latin typeface="Arial"/>
                </a:endParaRPr>
              </a:p>
            </p:txBody>
          </p:sp>
          <p:sp>
            <p:nvSpPr>
              <p:cNvPr id="499" name="TextBox 50"/>
              <p:cNvSpPr/>
              <p:nvPr/>
            </p:nvSpPr>
            <p:spPr>
              <a:xfrm>
                <a:off x="6889320" y="3675240"/>
                <a:ext cx="3157200" cy="217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430" spc="-1" strike="noStrike">
                    <a:solidFill>
                      <a:srgbClr val="d4d4d8"/>
                    </a:solidFill>
                    <a:latin typeface="Arial"/>
                    <a:ea typeface="Microsoft YaHei"/>
                  </a:rPr>
                  <a:t>WavLM as a robust foundation.             </a:t>
                </a:r>
                <a:endParaRPr b="0" lang="en-IN" sz="1430" spc="-1" strike="noStrike">
                  <a:solidFill>
                    <a:srgbClr val="000000"/>
                  </a:solidFill>
                  <a:latin typeface="Arial"/>
                </a:endParaRPr>
              </a:p>
            </p:txBody>
          </p:sp>
        </p:grpSp>
        <p:grpSp>
          <p:nvGrpSpPr>
            <p:cNvPr id="500" name="Group 54"/>
            <p:cNvGrpSpPr/>
            <p:nvPr/>
          </p:nvGrpSpPr>
          <p:grpSpPr>
            <a:xfrm>
              <a:off x="6485760" y="4056120"/>
              <a:ext cx="6096960" cy="217440"/>
              <a:chOff x="6485760" y="4056120"/>
              <a:chExt cx="6096960" cy="217440"/>
            </a:xfrm>
          </p:grpSpPr>
          <p:sp>
            <p:nvSpPr>
              <p:cNvPr id="501" name="TextBox 52"/>
              <p:cNvSpPr/>
              <p:nvPr/>
            </p:nvSpPr>
            <p:spPr>
              <a:xfrm>
                <a:off x="6485760" y="4080600"/>
                <a:ext cx="1836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200" spc="-1" strike="noStrike">
                    <a:solidFill>
                      <a:srgbClr val="4fd1c5"/>
                    </a:solidFill>
                    <a:latin typeface="Consolas"/>
                    <a:ea typeface="Microsoft YaHei"/>
                  </a:rPr>
                  <a:t>02</a:t>
                </a:r>
                <a:endParaRPr b="0" lang="en-IN" sz="1200" spc="-1" strike="noStrike">
                  <a:solidFill>
                    <a:srgbClr val="000000"/>
                  </a:solidFill>
                  <a:latin typeface="Arial"/>
                </a:endParaRPr>
              </a:p>
            </p:txBody>
          </p:sp>
          <p:sp>
            <p:nvSpPr>
              <p:cNvPr id="502" name="TextBox 53"/>
              <p:cNvSpPr/>
              <p:nvPr/>
            </p:nvSpPr>
            <p:spPr>
              <a:xfrm>
                <a:off x="6872760" y="4056120"/>
                <a:ext cx="5709960" cy="217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430" spc="-1" strike="noStrike">
                    <a:solidFill>
                      <a:srgbClr val="d4d4d8"/>
                    </a:solidFill>
                    <a:latin typeface="Arial"/>
                    <a:ea typeface="Microsoft YaHei"/>
                  </a:rPr>
                  <a:t>Speaker-aware learning mitigates individual variability.                           </a:t>
                </a:r>
                <a:endParaRPr b="0" lang="en-IN" sz="1430" spc="-1" strike="noStrike">
                  <a:solidFill>
                    <a:srgbClr val="000000"/>
                  </a:solidFill>
                  <a:latin typeface="Arial"/>
                </a:endParaRPr>
              </a:p>
            </p:txBody>
          </p:sp>
        </p:grpSp>
        <p:grpSp>
          <p:nvGrpSpPr>
            <p:cNvPr id="503" name="Group 57"/>
            <p:cNvGrpSpPr/>
            <p:nvPr/>
          </p:nvGrpSpPr>
          <p:grpSpPr>
            <a:xfrm>
              <a:off x="6485760" y="4437360"/>
              <a:ext cx="5489640" cy="217440"/>
              <a:chOff x="6485760" y="4437360"/>
              <a:chExt cx="5489640" cy="217440"/>
            </a:xfrm>
          </p:grpSpPr>
          <p:sp>
            <p:nvSpPr>
              <p:cNvPr id="504" name="TextBox 55"/>
              <p:cNvSpPr/>
              <p:nvPr/>
            </p:nvSpPr>
            <p:spPr>
              <a:xfrm>
                <a:off x="6485760" y="4461480"/>
                <a:ext cx="1836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200" spc="-1" strike="noStrike">
                    <a:solidFill>
                      <a:srgbClr val="4fd1c5"/>
                    </a:solidFill>
                    <a:latin typeface="Consolas"/>
                    <a:ea typeface="Microsoft YaHei"/>
                  </a:rPr>
                  <a:t>03</a:t>
                </a:r>
                <a:endParaRPr b="0" lang="en-IN" sz="1200" spc="-1" strike="noStrike">
                  <a:solidFill>
                    <a:srgbClr val="000000"/>
                  </a:solidFill>
                  <a:latin typeface="Arial"/>
                </a:endParaRPr>
              </a:p>
            </p:txBody>
          </p:sp>
          <p:sp>
            <p:nvSpPr>
              <p:cNvPr id="505" name="TextBox 56"/>
              <p:cNvSpPr/>
              <p:nvPr/>
            </p:nvSpPr>
            <p:spPr>
              <a:xfrm>
                <a:off x="6876360" y="4437360"/>
                <a:ext cx="5099040" cy="217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430" spc="-1" strike="noStrike">
                    <a:solidFill>
                      <a:srgbClr val="d4d4d8"/>
                    </a:solidFill>
                    <a:latin typeface="Arial"/>
                    <a:ea typeface="Microsoft YaHei"/>
                  </a:rPr>
                  <a:t>Corpus-aware learning addresses dataset biases.                      </a:t>
                </a:r>
                <a:endParaRPr b="0" lang="en-IN" sz="1430" spc="-1" strike="noStrike">
                  <a:solidFill>
                    <a:srgbClr val="000000"/>
                  </a:solidFill>
                  <a:latin typeface="Arial"/>
                </a:endParaRPr>
              </a:p>
            </p:txBody>
          </p:sp>
        </p:grpSp>
        <p:grpSp>
          <p:nvGrpSpPr>
            <p:cNvPr id="506" name="Group 61"/>
            <p:cNvGrpSpPr/>
            <p:nvPr/>
          </p:nvGrpSpPr>
          <p:grpSpPr>
            <a:xfrm>
              <a:off x="6485760" y="4818240"/>
              <a:ext cx="5613120" cy="465120"/>
              <a:chOff x="6485760" y="4818240"/>
              <a:chExt cx="5613120" cy="465120"/>
            </a:xfrm>
          </p:grpSpPr>
          <p:sp>
            <p:nvSpPr>
              <p:cNvPr id="507" name="TextBox 58"/>
              <p:cNvSpPr/>
              <p:nvPr/>
            </p:nvSpPr>
            <p:spPr>
              <a:xfrm>
                <a:off x="6485760" y="4842360"/>
                <a:ext cx="183600" cy="18288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1" lang="en-IN" sz="1200" spc="-1" strike="noStrike">
                    <a:solidFill>
                      <a:srgbClr val="4fd1c5"/>
                    </a:solidFill>
                    <a:latin typeface="Consolas"/>
                    <a:ea typeface="Microsoft YaHei"/>
                  </a:rPr>
                  <a:t>04</a:t>
                </a:r>
                <a:endParaRPr b="0" lang="en-IN" sz="1200" spc="-1" strike="noStrike">
                  <a:solidFill>
                    <a:srgbClr val="000000"/>
                  </a:solidFill>
                  <a:latin typeface="Arial"/>
                </a:endParaRPr>
              </a:p>
            </p:txBody>
          </p:sp>
          <p:sp>
            <p:nvSpPr>
              <p:cNvPr id="508" name="TextBox 59"/>
              <p:cNvSpPr/>
              <p:nvPr/>
            </p:nvSpPr>
            <p:spPr>
              <a:xfrm>
                <a:off x="6908400" y="4818240"/>
                <a:ext cx="5190480" cy="217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430" spc="-1" strike="noStrike">
                    <a:solidFill>
                      <a:srgbClr val="d4d4d8"/>
                    </a:solidFill>
                    <a:latin typeface="Arial"/>
                    <a:ea typeface="Microsoft YaHei"/>
                  </a:rPr>
                  <a:t>Combined - more invariant emotion representations                     </a:t>
                </a:r>
                <a:endParaRPr b="0" lang="en-IN" sz="1430" spc="-1" strike="noStrike">
                  <a:solidFill>
                    <a:srgbClr val="000000"/>
                  </a:solidFill>
                  <a:latin typeface="Arial"/>
                </a:endParaRPr>
              </a:p>
            </p:txBody>
          </p:sp>
          <p:sp>
            <p:nvSpPr>
              <p:cNvPr id="509" name="TextBox 60"/>
              <p:cNvSpPr/>
              <p:nvPr/>
            </p:nvSpPr>
            <p:spPr>
              <a:xfrm>
                <a:off x="6925320" y="5065920"/>
                <a:ext cx="2346480" cy="217440"/>
              </a:xfrm>
              <a:prstGeom prst="rect">
                <a:avLst/>
              </a:prstGeom>
              <a:noFill/>
              <a:ln w="0">
                <a:noFill/>
              </a:ln>
            </p:spPr>
            <p:style>
              <a:lnRef idx="0"/>
              <a:fillRef idx="0"/>
              <a:effectRef idx="0"/>
              <a:fontRef idx="minor"/>
            </p:style>
            <p:txBody>
              <a:bodyPr wrap="none" lIns="0" rIns="0" tIns="0" bIns="0" anchor="t">
                <a:spAutoFit/>
              </a:bodyPr>
              <a:p>
                <a:pPr defTabSz="457200">
                  <a:lnSpc>
                    <a:spcPct val="100000"/>
                  </a:lnSpc>
                </a:pPr>
                <a:r>
                  <a:rPr b="0" lang="en-IN" sz="1430" spc="-1" strike="noStrike">
                    <a:solidFill>
                      <a:srgbClr val="d4d4d8"/>
                    </a:solidFill>
                    <a:latin typeface="Arial"/>
                    <a:ea typeface="Microsoft YaHei"/>
                  </a:rPr>
                  <a:t>for domain-robust SER.         </a:t>
                </a:r>
                <a:endParaRPr b="0" lang="en-IN" sz="1430" spc="-1" strike="noStrike">
                  <a:solidFill>
                    <a:srgbClr val="000000"/>
                  </a:solidFill>
                  <a:latin typeface="Arial"/>
                </a:endParaRPr>
              </a:p>
            </p:txBody>
          </p:sp>
        </p:grpSp>
      </p:grpSp>
      <p:grpSp>
        <p:nvGrpSpPr>
          <p:cNvPr id="510" name="Group 66"/>
          <p:cNvGrpSpPr/>
          <p:nvPr/>
        </p:nvGrpSpPr>
        <p:grpSpPr>
          <a:xfrm>
            <a:off x="762120" y="5581800"/>
            <a:ext cx="10667160" cy="994320"/>
            <a:chOff x="762120" y="5581800"/>
            <a:chExt cx="10667160" cy="994320"/>
          </a:xfrm>
        </p:grpSpPr>
        <p:sp>
          <p:nvSpPr>
            <p:cNvPr id="511" name="Line 63"/>
            <p:cNvSpPr/>
            <p:nvPr/>
          </p:nvSpPr>
          <p:spPr>
            <a:xfrm>
              <a:off x="762120" y="5581800"/>
              <a:ext cx="10667160" cy="8640"/>
            </a:xfrm>
            <a:custGeom>
              <a:avLst/>
              <a:gdLst>
                <a:gd name="textAreaLeft" fmla="*/ 0 w 10667160"/>
                <a:gd name="textAreaRight" fmla="*/ 10667880 w 10667160"/>
                <a:gd name="textAreaTop" fmla="*/ 0 h 8640"/>
                <a:gd name="textAreaBottom" fmla="*/ 9360 h 8640"/>
              </a:gdLst>
              <a:ahLst/>
              <a:rect l="textAreaLeft" t="textAreaTop" r="textAreaRight" b="textAreaBottom"/>
              <a:pathLst>
                <a:path w="10668000" h="9525">
                  <a:moveTo>
                    <a:pt x="0" y="0"/>
                  </a:moveTo>
                  <a:lnTo>
                    <a:pt x="10668000" y="0"/>
                  </a:lnTo>
                </a:path>
              </a:pathLst>
            </a:custGeom>
            <a:noFill/>
            <a:ln w="9525">
              <a:solidFill>
                <a:srgbClr val="2a2a2e"/>
              </a:solidFill>
              <a:round/>
            </a:ln>
          </p:spPr>
          <p:style>
            <a:lnRef idx="0"/>
            <a:fillRef idx="0"/>
            <a:effectRef idx="0"/>
            <a:fontRef idx="minor"/>
          </p:style>
          <p:txBody>
            <a:bodyPr lIns="90000" rIns="90000" tIns="-35640" bIns="-35640" anchor="t">
              <a:noAutofit/>
            </a:bodyPr>
            <a:p>
              <a:pPr>
                <a:lnSpc>
                  <a:spcPct val="100000"/>
                </a:lnSpc>
              </a:pPr>
              <a:endParaRPr b="0" lang="en-IN" sz="1800" spc="-1" strike="noStrike">
                <a:solidFill>
                  <a:srgbClr val="000000"/>
                </a:solidFill>
                <a:latin typeface="Arial"/>
              </a:endParaRPr>
            </a:p>
          </p:txBody>
        </p:sp>
        <p:sp>
          <p:nvSpPr>
            <p:cNvPr id="512" name="TextBox 64"/>
            <p:cNvSpPr/>
            <p:nvPr/>
          </p:nvSpPr>
          <p:spPr>
            <a:xfrm>
              <a:off x="2246760" y="5920920"/>
              <a:ext cx="7700400" cy="2743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r>
                <a:rPr b="0" lang="en-IN" sz="1800" spc="-1" strike="noStrike">
                  <a:solidFill>
                    <a:srgbClr val="f4f4f5"/>
                  </a:solidFill>
                  <a:latin typeface="Consolas"/>
                  <a:ea typeface="Microsoft YaHei"/>
                </a:rPr>
                <a:t>WavLM </a:t>
              </a:r>
              <a:r>
                <a:rPr b="0" lang="en-IN" sz="1800" spc="-1" strike="noStrike">
                  <a:solidFill>
                    <a:srgbClr val="8a8a93"/>
                  </a:solidFill>
                  <a:latin typeface="Consolas"/>
                  <a:ea typeface="Microsoft YaHei"/>
                </a:rPr>
                <a:t>+ </a:t>
              </a:r>
              <a:r>
                <a:rPr b="0" lang="en-IN" sz="1800" spc="-1" strike="noStrike">
                  <a:solidFill>
                    <a:srgbClr val="f4f4f5"/>
                  </a:solidFill>
                  <a:latin typeface="Consolas"/>
                  <a:ea typeface="Microsoft YaHei"/>
                </a:rPr>
                <a:t>Speaker-aware </a:t>
              </a:r>
              <a:r>
                <a:rPr b="0" lang="en-IN" sz="1800" spc="-1" strike="noStrike">
                  <a:solidFill>
                    <a:srgbClr val="8a8a93"/>
                  </a:solidFill>
                  <a:latin typeface="Consolas"/>
                  <a:ea typeface="Microsoft YaHei"/>
                </a:rPr>
                <a:t>+ </a:t>
              </a:r>
              <a:r>
                <a:rPr b="0" lang="en-IN" sz="1800" spc="-1" strike="noStrike">
                  <a:solidFill>
                    <a:srgbClr val="f4f4f5"/>
                  </a:solidFill>
                  <a:latin typeface="Consolas"/>
                  <a:ea typeface="Microsoft YaHei"/>
                </a:rPr>
                <a:t>Corpus-aware </a:t>
              </a:r>
              <a:r>
                <a:rPr b="1" lang="en-IN" sz="1800" spc="-1" strike="noStrike">
                  <a:solidFill>
                    <a:srgbClr val="4fd1c5"/>
                  </a:solidFill>
                  <a:latin typeface="Consolas"/>
                  <a:ea typeface="Microsoft YaHei"/>
                </a:rPr>
                <a:t>→ Domain-robust SER</a:t>
              </a:r>
              <a:endParaRPr b="0" lang="en-IN" sz="1800" spc="-1" strike="noStrike">
                <a:solidFill>
                  <a:srgbClr val="000000"/>
                </a:solidFill>
                <a:latin typeface="Arial"/>
              </a:endParaRPr>
            </a:p>
          </p:txBody>
        </p:sp>
        <p:sp>
          <p:nvSpPr>
            <p:cNvPr id="513" name="TextBox 65"/>
            <p:cNvSpPr/>
            <p:nvPr/>
          </p:nvSpPr>
          <p:spPr>
            <a:xfrm>
              <a:off x="4788360" y="6301800"/>
              <a:ext cx="2614320" cy="274320"/>
            </a:xfrm>
            <a:prstGeom prst="rect">
              <a:avLst/>
            </a:prstGeom>
            <a:noFill/>
            <a:ln w="0">
              <a:noFill/>
            </a:ln>
          </p:spPr>
          <p:style>
            <a:lnRef idx="0"/>
            <a:fillRef idx="0"/>
            <a:effectRef idx="0"/>
            <a:fontRef idx="minor"/>
          </p:style>
          <p:txBody>
            <a:bodyPr wrap="none" lIns="0" rIns="0" tIns="0" bIns="0" anchor="t">
              <a:spAutoFit/>
            </a:bodyPr>
            <a:p>
              <a:pPr algn="ctr" defTabSz="457200">
                <a:lnSpc>
                  <a:spcPct val="100000"/>
                </a:lnSpc>
              </a:pPr>
              <a:endParaRPr b="0" lang="en-IN" sz="1800" spc="-1" strike="noStrike">
                <a:solidFill>
                  <a:srgbClr val="000000"/>
                </a:solidFill>
                <a:latin typeface="Arial"/>
              </a:endParaRPr>
            </a:p>
          </p:txBody>
        </p:sp>
      </p:grpSp>
    </p:spTree>
  </p:cSld>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50</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2026-09-22T16:03:25Z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